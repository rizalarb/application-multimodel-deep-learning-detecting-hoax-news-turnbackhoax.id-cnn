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13_A5CAE722.xml" ContentType="application/vnd.ms-powerpoint.comments+xml"/>
  <Override PartName="/ppt/comments/modernComment_101_D47EF2CE.xml" ContentType="application/vnd.ms-powerpoint.comments+xml"/>
  <Override PartName="/ppt/comments/modernComment_104_CC3E30D.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25" r:id="rId1"/>
  </p:sldMasterIdLst>
  <p:sldIdLst>
    <p:sldId id="256" r:id="rId2"/>
    <p:sldId id="275" r:id="rId3"/>
    <p:sldId id="257" r:id="rId4"/>
    <p:sldId id="258" r:id="rId5"/>
    <p:sldId id="268" r:id="rId6"/>
    <p:sldId id="276" r:id="rId7"/>
    <p:sldId id="290" r:id="rId8"/>
    <p:sldId id="292" r:id="rId9"/>
    <p:sldId id="260" r:id="rId10"/>
    <p:sldId id="291" r:id="rId11"/>
    <p:sldId id="272" r:id="rId12"/>
    <p:sldId id="273" r:id="rId13"/>
    <p:sldId id="264" r:id="rId14"/>
    <p:sldId id="279" r:id="rId15"/>
    <p:sldId id="282" r:id="rId16"/>
    <p:sldId id="293" r:id="rId17"/>
    <p:sldId id="284" r:id="rId18"/>
    <p:sldId id="285" r:id="rId19"/>
    <p:sldId id="286" r:id="rId20"/>
    <p:sldId id="287" r:id="rId21"/>
    <p:sldId id="288" r:id="rId22"/>
    <p:sldId id="289" r:id="rId23"/>
    <p:sldId id="280" r:id="rId24"/>
    <p:sldId id="265" r:id="rId25"/>
    <p:sldId id="294" r:id="rId26"/>
    <p:sldId id="29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A40D2D-3212-425A-1B07-0F262E392E36}" name="AHMAD RIZAL BAYHAQI" initials="" userId="S::2043201047@student.its.ac.id::f273199a-1bf1-4825-8fe4-e7acf4930981" providerId="AD"/>
  <p188:author id="{F26A2AA7-D72F-A39A-CDA8-648D9E6111D4}" name="AHMAD RIZAL BAYHAQI" initials="" userId="S::rizal.202043@mhs.its.ac.id::f273199a-1bf1-4825-8fe4-e7acf49309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43A55"/>
    <a:srgbClr val="F88898"/>
    <a:srgbClr val="FF920D"/>
    <a:srgbClr val="51D7A8"/>
    <a:srgbClr val="6957DD"/>
    <a:srgbClr val="E20000"/>
    <a:srgbClr val="FFB55E"/>
    <a:srgbClr val="FFFFFF"/>
    <a:srgbClr val="F44E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70" autoAdjust="0"/>
    <p:restoredTop sz="94660"/>
  </p:normalViewPr>
  <p:slideViewPr>
    <p:cSldViewPr snapToGrid="0">
      <p:cViewPr>
        <p:scale>
          <a:sx n="91" d="100"/>
          <a:sy n="91" d="100"/>
        </p:scale>
        <p:origin x="270"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635-4662-900E-77AC14DBC2E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635-4662-900E-77AC14DBC2ED}"/>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Hoaks</c:v>
                </c:pt>
                <c:pt idx="1">
                  <c:v>Fakta</c:v>
                </c:pt>
              </c:strCache>
            </c:strRef>
          </c:cat>
          <c:val>
            <c:numRef>
              <c:f>Sheet1!$B$2:$B$3</c:f>
              <c:numCache>
                <c:formatCode>General</c:formatCode>
                <c:ptCount val="2"/>
                <c:pt idx="0">
                  <c:v>1741</c:v>
                </c:pt>
                <c:pt idx="1">
                  <c:v>3424</c:v>
                </c:pt>
              </c:numCache>
            </c:numRef>
          </c:val>
          <c:extLst>
            <c:ext xmlns:c16="http://schemas.microsoft.com/office/drawing/2014/chart" uri="{C3380CC4-5D6E-409C-BE32-E72D297353CC}">
              <c16:uniqueId val="{00000004-6635-4662-900E-77AC14DBC2E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Training</c:v>
                </c:pt>
              </c:strCache>
            </c:strRef>
          </c:tx>
          <c:spPr>
            <a:solidFill>
              <a:schemeClr val="accent1"/>
            </a:solidFill>
            <a:ln>
              <a:noFill/>
            </a:ln>
            <a:effectLst/>
          </c:spPr>
          <c:invertIfNegative val="0"/>
          <c:dLbls>
            <c:dLbl>
              <c:idx val="0"/>
              <c:tx>
                <c:rich>
                  <a:bodyPr/>
                  <a:lstStyle/>
                  <a:p>
                    <a:fld id="{78CE8B81-13B3-4B19-A8A5-055D99645818}"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637E-4326-B6DA-2AB3D95E0542}"/>
                </c:ext>
              </c:extLst>
            </c:dLbl>
            <c:dLbl>
              <c:idx val="1"/>
              <c:tx>
                <c:rich>
                  <a:bodyPr/>
                  <a:lstStyle/>
                  <a:p>
                    <a:fld id="{9AF9C708-84CD-4DCD-959E-D38B4DFF7BFE}"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637E-4326-B6DA-2AB3D95E054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Hoax</c:v>
                </c:pt>
                <c:pt idx="1">
                  <c:v>Fakta</c:v>
                </c:pt>
              </c:strCache>
            </c:strRef>
          </c:cat>
          <c:val>
            <c:numRef>
              <c:f>Sheet1!$B$2:$B$3</c:f>
              <c:numCache>
                <c:formatCode>General</c:formatCode>
                <c:ptCount val="2"/>
                <c:pt idx="0">
                  <c:v>1390</c:v>
                </c:pt>
                <c:pt idx="1">
                  <c:v>1713</c:v>
                </c:pt>
              </c:numCache>
            </c:numRef>
          </c:val>
          <c:extLst>
            <c:ext xmlns:c15="http://schemas.microsoft.com/office/drawing/2012/chart" uri="{02D57815-91ED-43cb-92C2-25804820EDAC}">
              <c15:datalabelsRange>
                <c15:f>Sheet1!$E$2:$E$3</c15:f>
                <c15:dlblRangeCache>
                  <c:ptCount val="2"/>
                  <c:pt idx="0">
                    <c:v>55.20%</c:v>
                  </c:pt>
                  <c:pt idx="1">
                    <c:v>44.80%</c:v>
                  </c:pt>
                </c15:dlblRangeCache>
              </c15:datalabelsRange>
            </c:ext>
            <c:ext xmlns:c16="http://schemas.microsoft.com/office/drawing/2014/chart" uri="{C3380CC4-5D6E-409C-BE32-E72D297353CC}">
              <c16:uniqueId val="{00000002-637E-4326-B6DA-2AB3D95E0542}"/>
            </c:ext>
          </c:extLst>
        </c:ser>
        <c:ser>
          <c:idx val="1"/>
          <c:order val="1"/>
          <c:tx>
            <c:strRef>
              <c:f>Sheet1!$C$1</c:f>
              <c:strCache>
                <c:ptCount val="1"/>
                <c:pt idx="0">
                  <c:v>Testing</c:v>
                </c:pt>
              </c:strCache>
            </c:strRef>
          </c:tx>
          <c:spPr>
            <a:solidFill>
              <a:schemeClr val="accent2"/>
            </a:solidFill>
            <a:ln>
              <a:noFill/>
            </a:ln>
            <a:effectLst/>
          </c:spPr>
          <c:invertIfNegative val="0"/>
          <c:dLbls>
            <c:dLbl>
              <c:idx val="0"/>
              <c:tx>
                <c:rich>
                  <a:bodyPr/>
                  <a:lstStyle/>
                  <a:p>
                    <a:fld id="{E4C90684-3A97-4E66-AD81-363A8A6FA041}"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637E-4326-B6DA-2AB3D95E0542}"/>
                </c:ext>
              </c:extLst>
            </c:dLbl>
            <c:dLbl>
              <c:idx val="1"/>
              <c:tx>
                <c:rich>
                  <a:bodyPr/>
                  <a:lstStyle/>
                  <a:p>
                    <a:fld id="{679AAA68-8C9B-4CA3-8949-C4E16D6C814B}"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637E-4326-B6DA-2AB3D95E054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Hoax</c:v>
                </c:pt>
                <c:pt idx="1">
                  <c:v>Fakta</c:v>
                </c:pt>
              </c:strCache>
            </c:strRef>
          </c:cat>
          <c:val>
            <c:numRef>
              <c:f>Sheet1!$C$2:$C$3</c:f>
              <c:numCache>
                <c:formatCode>General</c:formatCode>
                <c:ptCount val="2"/>
                <c:pt idx="0">
                  <c:v>347</c:v>
                </c:pt>
                <c:pt idx="1">
                  <c:v>428</c:v>
                </c:pt>
              </c:numCache>
            </c:numRef>
          </c:val>
          <c:extLst>
            <c:ext xmlns:c15="http://schemas.microsoft.com/office/drawing/2012/chart" uri="{02D57815-91ED-43cb-92C2-25804820EDAC}">
              <c15:datalabelsRange>
                <c15:f>Sheet1!$F$2:$F$3</c15:f>
                <c15:dlblRangeCache>
                  <c:ptCount val="2"/>
                  <c:pt idx="0">
                    <c:v>55.20%</c:v>
                  </c:pt>
                  <c:pt idx="1">
                    <c:v>44.80%</c:v>
                  </c:pt>
                </c15:dlblRangeCache>
              </c15:datalabelsRange>
            </c:ext>
            <c:ext xmlns:c16="http://schemas.microsoft.com/office/drawing/2014/chart" uri="{C3380CC4-5D6E-409C-BE32-E72D297353CC}">
              <c16:uniqueId val="{00000005-637E-4326-B6DA-2AB3D95E0542}"/>
            </c:ext>
          </c:extLst>
        </c:ser>
        <c:dLbls>
          <c:dLblPos val="outEnd"/>
          <c:showLegendKey val="0"/>
          <c:showVal val="1"/>
          <c:showCatName val="0"/>
          <c:showSerName val="0"/>
          <c:showPercent val="0"/>
          <c:showBubbleSize val="0"/>
        </c:dLbls>
        <c:gapWidth val="219"/>
        <c:overlap val="-27"/>
        <c:axId val="1754064991"/>
        <c:axId val="795379184"/>
      </c:barChart>
      <c:catAx>
        <c:axId val="1754064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5379184"/>
        <c:crosses val="autoZero"/>
        <c:auto val="1"/>
        <c:lblAlgn val="ctr"/>
        <c:lblOffset val="100"/>
        <c:noMultiLvlLbl val="0"/>
      </c:catAx>
      <c:valAx>
        <c:axId val="795379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40649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1_D47EF2CE.xml><?xml version="1.0" encoding="utf-8"?>
<p188:cmLst xmlns:a="http://schemas.openxmlformats.org/drawingml/2006/main" xmlns:r="http://schemas.openxmlformats.org/officeDocument/2006/relationships" xmlns:p188="http://schemas.microsoft.com/office/powerpoint/2018/8/main">
  <p188:cm id="{2DD26D20-DB91-4D3C-9C57-265D58CB28D0}" authorId="{F26A2AA7-D72F-A39A-CDA8-648D9E6111D4}" created="2023-08-09T14:52:58.796">
    <ac:deMkLst xmlns:ac="http://schemas.microsoft.com/office/drawing/2013/main/command">
      <pc:docMk xmlns:pc="http://schemas.microsoft.com/office/powerpoint/2013/main/command"/>
      <pc:sldMk xmlns:pc="http://schemas.microsoft.com/office/powerpoint/2013/main/command" cId="3565089486" sldId="257"/>
      <ac:picMk id="37" creationId="{312D486E-73E5-73FF-A149-AF79B4A665CF}"/>
    </ac:deMkLst>
    <p188:replyLst>
      <p188:reply id="{DE38ADB5-B27C-48C8-BAD0-F4BC780F4DD3}" authorId="{F26A2AA7-D72F-A39A-CDA8-648D9E6111D4}" created="2023-08-09T15:01:05.599">
        <p188:txBody>
          <a:bodyPr/>
          <a:lstStyle/>
          <a:p>
            <a:r>
              <a:rPr lang="en-US"/>
              <a:t>Contoh web lain turnback hoax
</a:t>
            </a:r>
          </a:p>
        </p188:txBody>
      </p188:reply>
      <p188:reply id="{D2C3EE82-03B5-44E9-B70F-82D2EF7C80F8}" authorId="{E1A40D2D-3212-425A-1B07-0F262E392E36}" created="2024-01-13T11:20:03.755">
        <p188:txBody>
          <a:bodyPr/>
          <a:lstStyle/>
          <a:p>
            <a:r>
              <a:rPr lang="en-US"/>
              <a:t>Ganti kecepatan deteksi hoaks</a:t>
            </a:r>
          </a:p>
        </p188:txBody>
      </p188:reply>
    </p188:replyLst>
    <p188:txBody>
      <a:bodyPr/>
      <a:lstStyle/>
      <a:p>
        <a:r>
          <a:rPr lang="en-US"/>
          <a:t>Evalusi akurasi, auc, roc</a:t>
        </a:r>
      </a:p>
    </p188:txBody>
  </p188:cm>
</p188:cmLst>
</file>

<file path=ppt/comments/modernComment_104_CC3E30D.xml><?xml version="1.0" encoding="utf-8"?>
<p188:cmLst xmlns:a="http://schemas.openxmlformats.org/drawingml/2006/main" xmlns:r="http://schemas.openxmlformats.org/officeDocument/2006/relationships" xmlns:p188="http://schemas.microsoft.com/office/powerpoint/2018/8/main">
  <p188:cm id="{8BA1CE45-0C59-41BD-BB6F-C417C6CEF05A}" authorId="{E1A40D2D-3212-425A-1B07-0F262E392E36}" created="2024-01-13T11:20:37.438">
    <ac:txMkLst xmlns:ac="http://schemas.microsoft.com/office/drawing/2013/main/command">
      <pc:docMk xmlns:pc="http://schemas.microsoft.com/office/powerpoint/2013/main/command"/>
      <pc:sldMk xmlns:pc="http://schemas.microsoft.com/office/powerpoint/2013/main/command" cId="214164237" sldId="260"/>
      <ac:spMk id="6" creationId="{00000000-0000-0000-0000-000000000000}"/>
      <ac:txMk cp="343">
        <ac:context len="344" hash="1378703032"/>
      </ac:txMk>
    </ac:txMkLst>
    <p188:pos x="7311363" y="680425"/>
    <p188:txBody>
      <a:bodyPr/>
      <a:lstStyle/>
      <a:p>
        <a:r>
          <a:rPr lang="en-US"/>
          <a:t>Ganti 13 oktober</a:t>
        </a:r>
      </a:p>
    </p188:txBody>
  </p188:cm>
</p188:cmLst>
</file>

<file path=ppt/comments/modernComment_113_A5CAE722.xml><?xml version="1.0" encoding="utf-8"?>
<p188:cmLst xmlns:a="http://schemas.openxmlformats.org/drawingml/2006/main" xmlns:r="http://schemas.openxmlformats.org/officeDocument/2006/relationships" xmlns:p188="http://schemas.microsoft.com/office/powerpoint/2018/8/main">
  <p188:cm id="{45986040-E072-45F6-AA36-214AF462A065}" authorId="{E1A40D2D-3212-425A-1B07-0F262E392E36}" created="2024-01-13T11:19:43.360">
    <ac:deMkLst xmlns:ac="http://schemas.microsoft.com/office/drawing/2013/main/command">
      <pc:docMk xmlns:pc="http://schemas.microsoft.com/office/powerpoint/2013/main/command"/>
      <pc:sldMk xmlns:pc="http://schemas.microsoft.com/office/powerpoint/2013/main/command" cId="2781538082" sldId="275"/>
      <ac:picMk id="4" creationId="{B0949E88-0F6C-73C0-2E42-2CCDFE2A1458}"/>
    </ac:deMkLst>
    <p188:txBody>
      <a:bodyPr/>
      <a:lstStyle/>
      <a:p>
        <a:r>
          <a:rPr lang="en-US"/>
          <a:t>Ganti 13 oktober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64A5-C94D-407B-8D3F-735AACCF10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195EF9-4E83-440A-B467-8E094159D3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9B866B-21F0-4E81-BC48-A6D138645B34}"/>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5" name="Footer Placeholder 4">
            <a:extLst>
              <a:ext uri="{FF2B5EF4-FFF2-40B4-BE49-F238E27FC236}">
                <a16:creationId xmlns:a16="http://schemas.microsoft.com/office/drawing/2014/main" id="{11018C87-8709-4E86-A957-BA58F2D63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501E6-913D-4809-8532-6535C5E3CAC7}"/>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128752996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B64A7-3C92-4E81-8084-6C231306C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84A2EC-2E1C-4B96-9FB6-E8BF21AED8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D0A01-7EB1-446B-980B-1B40C38E7C1B}"/>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5" name="Footer Placeholder 4">
            <a:extLst>
              <a:ext uri="{FF2B5EF4-FFF2-40B4-BE49-F238E27FC236}">
                <a16:creationId xmlns:a16="http://schemas.microsoft.com/office/drawing/2014/main" id="{C5C7E3F5-4F31-4E59-AC17-3EE509625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607072-8B02-42F9-99CD-B07E51F1A1C3}"/>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142409469"/>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50C3-F362-4369-AE8D-84C186DF34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08AA09-D40A-43A4-A7B8-04971BAD1A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50CF71-6C2D-4A77-8605-0F3E94C6F450}"/>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5" name="Footer Placeholder 4">
            <a:extLst>
              <a:ext uri="{FF2B5EF4-FFF2-40B4-BE49-F238E27FC236}">
                <a16:creationId xmlns:a16="http://schemas.microsoft.com/office/drawing/2014/main" id="{5A3CE9A6-2E33-41E2-B0C7-35BECDE5E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9D604-D800-48F7-B749-23E3D4D50FE4}"/>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2624585882"/>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4F75-502E-4EC6-9EFD-EEF4C745FC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E686BC-8DAE-4916-A431-4AAC355A33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A8AC32-9286-4D22-842A-0BB847F84F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E00859-F837-4F8A-8F41-588B2A48BC43}"/>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6" name="Footer Placeholder 5">
            <a:extLst>
              <a:ext uri="{FF2B5EF4-FFF2-40B4-BE49-F238E27FC236}">
                <a16:creationId xmlns:a16="http://schemas.microsoft.com/office/drawing/2014/main" id="{D8F3065B-011A-4897-A7AA-C3B580384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ED1B4B-F6E3-48A0-8361-F55B3BE4B3C3}"/>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65670597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D029B-6A2E-41C9-818A-58DAF88636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02702F-7A61-46E5-81B5-1F2E4F7049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7007BF-7B27-4740-A13D-4805451044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B464AF-A121-46F6-9CBB-EEAE8EEBAC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AA3098-74A4-4FA4-875D-2C66C5BF42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1F6F22-80CC-43FA-902E-677DC38CA784}"/>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8" name="Footer Placeholder 7">
            <a:extLst>
              <a:ext uri="{FF2B5EF4-FFF2-40B4-BE49-F238E27FC236}">
                <a16:creationId xmlns:a16="http://schemas.microsoft.com/office/drawing/2014/main" id="{CBEC39C4-578B-4BFE-A856-BE0F885DBE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A0763-8912-42DB-8EE5-95BC03DAABCF}"/>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165534974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52B7-4FF3-4AF4-9761-9B42F75BF5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B86F70-CE25-405F-945A-BAE5FA6A6C1B}"/>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4" name="Footer Placeholder 3">
            <a:extLst>
              <a:ext uri="{FF2B5EF4-FFF2-40B4-BE49-F238E27FC236}">
                <a16:creationId xmlns:a16="http://schemas.microsoft.com/office/drawing/2014/main" id="{698A2687-D201-4E57-9CF3-EEE08B06D6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13B5D7-180F-45A2-9FAD-4B1F5FC23A5E}"/>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842388316"/>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B31C41-0CF5-4986-9173-88A52E270852}"/>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3" name="Footer Placeholder 2">
            <a:extLst>
              <a:ext uri="{FF2B5EF4-FFF2-40B4-BE49-F238E27FC236}">
                <a16:creationId xmlns:a16="http://schemas.microsoft.com/office/drawing/2014/main" id="{ACF8A85D-AE29-46BA-B578-CC82CC9656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BF0930-84D5-44C4-8943-5B2778DA17FD}"/>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2263998711"/>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917E-1728-4C4A-83A8-5375A624A2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347340-4A75-4EF2-86FF-06AA82B397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24FA85-BA53-4510-B2B7-99C6E9EBE8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3636B-69F7-4EB4-83E8-55761A576498}"/>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6" name="Footer Placeholder 5">
            <a:extLst>
              <a:ext uri="{FF2B5EF4-FFF2-40B4-BE49-F238E27FC236}">
                <a16:creationId xmlns:a16="http://schemas.microsoft.com/office/drawing/2014/main" id="{B7ACA93B-653C-4DBE-963B-6FE8EB4B0E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348E39-BF1A-4099-BFFA-3583428BAF4C}"/>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2297362877"/>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93050-07E2-44B2-9DBA-3DD80284F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5A7BC9-0A99-4E1E-8CEE-F533AD26D3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C962EA-89C7-49D9-B720-06E03514FD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333496-76AA-439B-BF31-B0EB677F446F}"/>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6" name="Footer Placeholder 5">
            <a:extLst>
              <a:ext uri="{FF2B5EF4-FFF2-40B4-BE49-F238E27FC236}">
                <a16:creationId xmlns:a16="http://schemas.microsoft.com/office/drawing/2014/main" id="{C74B103E-4587-46FC-B602-9341C3AD4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045DDD-644D-437C-B1C4-99DB52D0B14E}"/>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1342864252"/>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A836-B363-4802-8648-D0674B4DBF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E4BB05-F3EA-4559-A2EA-C9C04B23AC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C3950A-7359-4FAA-9CC3-C4FE532328D3}"/>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5" name="Footer Placeholder 4">
            <a:extLst>
              <a:ext uri="{FF2B5EF4-FFF2-40B4-BE49-F238E27FC236}">
                <a16:creationId xmlns:a16="http://schemas.microsoft.com/office/drawing/2014/main" id="{63AC11C7-8BB8-4D36-9F8F-0CE09F6BF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BD931-45EE-44D5-84BA-B0CE6F4CE9B1}"/>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353485928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3FEB3A-E9DE-4E34-BA0D-334D3EB299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12F35A-5F30-4BDA-8432-7940F9081B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7E458D-F2BE-4FAF-AEBE-809A55C030D4}"/>
              </a:ext>
            </a:extLst>
          </p:cNvPr>
          <p:cNvSpPr>
            <a:spLocks noGrp="1"/>
          </p:cNvSpPr>
          <p:nvPr>
            <p:ph type="dt" sz="half" idx="10"/>
          </p:nvPr>
        </p:nvSpPr>
        <p:spPr/>
        <p:txBody>
          <a:bodyPr/>
          <a:lstStyle/>
          <a:p>
            <a:fld id="{933034C7-E26B-4296-8089-8E5A1C5908C4}" type="datetimeFigureOut">
              <a:rPr lang="en-US" smtClean="0"/>
              <a:t>1/15/2024</a:t>
            </a:fld>
            <a:endParaRPr lang="en-US"/>
          </a:p>
        </p:txBody>
      </p:sp>
      <p:sp>
        <p:nvSpPr>
          <p:cNvPr id="5" name="Footer Placeholder 4">
            <a:extLst>
              <a:ext uri="{FF2B5EF4-FFF2-40B4-BE49-F238E27FC236}">
                <a16:creationId xmlns:a16="http://schemas.microsoft.com/office/drawing/2014/main" id="{93537332-E232-40CA-BDFD-DD6B36A31E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B7DEC-7A4D-4B00-9CFD-B010FB69F6FE}"/>
              </a:ext>
            </a:extLst>
          </p:cNvPr>
          <p:cNvSpPr>
            <a:spLocks noGrp="1"/>
          </p:cNvSpPr>
          <p:nvPr>
            <p:ph type="sldNum" sz="quarter" idx="12"/>
          </p:nvPr>
        </p:nvSpPr>
        <p:spPr/>
        <p:txBody>
          <a:bodyPr/>
          <a:lstStyle/>
          <a:p>
            <a:fld id="{57B70995-54D1-4664-9E6B-98C53105F5D4}" type="slidenum">
              <a:rPr lang="en-US" smtClean="0"/>
              <a:t>‹#›</a:t>
            </a:fld>
            <a:endParaRPr lang="en-US"/>
          </a:p>
        </p:txBody>
      </p:sp>
    </p:spTree>
    <p:extLst>
      <p:ext uri="{BB962C8B-B14F-4D97-AF65-F5344CB8AC3E}">
        <p14:creationId xmlns:p14="http://schemas.microsoft.com/office/powerpoint/2010/main" val="1902906610"/>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alpha val="9000"/>
              </a:schemeClr>
            </a:gs>
            <a:gs pos="100000">
              <a:schemeClr val="accent1">
                <a:lumMod val="30000"/>
                <a:lumOff val="70000"/>
                <a:alpha val="4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8AA76B-11FD-49DA-812A-4220DA0202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F10BEF-165C-415C-A907-C185064172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4C7CA5-62EA-4CD3-89CC-8044699F74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3034C7-E26B-4296-8089-8E5A1C5908C4}" type="datetimeFigureOut">
              <a:rPr lang="en-US" smtClean="0"/>
              <a:t>1/15/2024</a:t>
            </a:fld>
            <a:endParaRPr lang="en-US"/>
          </a:p>
        </p:txBody>
      </p:sp>
      <p:sp>
        <p:nvSpPr>
          <p:cNvPr id="5" name="Footer Placeholder 4">
            <a:extLst>
              <a:ext uri="{FF2B5EF4-FFF2-40B4-BE49-F238E27FC236}">
                <a16:creationId xmlns:a16="http://schemas.microsoft.com/office/drawing/2014/main" id="{37D1D445-38EF-475A-9059-21C0DF0754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4BD53D-41A1-4AEA-877B-1F762D4433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70995-54D1-4664-9E6B-98C53105F5D4}" type="slidenum">
              <a:rPr lang="en-US" smtClean="0"/>
              <a:t>‹#›</a:t>
            </a:fld>
            <a:endParaRPr lang="en-US"/>
          </a:p>
        </p:txBody>
      </p:sp>
    </p:spTree>
    <p:extLst>
      <p:ext uri="{BB962C8B-B14F-4D97-AF65-F5344CB8AC3E}">
        <p14:creationId xmlns:p14="http://schemas.microsoft.com/office/powerpoint/2010/main" val="217478948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jpeg"/><Relationship Id="rId2" Type="http://schemas.microsoft.com/office/2018/10/relationships/comments" Target="../comments/modernComment_113_A5CAE72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png"/><Relationship Id="rId7" Type="http://schemas.openxmlformats.org/officeDocument/2006/relationships/image" Target="../media/image12.jpeg"/><Relationship Id="rId12" Type="http://schemas.openxmlformats.org/officeDocument/2006/relationships/image" Target="../media/image15.png"/><Relationship Id="rId2" Type="http://schemas.microsoft.com/office/2018/10/relationships/comments" Target="../comments/modernComment_101_D47EF2CE.xml"/><Relationship Id="rId1" Type="http://schemas.openxmlformats.org/officeDocument/2006/relationships/slideLayout" Target="../slideLayouts/slideLayout2.xml"/><Relationship Id="rId6" Type="http://schemas.microsoft.com/office/2007/relationships/hdphoto" Target="../media/hdphoto1.wdp"/><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image" Target="../media/image4.png"/><Relationship Id="rId4" Type="http://schemas.openxmlformats.org/officeDocument/2006/relationships/image" Target="../media/image10.sv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4.png"/><Relationship Id="rId7" Type="http://schemas.openxmlformats.org/officeDocument/2006/relationships/image" Target="../media/image20.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23.png"/><Relationship Id="rId5" Type="http://schemas.openxmlformats.org/officeDocument/2006/relationships/image" Target="../media/image19.emf"/><Relationship Id="rId10" Type="http://schemas.openxmlformats.org/officeDocument/2006/relationships/image" Target="../media/image22.png"/><Relationship Id="rId4" Type="http://schemas.openxmlformats.org/officeDocument/2006/relationships/oleObject" Target="../embeddings/oleObject1.bin"/><Relationship Id="rId9" Type="http://schemas.openxmlformats.org/officeDocument/2006/relationships/image" Target="../media/image21.emf"/></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04_CC3E30D.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8.svg"/><Relationship Id="rId7" Type="http://schemas.openxmlformats.org/officeDocument/2006/relationships/image" Target="../media/image52.sv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9"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8.svg"/><Relationship Id="rId7" Type="http://schemas.openxmlformats.org/officeDocument/2006/relationships/image" Target="../media/image52.sv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9" Type="http://schemas.openxmlformats.org/officeDocument/2006/relationships/image" Target="../media/image4.png"/></Relationships>
</file>

<file path=ppt/slides/_rels/slide2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8.svg"/><Relationship Id="rId7" Type="http://schemas.openxmlformats.org/officeDocument/2006/relationships/image" Target="../media/image52.sv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E1CEF2A4-61D1-4B0A-9465-528327EFA298}"/>
              </a:ext>
            </a:extLst>
          </p:cNvPr>
          <p:cNvSpPr/>
          <p:nvPr/>
        </p:nvSpPr>
        <p:spPr>
          <a:xfrm rot="21097220">
            <a:off x="2420900" y="-824320"/>
            <a:ext cx="10949103" cy="8869244"/>
          </a:xfrm>
          <a:custGeom>
            <a:avLst/>
            <a:gdLst>
              <a:gd name="connsiteX0" fmla="*/ 10776359 w 10949103"/>
              <a:gd name="connsiteY0" fmla="*/ 231900 h 8869244"/>
              <a:gd name="connsiteX1" fmla="*/ 7314702 w 10949103"/>
              <a:gd name="connsiteY1" fmla="*/ 1668815 h 8869244"/>
              <a:gd name="connsiteX2" fmla="*/ 6922816 w 10949103"/>
              <a:gd name="connsiteY2" fmla="*/ 3530272 h 8869244"/>
              <a:gd name="connsiteX3" fmla="*/ 5387931 w 10949103"/>
              <a:gd name="connsiteY3" fmla="*/ 4477329 h 8869244"/>
              <a:gd name="connsiteX4" fmla="*/ 4538845 w 10949103"/>
              <a:gd name="connsiteY4" fmla="*/ 6110186 h 8869244"/>
              <a:gd name="connsiteX5" fmla="*/ 2938645 w 10949103"/>
              <a:gd name="connsiteY5" fmla="*/ 6502072 h 8869244"/>
              <a:gd name="connsiteX6" fmla="*/ 1599702 w 10949103"/>
              <a:gd name="connsiteY6" fmla="*/ 7645072 h 8869244"/>
              <a:gd name="connsiteX7" fmla="*/ 293416 w 10949103"/>
              <a:gd name="connsiteY7" fmla="*/ 8265557 h 8869244"/>
              <a:gd name="connsiteX8" fmla="*/ 7641273 w 10949103"/>
              <a:gd name="connsiteY8" fmla="*/ 8853386 h 8869244"/>
              <a:gd name="connsiteX9" fmla="*/ 9404759 w 10949103"/>
              <a:gd name="connsiteY9" fmla="*/ 8526815 h 8869244"/>
              <a:gd name="connsiteX10" fmla="*/ 10319159 w 10949103"/>
              <a:gd name="connsiteY10" fmla="*/ 6795986 h 8869244"/>
              <a:gd name="connsiteX11" fmla="*/ 10776359 w 10949103"/>
              <a:gd name="connsiteY11" fmla="*/ 231900 h 8869244"/>
              <a:gd name="connsiteX0" fmla="*/ 10776359 w 10949103"/>
              <a:gd name="connsiteY0" fmla="*/ 231900 h 8869244"/>
              <a:gd name="connsiteX1" fmla="*/ 7314702 w 10949103"/>
              <a:gd name="connsiteY1" fmla="*/ 1668815 h 8869244"/>
              <a:gd name="connsiteX2" fmla="*/ 6922816 w 10949103"/>
              <a:gd name="connsiteY2" fmla="*/ 3530272 h 8869244"/>
              <a:gd name="connsiteX3" fmla="*/ 5387931 w 10949103"/>
              <a:gd name="connsiteY3" fmla="*/ 4477329 h 8869244"/>
              <a:gd name="connsiteX4" fmla="*/ 4538845 w 10949103"/>
              <a:gd name="connsiteY4" fmla="*/ 6110186 h 8869244"/>
              <a:gd name="connsiteX5" fmla="*/ 2938645 w 10949103"/>
              <a:gd name="connsiteY5" fmla="*/ 6502072 h 8869244"/>
              <a:gd name="connsiteX6" fmla="*/ 1599702 w 10949103"/>
              <a:gd name="connsiteY6" fmla="*/ 7645072 h 8869244"/>
              <a:gd name="connsiteX7" fmla="*/ 293416 w 10949103"/>
              <a:gd name="connsiteY7" fmla="*/ 8265557 h 8869244"/>
              <a:gd name="connsiteX8" fmla="*/ 7641273 w 10949103"/>
              <a:gd name="connsiteY8" fmla="*/ 8853386 h 8869244"/>
              <a:gd name="connsiteX9" fmla="*/ 9404759 w 10949103"/>
              <a:gd name="connsiteY9" fmla="*/ 8526815 h 8869244"/>
              <a:gd name="connsiteX10" fmla="*/ 10319159 w 10949103"/>
              <a:gd name="connsiteY10" fmla="*/ 6795986 h 8869244"/>
              <a:gd name="connsiteX11" fmla="*/ 10776359 w 10949103"/>
              <a:gd name="connsiteY11" fmla="*/ 231900 h 8869244"/>
              <a:gd name="connsiteX0" fmla="*/ 10776359 w 10949103"/>
              <a:gd name="connsiteY0" fmla="*/ 231900 h 8869244"/>
              <a:gd name="connsiteX1" fmla="*/ 7314702 w 10949103"/>
              <a:gd name="connsiteY1" fmla="*/ 1668815 h 8869244"/>
              <a:gd name="connsiteX2" fmla="*/ 6922816 w 10949103"/>
              <a:gd name="connsiteY2" fmla="*/ 3530272 h 8869244"/>
              <a:gd name="connsiteX3" fmla="*/ 5387931 w 10949103"/>
              <a:gd name="connsiteY3" fmla="*/ 4477329 h 8869244"/>
              <a:gd name="connsiteX4" fmla="*/ 4538845 w 10949103"/>
              <a:gd name="connsiteY4" fmla="*/ 6110186 h 8869244"/>
              <a:gd name="connsiteX5" fmla="*/ 2938645 w 10949103"/>
              <a:gd name="connsiteY5" fmla="*/ 6502072 h 8869244"/>
              <a:gd name="connsiteX6" fmla="*/ 1599702 w 10949103"/>
              <a:gd name="connsiteY6" fmla="*/ 7645072 h 8869244"/>
              <a:gd name="connsiteX7" fmla="*/ 293416 w 10949103"/>
              <a:gd name="connsiteY7" fmla="*/ 8265557 h 8869244"/>
              <a:gd name="connsiteX8" fmla="*/ 7641273 w 10949103"/>
              <a:gd name="connsiteY8" fmla="*/ 8853386 h 8869244"/>
              <a:gd name="connsiteX9" fmla="*/ 9404759 w 10949103"/>
              <a:gd name="connsiteY9" fmla="*/ 8526815 h 8869244"/>
              <a:gd name="connsiteX10" fmla="*/ 10319159 w 10949103"/>
              <a:gd name="connsiteY10" fmla="*/ 6795986 h 8869244"/>
              <a:gd name="connsiteX11" fmla="*/ 10776359 w 10949103"/>
              <a:gd name="connsiteY11" fmla="*/ 231900 h 886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49103" h="8869244">
                <a:moveTo>
                  <a:pt x="10776359" y="231900"/>
                </a:moveTo>
                <a:cubicBezTo>
                  <a:pt x="10275616" y="-622628"/>
                  <a:pt x="7956959" y="1119086"/>
                  <a:pt x="7314702" y="1668815"/>
                </a:cubicBezTo>
                <a:cubicBezTo>
                  <a:pt x="6672445" y="2218544"/>
                  <a:pt x="7243944" y="3062186"/>
                  <a:pt x="6922816" y="3530272"/>
                </a:cubicBezTo>
                <a:cubicBezTo>
                  <a:pt x="6601688" y="3998358"/>
                  <a:pt x="6209802" y="4014686"/>
                  <a:pt x="5387931" y="4477329"/>
                </a:cubicBezTo>
                <a:cubicBezTo>
                  <a:pt x="4566060" y="4939972"/>
                  <a:pt x="4947059" y="5772729"/>
                  <a:pt x="4538845" y="6110186"/>
                </a:cubicBezTo>
                <a:cubicBezTo>
                  <a:pt x="4130631" y="6447643"/>
                  <a:pt x="3428502" y="6246258"/>
                  <a:pt x="2938645" y="6502072"/>
                </a:cubicBezTo>
                <a:cubicBezTo>
                  <a:pt x="2448788" y="6757886"/>
                  <a:pt x="2040573" y="7351158"/>
                  <a:pt x="1599702" y="7645072"/>
                </a:cubicBezTo>
                <a:cubicBezTo>
                  <a:pt x="1158831" y="7938986"/>
                  <a:pt x="-713513" y="8064171"/>
                  <a:pt x="293416" y="8265557"/>
                </a:cubicBezTo>
                <a:cubicBezTo>
                  <a:pt x="1300344" y="8466943"/>
                  <a:pt x="6122716" y="8809843"/>
                  <a:pt x="7641273" y="8853386"/>
                </a:cubicBezTo>
                <a:cubicBezTo>
                  <a:pt x="9159830" y="8896929"/>
                  <a:pt x="8958445" y="8869715"/>
                  <a:pt x="9404759" y="8526815"/>
                </a:cubicBezTo>
                <a:cubicBezTo>
                  <a:pt x="9851073" y="8183915"/>
                  <a:pt x="10085116" y="8173029"/>
                  <a:pt x="10319159" y="6795986"/>
                </a:cubicBezTo>
                <a:cubicBezTo>
                  <a:pt x="10553202" y="5418943"/>
                  <a:pt x="11277102" y="1086428"/>
                  <a:pt x="10776359" y="231900"/>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5">
            <a:extLst>
              <a:ext uri="{FF2B5EF4-FFF2-40B4-BE49-F238E27FC236}">
                <a16:creationId xmlns:a16="http://schemas.microsoft.com/office/drawing/2014/main" id="{33DD6DFC-252B-47E5-8EB2-584F389203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905417" y="4173618"/>
            <a:ext cx="4286583" cy="2679114"/>
          </a:xfrm>
          <a:prstGeom prst="rect">
            <a:avLst/>
          </a:prstGeom>
        </p:spPr>
      </p:pic>
      <p:sp>
        <p:nvSpPr>
          <p:cNvPr id="5" name="Subtitle 2"/>
          <p:cNvSpPr>
            <a:spLocks noGrp="1"/>
          </p:cNvSpPr>
          <p:nvPr/>
        </p:nvSpPr>
        <p:spPr>
          <a:xfrm>
            <a:off x="472670" y="3288410"/>
            <a:ext cx="6183975" cy="1100524"/>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200"/>
              </a:spcAft>
              <a:buClr>
                <a:schemeClr val="accent2"/>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9pPr>
          </a:lstStyle>
          <a:p>
            <a:pPr>
              <a:spcAft>
                <a:spcPts val="600"/>
              </a:spcAft>
            </a:pPr>
            <a:r>
              <a:rPr lang="en-US" sz="1600" b="1" dirty="0" err="1">
                <a:latin typeface="Bahnschrift SemiLight" panose="020B0502040204020203" pitchFamily="34" charset="0"/>
              </a:rPr>
              <a:t>Disusun</a:t>
            </a:r>
            <a:r>
              <a:rPr lang="en-US" sz="1600" b="1" dirty="0">
                <a:latin typeface="Bahnschrift SemiLight" panose="020B0502040204020203" pitchFamily="34" charset="0"/>
              </a:rPr>
              <a:t> </a:t>
            </a:r>
            <a:r>
              <a:rPr lang="en-US" sz="1600" b="1" dirty="0" err="1">
                <a:latin typeface="Bahnschrift SemiLight" panose="020B0502040204020203" pitchFamily="34" charset="0"/>
              </a:rPr>
              <a:t>Oleh</a:t>
            </a:r>
            <a:r>
              <a:rPr lang="en-US" sz="1600" b="1" dirty="0">
                <a:latin typeface="Bahnschrift SemiLight" panose="020B0502040204020203" pitchFamily="34" charset="0"/>
              </a:rPr>
              <a:t> :</a:t>
            </a:r>
          </a:p>
          <a:p>
            <a:pPr>
              <a:spcAft>
                <a:spcPts val="600"/>
              </a:spcAft>
            </a:pPr>
            <a:r>
              <a:rPr lang="en-US" sz="1600" dirty="0">
                <a:latin typeface="Bahnschrift SemiLight" panose="020B0502040204020203" pitchFamily="34" charset="0"/>
              </a:rPr>
              <a:t>Ahmad Rizal </a:t>
            </a:r>
            <a:r>
              <a:rPr lang="en-US" sz="1600" dirty="0" err="1">
                <a:latin typeface="Bahnschrift SemiLight" panose="020B0502040204020203" pitchFamily="34" charset="0"/>
              </a:rPr>
              <a:t>Bayhaqi</a:t>
            </a:r>
            <a:r>
              <a:rPr lang="en-US" sz="1600" dirty="0">
                <a:latin typeface="Bahnschrift SemiLight" panose="020B0502040204020203" pitchFamily="34" charset="0"/>
              </a:rPr>
              <a:t> 2043201047</a:t>
            </a:r>
          </a:p>
          <a:p>
            <a:pPr>
              <a:spcAft>
                <a:spcPts val="600"/>
              </a:spcAft>
            </a:pPr>
            <a:endParaRPr lang="en-US" sz="1600" dirty="0">
              <a:latin typeface="Bahnschrift SemiLight" panose="020B0502040204020203" pitchFamily="34" charset="0"/>
            </a:endParaRPr>
          </a:p>
        </p:txBody>
      </p:sp>
      <p:pic>
        <p:nvPicPr>
          <p:cNvPr id="6" name="Picture 5"/>
          <p:cNvPicPr>
            <a:picLocks noChangeAspect="1"/>
          </p:cNvPicPr>
          <p:nvPr/>
        </p:nvPicPr>
        <p:blipFill>
          <a:blip r:embed="rId4"/>
          <a:stretch>
            <a:fillRect/>
          </a:stretch>
        </p:blipFill>
        <p:spPr>
          <a:xfrm>
            <a:off x="10575508" y="334546"/>
            <a:ext cx="785211" cy="769507"/>
          </a:xfrm>
          <a:prstGeom prst="rect">
            <a:avLst/>
          </a:prstGeom>
        </p:spPr>
      </p:pic>
      <p:sp>
        <p:nvSpPr>
          <p:cNvPr id="7" name="TextBox 4"/>
          <p:cNvSpPr txBox="1"/>
          <p:nvPr/>
        </p:nvSpPr>
        <p:spPr>
          <a:xfrm>
            <a:off x="472669" y="4173618"/>
            <a:ext cx="5714443" cy="13080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r>
              <a:rPr lang="en-US" sz="1600" b="1" dirty="0" err="1">
                <a:latin typeface="Bahnschrift SemiLight" panose="020B0502040204020203" pitchFamily="34" charset="0"/>
              </a:rPr>
              <a:t>Dosen</a:t>
            </a:r>
            <a:r>
              <a:rPr lang="en-US" sz="1600" b="1" dirty="0">
                <a:latin typeface="Bahnschrift SemiLight" panose="020B0502040204020203" pitchFamily="34" charset="0"/>
              </a:rPr>
              <a:t> </a:t>
            </a:r>
            <a:r>
              <a:rPr lang="en-US" sz="1600" b="1" dirty="0" err="1">
                <a:latin typeface="Bahnschrift SemiLight" panose="020B0502040204020203" pitchFamily="34" charset="0"/>
              </a:rPr>
              <a:t>Pembimbing</a:t>
            </a:r>
            <a:r>
              <a:rPr lang="en-US" sz="1600" b="1" dirty="0">
                <a:latin typeface="Bahnschrift SemiLight" panose="020B0502040204020203" pitchFamily="34" charset="0"/>
              </a:rPr>
              <a:t> :</a:t>
            </a:r>
          </a:p>
          <a:p>
            <a:pPr>
              <a:spcAft>
                <a:spcPts val="600"/>
              </a:spcAft>
            </a:pPr>
            <a:r>
              <a:rPr lang="en-AU" sz="1600" dirty="0">
                <a:latin typeface="Bahnschrift SemiLight" panose="020B0502040204020203" pitchFamily="34" charset="0"/>
              </a:rPr>
              <a:t>Mukti Ratna Dewi, </a:t>
            </a:r>
            <a:r>
              <a:rPr lang="en-AU" sz="1600" dirty="0" err="1">
                <a:latin typeface="Bahnschrift SemiLight" panose="020B0502040204020203" pitchFamily="34" charset="0"/>
              </a:rPr>
              <a:t>S.Si</a:t>
            </a:r>
            <a:r>
              <a:rPr lang="en-AU" sz="1600" dirty="0">
                <a:latin typeface="Bahnschrift SemiLight" panose="020B0502040204020203" pitchFamily="34" charset="0"/>
              </a:rPr>
              <a:t>., M.Sc.</a:t>
            </a:r>
            <a:endParaRPr lang="en-US" sz="1600" dirty="0">
              <a:latin typeface="Bahnschrift SemiLight" panose="020B0502040204020203" pitchFamily="34" charset="0"/>
            </a:endParaRPr>
          </a:p>
          <a:p>
            <a:pPr>
              <a:spcAft>
                <a:spcPts val="600"/>
              </a:spcAft>
            </a:pPr>
            <a:r>
              <a:rPr lang="en-AU" sz="1600" dirty="0" err="1">
                <a:latin typeface="Bahnschrift SemiLight" panose="020B0502040204020203" pitchFamily="34" charset="0"/>
              </a:rPr>
              <a:t>Mochammad</a:t>
            </a:r>
            <a:r>
              <a:rPr lang="en-AU" sz="1600" dirty="0">
                <a:latin typeface="Bahnschrift SemiLight" panose="020B0502040204020203" pitchFamily="34" charset="0"/>
              </a:rPr>
              <a:t> Reza Habibi, </a:t>
            </a:r>
            <a:r>
              <a:rPr lang="en-AU" sz="1600" dirty="0" err="1">
                <a:latin typeface="Bahnschrift SemiLight" panose="020B0502040204020203" pitchFamily="34" charset="0"/>
              </a:rPr>
              <a:t>S.Si</a:t>
            </a:r>
            <a:r>
              <a:rPr lang="en-AU" sz="1600" dirty="0">
                <a:latin typeface="Bahnschrift SemiLight" panose="020B0502040204020203" pitchFamily="34" charset="0"/>
              </a:rPr>
              <a:t>., </a:t>
            </a:r>
            <a:r>
              <a:rPr lang="en-AU" sz="1600" dirty="0" err="1">
                <a:latin typeface="Bahnschrift SemiLight" panose="020B0502040204020203" pitchFamily="34" charset="0"/>
              </a:rPr>
              <a:t>M.Mat</a:t>
            </a:r>
            <a:r>
              <a:rPr lang="en-AU" sz="1600" dirty="0">
                <a:latin typeface="Bahnschrift SemiLight" panose="020B0502040204020203" pitchFamily="34" charset="0"/>
              </a:rPr>
              <a:t>.</a:t>
            </a:r>
            <a:endParaRPr lang="en-US" sz="1600" dirty="0">
              <a:latin typeface="Bahnschrift SemiLight" panose="020B0502040204020203" pitchFamily="34" charset="0"/>
            </a:endParaRPr>
          </a:p>
          <a:p>
            <a:pPr>
              <a:spcAft>
                <a:spcPts val="600"/>
              </a:spcAft>
            </a:pPr>
            <a:endParaRPr lang="en-US" sz="1600" dirty="0">
              <a:latin typeface="Bahnschrift SemiLight" panose="020B0502040204020203" pitchFamily="34" charset="0"/>
            </a:endParaRPr>
          </a:p>
        </p:txBody>
      </p:sp>
      <p:sp>
        <p:nvSpPr>
          <p:cNvPr id="8" name="TextBox 5"/>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1</a:t>
            </a:r>
            <a:endParaRPr lang="en-US" sz="2000" b="1" dirty="0"/>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10" name="TextBox 9"/>
          <p:cNvSpPr txBox="1"/>
          <p:nvPr/>
        </p:nvSpPr>
        <p:spPr>
          <a:xfrm>
            <a:off x="472670" y="1187785"/>
            <a:ext cx="7094828" cy="2185214"/>
          </a:xfrm>
          <a:prstGeom prst="rect">
            <a:avLst/>
          </a:prstGeom>
          <a:noFill/>
        </p:spPr>
        <p:txBody>
          <a:bodyPr wrap="square" rtlCol="0">
            <a:spAutoFit/>
          </a:bodyPr>
          <a:lstStyle/>
          <a:p>
            <a:pPr>
              <a:tabLst>
                <a:tab pos="4562475" algn="l"/>
              </a:tabLst>
            </a:pPr>
            <a:r>
              <a:rPr lang="en-AU" sz="2800" dirty="0">
                <a:solidFill>
                  <a:srgbClr val="6957DD"/>
                </a:solidFill>
                <a:latin typeface="Bahnschrift SemiBold" panose="020B0502040204020203" pitchFamily="34" charset="0"/>
                <a:ea typeface="Arita Buri Bold" panose="020B0604020202020204" charset="-127"/>
                <a:cs typeface="Cavolini" panose="020B0502040204020203" pitchFamily="66" charset="0"/>
              </a:rPr>
              <a:t>Penerapan </a:t>
            </a:r>
            <a:r>
              <a:rPr lang="en-AU" sz="2800" dirty="0" err="1">
                <a:solidFill>
                  <a:srgbClr val="6957DD"/>
                </a:solidFill>
                <a:latin typeface="Bahnschrift SemiBold" panose="020B0502040204020203" pitchFamily="34" charset="0"/>
                <a:ea typeface="Arita Buri Bold" panose="020B0604020202020204" charset="-127"/>
                <a:cs typeface="Cavolini" panose="020B0502040204020203" pitchFamily="66" charset="0"/>
              </a:rPr>
              <a:t>Multimodel</a:t>
            </a:r>
            <a:r>
              <a:rPr lang="en-AU" sz="2800" dirty="0">
                <a:solidFill>
                  <a:srgbClr val="6957DD"/>
                </a:solidFill>
                <a:latin typeface="Bahnschrift SemiBold" panose="020B0502040204020203" pitchFamily="34" charset="0"/>
                <a:ea typeface="Arita Buri Bold" panose="020B0604020202020204" charset="-127"/>
                <a:cs typeface="Cavolini" panose="020B0502040204020203" pitchFamily="66" charset="0"/>
              </a:rPr>
              <a:t> Deep Learning Dalam Pendeteksian Berita Hoaks Laman Turnbackhoax.id Menggunakan Arsitektur CNN</a:t>
            </a:r>
            <a:endParaRPr lang="en-US" sz="2800" dirty="0">
              <a:solidFill>
                <a:srgbClr val="6957DD"/>
              </a:solidFill>
              <a:latin typeface="Bahnschrift SemiBold" panose="020B0502040204020203" pitchFamily="34" charset="0"/>
              <a:ea typeface="Arita Buri Bold" panose="020B0604020202020204" charset="-127"/>
              <a:cs typeface="Cavolini" panose="020B0502040204020203" pitchFamily="66" charset="0"/>
            </a:endParaRPr>
          </a:p>
          <a:p>
            <a:pPr>
              <a:tabLst>
                <a:tab pos="4562475" algn="l"/>
              </a:tabLst>
            </a:pPr>
            <a:endParaRPr lang="en-US" sz="2400" dirty="0">
              <a:solidFill>
                <a:srgbClr val="6957DD"/>
              </a:solidFill>
              <a:effectLst/>
              <a:latin typeface="Bahnschrift SemiBold" panose="020B0502040204020203" pitchFamily="34" charset="0"/>
              <a:ea typeface="Arita Buri Bold" panose="020B0604020202020204" charset="-127"/>
              <a:cs typeface="Cavolini" panose="020B0502040204020203" pitchFamily="66" charset="0"/>
            </a:endParaRPr>
          </a:p>
        </p:txBody>
      </p:sp>
      <p:sp>
        <p:nvSpPr>
          <p:cNvPr id="11" name="TextBox 10">
            <a:extLst>
              <a:ext uri="{FF2B5EF4-FFF2-40B4-BE49-F238E27FC236}">
                <a16:creationId xmlns:a16="http://schemas.microsoft.com/office/drawing/2014/main" id="{F7BBF966-E6EF-4279-AC12-19420FA334B0}"/>
              </a:ext>
            </a:extLst>
          </p:cNvPr>
          <p:cNvSpPr txBox="1"/>
          <p:nvPr/>
        </p:nvSpPr>
        <p:spPr>
          <a:xfrm>
            <a:off x="4016627" y="3279443"/>
            <a:ext cx="6228520" cy="984885"/>
          </a:xfrm>
          <a:prstGeom prst="rect">
            <a:avLst/>
          </a:prstGeom>
          <a:noFill/>
        </p:spPr>
        <p:txBody>
          <a:bodyPr wrap="square">
            <a:spAutoFit/>
          </a:bodyPr>
          <a:lstStyle/>
          <a:p>
            <a:pPr>
              <a:spcAft>
                <a:spcPts val="600"/>
              </a:spcAft>
            </a:pPr>
            <a:r>
              <a:rPr lang="en-US" sz="1600" b="1" dirty="0" err="1">
                <a:latin typeface="Bahnschrift SemiLight" panose="020B0502040204020203" pitchFamily="34" charset="0"/>
              </a:rPr>
              <a:t>Dosen</a:t>
            </a:r>
            <a:r>
              <a:rPr lang="en-US" sz="1600" b="1" dirty="0">
                <a:latin typeface="Bahnschrift SemiLight" panose="020B0502040204020203" pitchFamily="34" charset="0"/>
              </a:rPr>
              <a:t> </a:t>
            </a:r>
            <a:r>
              <a:rPr lang="en-US" sz="1600" b="1" dirty="0" err="1">
                <a:latin typeface="Bahnschrift SemiLight" panose="020B0502040204020203" pitchFamily="34" charset="0"/>
              </a:rPr>
              <a:t>Penguji</a:t>
            </a:r>
            <a:r>
              <a:rPr lang="en-US" sz="1600" dirty="0">
                <a:latin typeface="Bahnschrift SemiLight" panose="020B0502040204020203" pitchFamily="34" charset="0"/>
              </a:rPr>
              <a:t>: </a:t>
            </a:r>
          </a:p>
          <a:p>
            <a:pPr>
              <a:spcAft>
                <a:spcPts val="600"/>
              </a:spcAft>
            </a:pPr>
            <a:r>
              <a:rPr lang="en-US" sz="1600" dirty="0" err="1">
                <a:latin typeface="Bahnschrift SemiLight" panose="020B0502040204020203" pitchFamily="34" charset="0"/>
              </a:rPr>
              <a:t>Dra.Destri</a:t>
            </a:r>
            <a:r>
              <a:rPr lang="en-US" sz="1600" dirty="0">
                <a:latin typeface="Bahnschrift SemiLight" panose="020B0502040204020203" pitchFamily="34" charset="0"/>
              </a:rPr>
              <a:t> </a:t>
            </a:r>
            <a:r>
              <a:rPr lang="en-US" sz="1600" dirty="0" err="1">
                <a:latin typeface="Bahnschrift SemiLight" panose="020B0502040204020203" pitchFamily="34" charset="0"/>
              </a:rPr>
              <a:t>Susilaningrum</a:t>
            </a:r>
            <a:r>
              <a:rPr lang="en-US" sz="1600" dirty="0">
                <a:latin typeface="Bahnschrift SemiLight" panose="020B0502040204020203" pitchFamily="34" charset="0"/>
              </a:rPr>
              <a:t>, </a:t>
            </a:r>
            <a:r>
              <a:rPr lang="en-US" sz="1600" dirty="0" err="1">
                <a:latin typeface="Bahnschrift SemiLight" panose="020B0502040204020203" pitchFamily="34" charset="0"/>
              </a:rPr>
              <a:t>M.Si</a:t>
            </a:r>
            <a:r>
              <a:rPr lang="en-US" sz="1600" dirty="0">
                <a:latin typeface="Bahnschrift SemiLight" panose="020B0502040204020203" pitchFamily="34" charset="0"/>
              </a:rPr>
              <a:t>.</a:t>
            </a:r>
          </a:p>
          <a:p>
            <a:pPr>
              <a:spcAft>
                <a:spcPts val="600"/>
              </a:spcAft>
            </a:pPr>
            <a:r>
              <a:rPr lang="en-US" sz="1600" dirty="0" err="1">
                <a:latin typeface="Bahnschrift SemiLight" panose="020B0502040204020203" pitchFamily="34" charset="0"/>
              </a:rPr>
              <a:t>Zakiatul</a:t>
            </a:r>
            <a:r>
              <a:rPr lang="en-US" sz="1600" dirty="0">
                <a:latin typeface="Bahnschrift SemiLight" panose="020B0502040204020203" pitchFamily="34" charset="0"/>
              </a:rPr>
              <a:t> </a:t>
            </a:r>
            <a:r>
              <a:rPr lang="en-US" sz="1600" dirty="0" err="1">
                <a:latin typeface="Bahnschrift SemiLight" panose="020B0502040204020203" pitchFamily="34" charset="0"/>
              </a:rPr>
              <a:t>Wildani</a:t>
            </a:r>
            <a:r>
              <a:rPr lang="en-US" sz="1600" dirty="0">
                <a:latin typeface="Bahnschrift SemiLight" panose="020B0502040204020203" pitchFamily="34" charset="0"/>
              </a:rPr>
              <a:t>, </a:t>
            </a:r>
            <a:r>
              <a:rPr lang="en-US" sz="1600" dirty="0" err="1">
                <a:latin typeface="Bahnschrift SemiLight" panose="020B0502040204020203" pitchFamily="34" charset="0"/>
              </a:rPr>
              <a:t>S.Si</a:t>
            </a:r>
            <a:r>
              <a:rPr lang="en-US" sz="1600" dirty="0">
                <a:latin typeface="Bahnschrift SemiLight" panose="020B0502040204020203" pitchFamily="34" charset="0"/>
              </a:rPr>
              <a:t>, M.Sc.</a:t>
            </a:r>
          </a:p>
        </p:txBody>
      </p:sp>
      <p:sp>
        <p:nvSpPr>
          <p:cNvPr id="14" name="TextBox 13">
            <a:extLst>
              <a:ext uri="{FF2B5EF4-FFF2-40B4-BE49-F238E27FC236}">
                <a16:creationId xmlns:a16="http://schemas.microsoft.com/office/drawing/2014/main" id="{F4E9F9F0-9447-4665-8B79-39DAB6C8E261}"/>
              </a:ext>
            </a:extLst>
          </p:cNvPr>
          <p:cNvSpPr txBox="1"/>
          <p:nvPr/>
        </p:nvSpPr>
        <p:spPr>
          <a:xfrm>
            <a:off x="560432" y="734721"/>
            <a:ext cx="5626680" cy="369332"/>
          </a:xfrm>
          <a:prstGeom prst="rect">
            <a:avLst/>
          </a:prstGeom>
          <a:solidFill>
            <a:srgbClr val="6957DD"/>
          </a:solidFill>
        </p:spPr>
        <p:txBody>
          <a:bodyPr wrap="square" rtlCol="0">
            <a:spAutoFit/>
          </a:bodyPr>
          <a:lstStyle/>
          <a:p>
            <a:r>
              <a:rPr lang="en-AU" sz="1800" b="1" dirty="0">
                <a:solidFill>
                  <a:srgbClr val="FFFFFF"/>
                </a:solidFill>
                <a:effectLst/>
                <a:latin typeface="Bahnschrift SemiBold" panose="020B0502040204020203" pitchFamily="34" charset="0"/>
                <a:ea typeface="Yu Mincho" panose="02020400000000000000" pitchFamily="18" charset="-128"/>
                <a:cs typeface="Times New Roman" panose="02020603050405020304" pitchFamily="18" charset="0"/>
              </a:rPr>
              <a:t>PRESENTASI  </a:t>
            </a:r>
            <a:r>
              <a:rPr lang="en-AU" b="1" dirty="0">
                <a:solidFill>
                  <a:srgbClr val="FFFFFF"/>
                </a:solidFill>
                <a:latin typeface="Bahnschrift SemiBold" panose="020B0502040204020203" pitchFamily="34" charset="0"/>
                <a:ea typeface="Yu Mincho" panose="02020400000000000000" pitchFamily="18" charset="-128"/>
                <a:cs typeface="Times New Roman" panose="02020603050405020304" pitchFamily="18" charset="0"/>
              </a:rPr>
              <a:t>PROJEK</a:t>
            </a:r>
            <a:r>
              <a:rPr lang="en-AU" sz="1800" b="1" dirty="0">
                <a:solidFill>
                  <a:srgbClr val="FFFFFF"/>
                </a:solidFill>
                <a:effectLst/>
                <a:latin typeface="Bahnschrift SemiBold" panose="020B0502040204020203" pitchFamily="34" charset="0"/>
                <a:ea typeface="Yu Mincho" panose="02020400000000000000" pitchFamily="18" charset="-128"/>
                <a:cs typeface="Times New Roman" panose="02020603050405020304" pitchFamily="18" charset="0"/>
              </a:rPr>
              <a:t> AKHIR – VS231743</a:t>
            </a:r>
            <a:endParaRPr lang="en-US" dirty="0">
              <a:solidFill>
                <a:srgbClr val="FFFFFF"/>
              </a:solidFill>
              <a:latin typeface="Bahnschrift SemiBold" panose="020B0502040204020203" pitchFamily="34" charset="0"/>
            </a:endParaRPr>
          </a:p>
        </p:txBody>
      </p:sp>
      <p:sp>
        <p:nvSpPr>
          <p:cNvPr id="13" name="TextBox 4">
            <a:extLst>
              <a:ext uri="{FF2B5EF4-FFF2-40B4-BE49-F238E27FC236}">
                <a16:creationId xmlns:a16="http://schemas.microsoft.com/office/drawing/2014/main" id="{A8ABECCF-A6A5-E32E-E646-680EC50EF348}"/>
              </a:ext>
            </a:extLst>
          </p:cNvPr>
          <p:cNvSpPr txBox="1"/>
          <p:nvPr/>
        </p:nvSpPr>
        <p:spPr>
          <a:xfrm>
            <a:off x="472668" y="5456893"/>
            <a:ext cx="3676250" cy="13080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r>
              <a:rPr lang="en-US" sz="1600" dirty="0" err="1">
                <a:latin typeface="Bahnschrift SemiLight" panose="020B0502040204020203" pitchFamily="34" charset="0"/>
              </a:rPr>
              <a:t>Institut</a:t>
            </a:r>
            <a:r>
              <a:rPr lang="en-US" sz="1600" dirty="0">
                <a:latin typeface="Bahnschrift SemiLight" panose="020B0502040204020203" pitchFamily="34" charset="0"/>
              </a:rPr>
              <a:t> </a:t>
            </a:r>
            <a:r>
              <a:rPr lang="en-US" sz="1600" dirty="0" err="1">
                <a:latin typeface="Bahnschrift SemiLight" panose="020B0502040204020203" pitchFamily="34" charset="0"/>
              </a:rPr>
              <a:t>Teknologi</a:t>
            </a:r>
            <a:r>
              <a:rPr lang="en-US" sz="1600" dirty="0">
                <a:latin typeface="Bahnschrift SemiLight" panose="020B0502040204020203" pitchFamily="34" charset="0"/>
              </a:rPr>
              <a:t> </a:t>
            </a:r>
            <a:r>
              <a:rPr lang="en-US" sz="1600" dirty="0" err="1">
                <a:latin typeface="Bahnschrift SemiLight" panose="020B0502040204020203" pitchFamily="34" charset="0"/>
              </a:rPr>
              <a:t>Sepuluh</a:t>
            </a:r>
            <a:r>
              <a:rPr lang="en-US" sz="1600" dirty="0">
                <a:latin typeface="Bahnschrift SemiLight" panose="020B0502040204020203" pitchFamily="34" charset="0"/>
              </a:rPr>
              <a:t> </a:t>
            </a:r>
            <a:r>
              <a:rPr lang="en-US" sz="1600" dirty="0" err="1">
                <a:latin typeface="Bahnschrift SemiLight" panose="020B0502040204020203" pitchFamily="34" charset="0"/>
              </a:rPr>
              <a:t>Nopember</a:t>
            </a:r>
            <a:endParaRPr lang="en-US" sz="1600" dirty="0">
              <a:latin typeface="Bahnschrift SemiLight" panose="020B0502040204020203" pitchFamily="34" charset="0"/>
            </a:endParaRPr>
          </a:p>
          <a:p>
            <a:pPr>
              <a:spcAft>
                <a:spcPts val="600"/>
              </a:spcAft>
            </a:pPr>
            <a:r>
              <a:rPr lang="en-US" sz="1600" dirty="0" err="1">
                <a:latin typeface="Bahnschrift SemiLight" panose="020B0502040204020203" pitchFamily="34" charset="0"/>
              </a:rPr>
              <a:t>Fakultas</a:t>
            </a:r>
            <a:r>
              <a:rPr lang="en-US" sz="1600" dirty="0">
                <a:latin typeface="Bahnschrift SemiLight" panose="020B0502040204020203" pitchFamily="34" charset="0"/>
              </a:rPr>
              <a:t> </a:t>
            </a:r>
            <a:r>
              <a:rPr lang="en-US" sz="1600" dirty="0" err="1">
                <a:latin typeface="Bahnschrift SemiLight" panose="020B0502040204020203" pitchFamily="34" charset="0"/>
              </a:rPr>
              <a:t>Vokasi</a:t>
            </a:r>
            <a:endParaRPr lang="en-US" sz="1600" dirty="0">
              <a:latin typeface="Bahnschrift SemiLight" panose="020B0502040204020203" pitchFamily="34" charset="0"/>
            </a:endParaRPr>
          </a:p>
          <a:p>
            <a:pPr>
              <a:spcAft>
                <a:spcPts val="600"/>
              </a:spcAft>
            </a:pPr>
            <a:r>
              <a:rPr lang="en-US" sz="1600" dirty="0" err="1">
                <a:latin typeface="Bahnschrift SemiLight" panose="020B0502040204020203" pitchFamily="34" charset="0"/>
              </a:rPr>
              <a:t>Departemen</a:t>
            </a:r>
            <a:r>
              <a:rPr lang="en-US" sz="1600" dirty="0">
                <a:latin typeface="Bahnschrift SemiLight" panose="020B0502040204020203" pitchFamily="34" charset="0"/>
              </a:rPr>
              <a:t> </a:t>
            </a:r>
            <a:r>
              <a:rPr lang="en-US" sz="1600" dirty="0" err="1">
                <a:latin typeface="Bahnschrift SemiLight" panose="020B0502040204020203" pitchFamily="34" charset="0"/>
              </a:rPr>
              <a:t>Statistika</a:t>
            </a:r>
            <a:r>
              <a:rPr lang="en-US" sz="1600" dirty="0">
                <a:latin typeface="Bahnschrift SemiLight" panose="020B0502040204020203" pitchFamily="34" charset="0"/>
              </a:rPr>
              <a:t> </a:t>
            </a:r>
            <a:r>
              <a:rPr lang="en-US" sz="1600" dirty="0" err="1">
                <a:latin typeface="Bahnschrift SemiLight" panose="020B0502040204020203" pitchFamily="34" charset="0"/>
              </a:rPr>
              <a:t>Bisnis</a:t>
            </a:r>
            <a:endParaRPr lang="en-US" sz="1600" dirty="0">
              <a:latin typeface="Bahnschrift SemiLight" panose="020B0502040204020203" pitchFamily="34" charset="0"/>
            </a:endParaRPr>
          </a:p>
          <a:p>
            <a:pPr>
              <a:spcAft>
                <a:spcPts val="600"/>
              </a:spcAft>
            </a:pPr>
            <a:r>
              <a:rPr lang="en-US" sz="1600" dirty="0">
                <a:latin typeface="Bahnschrift SemiLight" panose="020B0502040204020203" pitchFamily="34" charset="0"/>
              </a:rPr>
              <a:t>2023</a:t>
            </a:r>
          </a:p>
        </p:txBody>
      </p:sp>
    </p:spTree>
    <p:extLst>
      <p:ext uri="{BB962C8B-B14F-4D97-AF65-F5344CB8AC3E}">
        <p14:creationId xmlns:p14="http://schemas.microsoft.com/office/powerpoint/2010/main" val="185810540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rrow: Up 7">
            <a:extLst>
              <a:ext uri="{FF2B5EF4-FFF2-40B4-BE49-F238E27FC236}">
                <a16:creationId xmlns:a16="http://schemas.microsoft.com/office/drawing/2014/main" id="{B1E355BC-D689-5F4A-40AE-6EDE595C38D2}"/>
              </a:ext>
            </a:extLst>
          </p:cNvPr>
          <p:cNvSpPr/>
          <p:nvPr/>
        </p:nvSpPr>
        <p:spPr>
          <a:xfrm>
            <a:off x="3503132" y="-948267"/>
            <a:ext cx="5579851" cy="7845255"/>
          </a:xfrm>
          <a:prstGeom prst="upArrow">
            <a:avLst>
              <a:gd name="adj1" fmla="val 50000"/>
              <a:gd name="adj2" fmla="val 72634"/>
            </a:avLst>
          </a:prstGeom>
          <a:solidFill>
            <a:srgbClr val="51D7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1D72BDF-664F-47EA-93E7-8AB52DF7B680}"/>
              </a:ext>
            </a:extLst>
          </p:cNvPr>
          <p:cNvSpPr/>
          <p:nvPr/>
        </p:nvSpPr>
        <p:spPr>
          <a:xfrm rot="19623074">
            <a:off x="11111569" y="6032229"/>
            <a:ext cx="1816670" cy="907424"/>
          </a:xfrm>
          <a:custGeom>
            <a:avLst/>
            <a:gdLst>
              <a:gd name="connsiteX0" fmla="*/ 3521022 w 6722324"/>
              <a:gd name="connsiteY0" fmla="*/ 442611 h 3697335"/>
              <a:gd name="connsiteX1" fmla="*/ 1558872 w 6722324"/>
              <a:gd name="connsiteY1" fmla="*/ 80661 h 3697335"/>
              <a:gd name="connsiteX2" fmla="*/ 15822 w 6722324"/>
              <a:gd name="connsiteY2" fmla="*/ 2119011 h 3697335"/>
              <a:gd name="connsiteX3" fmla="*/ 2530422 w 6722324"/>
              <a:gd name="connsiteY3" fmla="*/ 3681111 h 3697335"/>
              <a:gd name="connsiteX4" fmla="*/ 5025972 w 6722324"/>
              <a:gd name="connsiteY4" fmla="*/ 2976261 h 3697335"/>
              <a:gd name="connsiteX5" fmla="*/ 6721422 w 6722324"/>
              <a:gd name="connsiteY5" fmla="*/ 2500011 h 3697335"/>
              <a:gd name="connsiteX6" fmla="*/ 5235522 w 6722324"/>
              <a:gd name="connsiteY6" fmla="*/ 766461 h 3697335"/>
              <a:gd name="connsiteX7" fmla="*/ 3521022 w 6722324"/>
              <a:gd name="connsiteY7" fmla="*/ 442611 h 3697335"/>
              <a:gd name="connsiteX0" fmla="*/ 3512403 w 6713705"/>
              <a:gd name="connsiteY0" fmla="*/ 442611 h 3697335"/>
              <a:gd name="connsiteX1" fmla="*/ 1550253 w 6713705"/>
              <a:gd name="connsiteY1" fmla="*/ 80661 h 3697335"/>
              <a:gd name="connsiteX2" fmla="*/ 7203 w 6713705"/>
              <a:gd name="connsiteY2" fmla="*/ 2119011 h 3697335"/>
              <a:gd name="connsiteX3" fmla="*/ 2521803 w 6713705"/>
              <a:gd name="connsiteY3" fmla="*/ 3681111 h 3697335"/>
              <a:gd name="connsiteX4" fmla="*/ 5017353 w 6713705"/>
              <a:gd name="connsiteY4" fmla="*/ 2976261 h 3697335"/>
              <a:gd name="connsiteX5" fmla="*/ 6712803 w 6713705"/>
              <a:gd name="connsiteY5" fmla="*/ 2500011 h 3697335"/>
              <a:gd name="connsiteX6" fmla="*/ 5226903 w 6713705"/>
              <a:gd name="connsiteY6" fmla="*/ 766461 h 3697335"/>
              <a:gd name="connsiteX7" fmla="*/ 3512403 w 6713705"/>
              <a:gd name="connsiteY7" fmla="*/ 442611 h 3697335"/>
              <a:gd name="connsiteX0" fmla="*/ 3512403 w 6713705"/>
              <a:gd name="connsiteY0" fmla="*/ 442611 h 3689679"/>
              <a:gd name="connsiteX1" fmla="*/ 1550253 w 6713705"/>
              <a:gd name="connsiteY1" fmla="*/ 80661 h 3689679"/>
              <a:gd name="connsiteX2" fmla="*/ 7203 w 6713705"/>
              <a:gd name="connsiteY2" fmla="*/ 2119011 h 3689679"/>
              <a:gd name="connsiteX3" fmla="*/ 2521803 w 6713705"/>
              <a:gd name="connsiteY3" fmla="*/ 3681111 h 3689679"/>
              <a:gd name="connsiteX4" fmla="*/ 4369653 w 6713705"/>
              <a:gd name="connsiteY4" fmla="*/ 2785761 h 3689679"/>
              <a:gd name="connsiteX5" fmla="*/ 6712803 w 6713705"/>
              <a:gd name="connsiteY5" fmla="*/ 2500011 h 3689679"/>
              <a:gd name="connsiteX6" fmla="*/ 5226903 w 6713705"/>
              <a:gd name="connsiteY6" fmla="*/ 766461 h 3689679"/>
              <a:gd name="connsiteX7" fmla="*/ 3512403 w 6713705"/>
              <a:gd name="connsiteY7" fmla="*/ 442611 h 3689679"/>
              <a:gd name="connsiteX0" fmla="*/ 3512403 w 6067023"/>
              <a:gd name="connsiteY0" fmla="*/ 442611 h 3692311"/>
              <a:gd name="connsiteX1" fmla="*/ 1550253 w 6067023"/>
              <a:gd name="connsiteY1" fmla="*/ 80661 h 3692311"/>
              <a:gd name="connsiteX2" fmla="*/ 7203 w 6067023"/>
              <a:gd name="connsiteY2" fmla="*/ 2119011 h 3692311"/>
              <a:gd name="connsiteX3" fmla="*/ 2521803 w 6067023"/>
              <a:gd name="connsiteY3" fmla="*/ 3681111 h 3692311"/>
              <a:gd name="connsiteX4" fmla="*/ 4369653 w 6067023"/>
              <a:gd name="connsiteY4" fmla="*/ 2785761 h 3692311"/>
              <a:gd name="connsiteX5" fmla="*/ 6065103 w 6067023"/>
              <a:gd name="connsiteY5" fmla="*/ 2119011 h 3692311"/>
              <a:gd name="connsiteX6" fmla="*/ 5226903 w 6067023"/>
              <a:gd name="connsiteY6" fmla="*/ 766461 h 3692311"/>
              <a:gd name="connsiteX7" fmla="*/ 3512403 w 6067023"/>
              <a:gd name="connsiteY7" fmla="*/ 442611 h 3692311"/>
              <a:gd name="connsiteX0" fmla="*/ 3226372 w 6066949"/>
              <a:gd name="connsiteY0" fmla="*/ 813286 h 3643886"/>
              <a:gd name="connsiteX1" fmla="*/ 1549972 w 6066949"/>
              <a:gd name="connsiteY1" fmla="*/ 32236 h 3643886"/>
              <a:gd name="connsiteX2" fmla="*/ 6922 w 6066949"/>
              <a:gd name="connsiteY2" fmla="*/ 2070586 h 3643886"/>
              <a:gd name="connsiteX3" fmla="*/ 2521522 w 6066949"/>
              <a:gd name="connsiteY3" fmla="*/ 3632686 h 3643886"/>
              <a:gd name="connsiteX4" fmla="*/ 4369372 w 6066949"/>
              <a:gd name="connsiteY4" fmla="*/ 2737336 h 3643886"/>
              <a:gd name="connsiteX5" fmla="*/ 6064822 w 6066949"/>
              <a:gd name="connsiteY5" fmla="*/ 2070586 h 3643886"/>
              <a:gd name="connsiteX6" fmla="*/ 5226622 w 6066949"/>
              <a:gd name="connsiteY6" fmla="*/ 718036 h 3643886"/>
              <a:gd name="connsiteX7" fmla="*/ 3226372 w 6066949"/>
              <a:gd name="connsiteY7" fmla="*/ 813286 h 3643886"/>
              <a:gd name="connsiteX0" fmla="*/ 3226372 w 6066567"/>
              <a:gd name="connsiteY0" fmla="*/ 812175 h 3642775"/>
              <a:gd name="connsiteX1" fmla="*/ 1549972 w 6066567"/>
              <a:gd name="connsiteY1" fmla="*/ 31125 h 3642775"/>
              <a:gd name="connsiteX2" fmla="*/ 6922 w 6066567"/>
              <a:gd name="connsiteY2" fmla="*/ 2069475 h 3642775"/>
              <a:gd name="connsiteX3" fmla="*/ 2521522 w 6066567"/>
              <a:gd name="connsiteY3" fmla="*/ 3631575 h 3642775"/>
              <a:gd name="connsiteX4" fmla="*/ 4369372 w 6066567"/>
              <a:gd name="connsiteY4" fmla="*/ 2736225 h 3642775"/>
              <a:gd name="connsiteX5" fmla="*/ 6064822 w 6066567"/>
              <a:gd name="connsiteY5" fmla="*/ 2069475 h 3642775"/>
              <a:gd name="connsiteX6" fmla="*/ 5131372 w 6066567"/>
              <a:gd name="connsiteY6" fmla="*/ 488325 h 3642775"/>
              <a:gd name="connsiteX7" fmla="*/ 3226372 w 6066567"/>
              <a:gd name="connsiteY7" fmla="*/ 812175 h 3642775"/>
              <a:gd name="connsiteX0" fmla="*/ 3226372 w 6072958"/>
              <a:gd name="connsiteY0" fmla="*/ 812175 h 3642775"/>
              <a:gd name="connsiteX1" fmla="*/ 1549972 w 6072958"/>
              <a:gd name="connsiteY1" fmla="*/ 31125 h 3642775"/>
              <a:gd name="connsiteX2" fmla="*/ 6922 w 6072958"/>
              <a:gd name="connsiteY2" fmla="*/ 2069475 h 3642775"/>
              <a:gd name="connsiteX3" fmla="*/ 2521522 w 6072958"/>
              <a:gd name="connsiteY3" fmla="*/ 3631575 h 3642775"/>
              <a:gd name="connsiteX4" fmla="*/ 4369372 w 6072958"/>
              <a:gd name="connsiteY4" fmla="*/ 2736225 h 3642775"/>
              <a:gd name="connsiteX5" fmla="*/ 6064822 w 6072958"/>
              <a:gd name="connsiteY5" fmla="*/ 2069475 h 3642775"/>
              <a:gd name="connsiteX6" fmla="*/ 5131372 w 6072958"/>
              <a:gd name="connsiteY6" fmla="*/ 488325 h 3642775"/>
              <a:gd name="connsiteX7" fmla="*/ 3226372 w 6072958"/>
              <a:gd name="connsiteY7" fmla="*/ 812175 h 364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72958" h="3642775">
                <a:moveTo>
                  <a:pt x="3226372" y="812175"/>
                </a:moveTo>
                <a:cubicBezTo>
                  <a:pt x="2629472" y="735975"/>
                  <a:pt x="2086547" y="-178425"/>
                  <a:pt x="1549972" y="31125"/>
                </a:cubicBezTo>
                <a:cubicBezTo>
                  <a:pt x="1013397" y="240675"/>
                  <a:pt x="-97853" y="669300"/>
                  <a:pt x="6922" y="2069475"/>
                </a:cubicBezTo>
                <a:cubicBezTo>
                  <a:pt x="111697" y="3469650"/>
                  <a:pt x="1794447" y="3520450"/>
                  <a:pt x="2521522" y="3631575"/>
                </a:cubicBezTo>
                <a:cubicBezTo>
                  <a:pt x="3248597" y="3742700"/>
                  <a:pt x="3778822" y="2996575"/>
                  <a:pt x="4369372" y="2736225"/>
                </a:cubicBezTo>
                <a:cubicBezTo>
                  <a:pt x="4959922" y="2475875"/>
                  <a:pt x="6029897" y="2437775"/>
                  <a:pt x="6064822" y="2069475"/>
                </a:cubicBezTo>
                <a:cubicBezTo>
                  <a:pt x="6099747" y="1701175"/>
                  <a:pt x="6061647" y="678825"/>
                  <a:pt x="5131372" y="488325"/>
                </a:cubicBezTo>
                <a:cubicBezTo>
                  <a:pt x="4201097" y="297825"/>
                  <a:pt x="3823272" y="888375"/>
                  <a:pt x="3226372" y="812175"/>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8D8D51E6-90D9-4F45-89B5-4159847FE8FD}"/>
              </a:ext>
            </a:extLst>
          </p:cNvPr>
          <p:cNvSpPr/>
          <p:nvPr/>
        </p:nvSpPr>
        <p:spPr>
          <a:xfrm rot="20328734">
            <a:off x="-651024" y="4458567"/>
            <a:ext cx="2637760" cy="3184712"/>
          </a:xfrm>
          <a:custGeom>
            <a:avLst/>
            <a:gdLst>
              <a:gd name="connsiteX0" fmla="*/ 408955 w 8512265"/>
              <a:gd name="connsiteY0" fmla="*/ 326459 h 8500626"/>
              <a:gd name="connsiteX1" fmla="*/ 4333255 w 8512265"/>
              <a:gd name="connsiteY1" fmla="*/ 1774259 h 8500626"/>
              <a:gd name="connsiteX2" fmla="*/ 4314205 w 8512265"/>
              <a:gd name="connsiteY2" fmla="*/ 5431859 h 8500626"/>
              <a:gd name="connsiteX3" fmla="*/ 7857505 w 8512265"/>
              <a:gd name="connsiteY3" fmla="*/ 7051109 h 8500626"/>
              <a:gd name="connsiteX4" fmla="*/ 8505205 w 8512265"/>
              <a:gd name="connsiteY4" fmla="*/ 7984559 h 8500626"/>
              <a:gd name="connsiteX5" fmla="*/ 8219455 w 8512265"/>
              <a:gd name="connsiteY5" fmla="*/ 8041709 h 8500626"/>
              <a:gd name="connsiteX6" fmla="*/ 999505 w 8512265"/>
              <a:gd name="connsiteY6" fmla="*/ 7889309 h 8500626"/>
              <a:gd name="connsiteX7" fmla="*/ 408955 w 8512265"/>
              <a:gd name="connsiteY7" fmla="*/ 326459 h 8500626"/>
              <a:gd name="connsiteX0" fmla="*/ 388651 w 8488835"/>
              <a:gd name="connsiteY0" fmla="*/ 326459 h 10183774"/>
              <a:gd name="connsiteX1" fmla="*/ 4312951 w 8488835"/>
              <a:gd name="connsiteY1" fmla="*/ 1774259 h 10183774"/>
              <a:gd name="connsiteX2" fmla="*/ 4293901 w 8488835"/>
              <a:gd name="connsiteY2" fmla="*/ 5431859 h 10183774"/>
              <a:gd name="connsiteX3" fmla="*/ 7837201 w 8488835"/>
              <a:gd name="connsiteY3" fmla="*/ 7051109 h 10183774"/>
              <a:gd name="connsiteX4" fmla="*/ 8484901 w 8488835"/>
              <a:gd name="connsiteY4" fmla="*/ 7984559 h 10183774"/>
              <a:gd name="connsiteX5" fmla="*/ 7778556 w 8488835"/>
              <a:gd name="connsiteY5" fmla="*/ 10183773 h 10183774"/>
              <a:gd name="connsiteX6" fmla="*/ 979201 w 8488835"/>
              <a:gd name="connsiteY6" fmla="*/ 7889309 h 10183774"/>
              <a:gd name="connsiteX7" fmla="*/ 388651 w 8488835"/>
              <a:gd name="connsiteY7" fmla="*/ 326459 h 10183774"/>
              <a:gd name="connsiteX0" fmla="*/ 388651 w 9511190"/>
              <a:gd name="connsiteY0" fmla="*/ 326459 h 10183774"/>
              <a:gd name="connsiteX1" fmla="*/ 4312951 w 9511190"/>
              <a:gd name="connsiteY1" fmla="*/ 1774259 h 10183774"/>
              <a:gd name="connsiteX2" fmla="*/ 4293901 w 9511190"/>
              <a:gd name="connsiteY2" fmla="*/ 5431859 h 10183774"/>
              <a:gd name="connsiteX3" fmla="*/ 7837201 w 9511190"/>
              <a:gd name="connsiteY3" fmla="*/ 7051109 h 10183774"/>
              <a:gd name="connsiteX4" fmla="*/ 9511104 w 9511190"/>
              <a:gd name="connsiteY4" fmla="*/ 9513315 h 10183774"/>
              <a:gd name="connsiteX5" fmla="*/ 7778556 w 9511190"/>
              <a:gd name="connsiteY5" fmla="*/ 10183773 h 10183774"/>
              <a:gd name="connsiteX6" fmla="*/ 979201 w 9511190"/>
              <a:gd name="connsiteY6" fmla="*/ 7889309 h 10183774"/>
              <a:gd name="connsiteX7" fmla="*/ 388651 w 9511190"/>
              <a:gd name="connsiteY7" fmla="*/ 326459 h 10183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11190" h="10183774">
                <a:moveTo>
                  <a:pt x="388651" y="326459"/>
                </a:moveTo>
                <a:cubicBezTo>
                  <a:pt x="944276" y="-692716"/>
                  <a:pt x="3662076" y="923359"/>
                  <a:pt x="4312951" y="1774259"/>
                </a:cubicBezTo>
                <a:cubicBezTo>
                  <a:pt x="4963826" y="2625159"/>
                  <a:pt x="3706526" y="4552384"/>
                  <a:pt x="4293901" y="5431859"/>
                </a:cubicBezTo>
                <a:cubicBezTo>
                  <a:pt x="4881276" y="6311334"/>
                  <a:pt x="6967667" y="6370866"/>
                  <a:pt x="7837201" y="7051109"/>
                </a:cubicBezTo>
                <a:cubicBezTo>
                  <a:pt x="8706735" y="7731352"/>
                  <a:pt x="9520878" y="8991204"/>
                  <a:pt x="9511104" y="9513315"/>
                </a:cubicBezTo>
                <a:cubicBezTo>
                  <a:pt x="9501330" y="10035426"/>
                  <a:pt x="7778556" y="10183773"/>
                  <a:pt x="7778556" y="10183773"/>
                </a:cubicBezTo>
                <a:cubicBezTo>
                  <a:pt x="6527606" y="10167898"/>
                  <a:pt x="2210852" y="9532195"/>
                  <a:pt x="979201" y="7889309"/>
                </a:cubicBezTo>
                <a:cubicBezTo>
                  <a:pt x="-252450" y="6246423"/>
                  <a:pt x="-166974" y="1345634"/>
                  <a:pt x="388651" y="326459"/>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4761" y="702427"/>
            <a:ext cx="6103685" cy="719427"/>
          </a:xfrm>
        </p:spPr>
        <p:txBody>
          <a:bodyPr>
            <a:noAutofit/>
          </a:bodyPr>
          <a:lstStyle/>
          <a:p>
            <a:r>
              <a:rPr lang="en-US" sz="2800" dirty="0">
                <a:solidFill>
                  <a:srgbClr val="51D7A8"/>
                </a:solidFill>
                <a:latin typeface="Bahnschrift SemiBold" panose="020B0502040204020203" pitchFamily="34" charset="0"/>
              </a:rPr>
              <a:t>LATAR BELAKANG</a:t>
            </a:r>
          </a:p>
        </p:txBody>
      </p:sp>
      <p:sp>
        <p:nvSpPr>
          <p:cNvPr id="7" name="TextBox 6">
            <a:extLst>
              <a:ext uri="{FF2B5EF4-FFF2-40B4-BE49-F238E27FC236}">
                <a16:creationId xmlns:a16="http://schemas.microsoft.com/office/drawing/2014/main" id="{68DE642B-D83B-4BCE-A3E7-52CA54B650DC}"/>
              </a:ext>
            </a:extLst>
          </p:cNvPr>
          <p:cNvSpPr txBox="1"/>
          <p:nvPr/>
        </p:nvSpPr>
        <p:spPr>
          <a:xfrm>
            <a:off x="579331" y="402123"/>
            <a:ext cx="1805244" cy="369332"/>
          </a:xfrm>
          <a:prstGeom prst="rect">
            <a:avLst/>
          </a:prstGeom>
          <a:solidFill>
            <a:srgbClr val="51D7A8"/>
          </a:solidFill>
        </p:spPr>
        <p:txBody>
          <a:bodyPr wrap="square" rtlCol="0">
            <a:spAutoFit/>
          </a:bodyPr>
          <a:lstStyle/>
          <a:p>
            <a:r>
              <a:rPr lang="en-US" dirty="0">
                <a:solidFill>
                  <a:schemeClr val="bg1"/>
                </a:solidFill>
              </a:rPr>
              <a:t>BAB I</a:t>
            </a:r>
          </a:p>
        </p:txBody>
      </p:sp>
      <p:sp>
        <p:nvSpPr>
          <p:cNvPr id="12" name="TextBox 5">
            <a:extLst>
              <a:ext uri="{FF2B5EF4-FFF2-40B4-BE49-F238E27FC236}">
                <a16:creationId xmlns:a16="http://schemas.microsoft.com/office/drawing/2014/main" id="{92835045-963E-48FF-AD53-A7EF8CC5504C}"/>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2</a:t>
            </a:r>
            <a:endParaRPr lang="en-US" sz="2000" b="1" dirty="0"/>
          </a:p>
        </p:txBody>
      </p:sp>
      <p:pic>
        <p:nvPicPr>
          <p:cNvPr id="3" name="Picture 2">
            <a:extLst>
              <a:ext uri="{FF2B5EF4-FFF2-40B4-BE49-F238E27FC236}">
                <a16:creationId xmlns:a16="http://schemas.microsoft.com/office/drawing/2014/main" id="{201BB5E0-5020-5686-2B86-1779B302E04A}"/>
              </a:ext>
            </a:extLst>
          </p:cNvPr>
          <p:cNvPicPr>
            <a:picLocks noChangeAspect="1"/>
          </p:cNvPicPr>
          <p:nvPr/>
        </p:nvPicPr>
        <p:blipFill>
          <a:blip r:embed="rId3"/>
          <a:stretch>
            <a:fillRect/>
          </a:stretch>
        </p:blipFill>
        <p:spPr>
          <a:xfrm>
            <a:off x="10575508" y="334546"/>
            <a:ext cx="785211" cy="769507"/>
          </a:xfrm>
          <a:prstGeom prst="rect">
            <a:avLst/>
          </a:prstGeom>
        </p:spPr>
      </p:pic>
      <p:pic>
        <p:nvPicPr>
          <p:cNvPr id="6" name="Picture 5">
            <a:extLst>
              <a:ext uri="{FF2B5EF4-FFF2-40B4-BE49-F238E27FC236}">
                <a16:creationId xmlns:a16="http://schemas.microsoft.com/office/drawing/2014/main" id="{305C9DE3-7300-E05A-B193-2D18FA2B73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13" name="TextBox 12">
            <a:extLst>
              <a:ext uri="{FF2B5EF4-FFF2-40B4-BE49-F238E27FC236}">
                <a16:creationId xmlns:a16="http://schemas.microsoft.com/office/drawing/2014/main" id="{96325A5E-2434-75AA-CF06-6A1BB973BEFE}"/>
              </a:ext>
            </a:extLst>
          </p:cNvPr>
          <p:cNvSpPr txBox="1"/>
          <p:nvPr/>
        </p:nvSpPr>
        <p:spPr>
          <a:xfrm>
            <a:off x="495304" y="1334088"/>
            <a:ext cx="3908672" cy="1200329"/>
          </a:xfrm>
          <a:prstGeom prst="rect">
            <a:avLst/>
          </a:prstGeom>
          <a:noFill/>
        </p:spPr>
        <p:txBody>
          <a:bodyPr wrap="square">
            <a:spAutoFit/>
          </a:bodyPr>
          <a:lstStyle/>
          <a:p>
            <a:r>
              <a:rPr lang="en-US" sz="1800" dirty="0">
                <a:effectLst/>
                <a:latin typeface="Bahnschrift" panose="020B0502040204020203" pitchFamily="34" charset="0"/>
                <a:ea typeface="Yu Mincho" panose="02020400000000000000" pitchFamily="18" charset="-128"/>
              </a:rPr>
              <a:t>Hoaks </a:t>
            </a:r>
            <a:r>
              <a:rPr lang="en-US" sz="1800" dirty="0" err="1">
                <a:effectLst/>
                <a:latin typeface="Bahnschrift" panose="020B0502040204020203" pitchFamily="34" charset="0"/>
                <a:ea typeface="Yu Mincho" panose="02020400000000000000" pitchFamily="18" charset="-128"/>
              </a:rPr>
              <a:t>merujuk</a:t>
            </a:r>
            <a:r>
              <a:rPr lang="en-US" sz="1800" dirty="0">
                <a:effectLst/>
                <a:latin typeface="Bahnschrift" panose="020B0502040204020203" pitchFamily="34" charset="0"/>
                <a:ea typeface="Yu Mincho" panose="02020400000000000000" pitchFamily="18" charset="-128"/>
              </a:rPr>
              <a:t> pada </a:t>
            </a:r>
            <a:r>
              <a:rPr lang="en-US" sz="1800" dirty="0" err="1">
                <a:effectLst/>
                <a:latin typeface="Bahnschrift" panose="020B0502040204020203" pitchFamily="34" charset="0"/>
                <a:ea typeface="Yu Mincho" panose="02020400000000000000" pitchFamily="18" charset="-128"/>
              </a:rPr>
              <a:t>kabar</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berita</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informasi</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palsu</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atau</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bohong</a:t>
            </a:r>
            <a:r>
              <a:rPr lang="en-US" sz="1800" dirty="0">
                <a:effectLst/>
                <a:latin typeface="Bahnschrift" panose="020B0502040204020203" pitchFamily="34" charset="0"/>
                <a:ea typeface="Yu Mincho" panose="02020400000000000000" pitchFamily="18" charset="-128"/>
              </a:rPr>
              <a:t> yang </a:t>
            </a:r>
            <a:r>
              <a:rPr lang="en-US" sz="1800" dirty="0" err="1">
                <a:effectLst/>
                <a:latin typeface="Bahnschrift" panose="020B0502040204020203" pitchFamily="34" charset="0"/>
                <a:ea typeface="Yu Mincho" panose="02020400000000000000" pitchFamily="18" charset="-128"/>
              </a:rPr>
              <a:t>sengaja</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disebarkan</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untuk</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mencapai</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tujuan</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tertentu</a:t>
            </a:r>
            <a:endParaRPr lang="en-US" dirty="0">
              <a:latin typeface="Bahnschrift" panose="020B0502040204020203" pitchFamily="34" charset="0"/>
            </a:endParaRPr>
          </a:p>
        </p:txBody>
      </p:sp>
      <p:sp>
        <p:nvSpPr>
          <p:cNvPr id="16" name="TextBox 15">
            <a:extLst>
              <a:ext uri="{FF2B5EF4-FFF2-40B4-BE49-F238E27FC236}">
                <a16:creationId xmlns:a16="http://schemas.microsoft.com/office/drawing/2014/main" id="{973BF6F0-B487-9639-48A0-21DF84ACDA6F}"/>
              </a:ext>
            </a:extLst>
          </p:cNvPr>
          <p:cNvSpPr txBox="1"/>
          <p:nvPr/>
        </p:nvSpPr>
        <p:spPr>
          <a:xfrm>
            <a:off x="2449641" y="4693851"/>
            <a:ext cx="2441818" cy="1754391"/>
          </a:xfrm>
          <a:prstGeom prst="rect">
            <a:avLst/>
          </a:prstGeom>
          <a:noFill/>
        </p:spPr>
        <p:txBody>
          <a:bodyPr wrap="square">
            <a:spAutoFit/>
          </a:bodyPr>
          <a:lstStyle/>
          <a:p>
            <a:pPr algn="just">
              <a:lnSpc>
                <a:spcPct val="107000"/>
              </a:lnSpc>
              <a:spcAft>
                <a:spcPts val="800"/>
              </a:spcAft>
            </a:pPr>
            <a:r>
              <a:rPr lang="en-US" sz="2400" dirty="0">
                <a:solidFill>
                  <a:srgbClr val="FF0000"/>
                </a:solidFill>
                <a:effectLst/>
                <a:latin typeface="Bahnschrift" panose="020B0502040204020203" pitchFamily="34" charset="0"/>
                <a:ea typeface="Yu Mincho" panose="02020400000000000000" pitchFamily="18" charset="-128"/>
                <a:cs typeface="Times New Roman" panose="02020603050405020304" pitchFamily="18" charset="0"/>
              </a:rPr>
              <a:t>30%</a:t>
            </a:r>
            <a:r>
              <a:rPr lang="en-US" sz="2400" dirty="0">
                <a:effectLst/>
                <a:latin typeface="Bahnschrift" panose="020B0502040204020203" pitchFamily="34" charset="0"/>
                <a:ea typeface="Yu Mincho" panose="02020400000000000000" pitchFamily="18" charset="-128"/>
                <a:cs typeface="Times New Roman" panose="02020603050405020304" pitchFamily="18" charset="0"/>
              </a:rPr>
              <a:t>-</a:t>
            </a:r>
            <a:r>
              <a:rPr lang="en-US" sz="2400" dirty="0">
                <a:solidFill>
                  <a:srgbClr val="FF0000"/>
                </a:solidFill>
                <a:effectLst/>
                <a:latin typeface="Bahnschrift" panose="020B0502040204020203" pitchFamily="34" charset="0"/>
                <a:ea typeface="Yu Mincho" panose="02020400000000000000" pitchFamily="18" charset="-128"/>
                <a:cs typeface="Times New Roman" panose="02020603050405020304" pitchFamily="18" charset="0"/>
              </a:rPr>
              <a:t>60%</a:t>
            </a:r>
          </a:p>
          <a:p>
            <a:pPr>
              <a:lnSpc>
                <a:spcPct val="107000"/>
              </a:lnSpc>
              <a:spcAft>
                <a:spcPts val="800"/>
              </a:spcAft>
            </a:pPr>
            <a:r>
              <a:rPr lang="en-US" dirty="0" err="1">
                <a:effectLst/>
                <a:latin typeface="Bahnschrift" panose="020B0502040204020203" pitchFamily="34" charset="0"/>
                <a:ea typeface="Yu Mincho" panose="02020400000000000000" pitchFamily="18" charset="-128"/>
                <a:cs typeface="Times New Roman" panose="02020603050405020304" pitchFamily="18" charset="0"/>
              </a:rPr>
              <a:t>masyarakat</a:t>
            </a:r>
            <a:r>
              <a:rPr lang="en-US" dirty="0">
                <a:effectLst/>
                <a:latin typeface="Bahnschrift" panose="020B0502040204020203" pitchFamily="34" charset="0"/>
                <a:ea typeface="Yu Mincho" panose="02020400000000000000" pitchFamily="18" charset="-128"/>
                <a:cs typeface="Times New Roman" panose="02020603050405020304" pitchFamily="18" charset="0"/>
              </a:rPr>
              <a:t> </a:t>
            </a:r>
            <a:r>
              <a:rPr lang="en-US" dirty="0" err="1">
                <a:effectLst/>
                <a:latin typeface="Bahnschrift" panose="020B0502040204020203" pitchFamily="34" charset="0"/>
                <a:ea typeface="Yu Mincho" panose="02020400000000000000" pitchFamily="18" charset="-128"/>
                <a:cs typeface="Times New Roman" panose="02020603050405020304" pitchFamily="18" charset="0"/>
              </a:rPr>
              <a:t>indonesia</a:t>
            </a:r>
            <a:r>
              <a:rPr lang="en-US" dirty="0">
                <a:effectLst/>
                <a:latin typeface="Bahnschrift" panose="020B0502040204020203" pitchFamily="34" charset="0"/>
                <a:ea typeface="Yu Mincho" panose="02020400000000000000" pitchFamily="18" charset="-128"/>
                <a:cs typeface="Times New Roman" panose="02020603050405020304" pitchFamily="18" charset="0"/>
              </a:rPr>
              <a:t> </a:t>
            </a:r>
            <a:r>
              <a:rPr lang="en-US" dirty="0" err="1">
                <a:effectLst/>
                <a:latin typeface="Bahnschrift" panose="020B0502040204020203" pitchFamily="34" charset="0"/>
                <a:ea typeface="Yu Mincho" panose="02020400000000000000" pitchFamily="18" charset="-128"/>
                <a:cs typeface="Times New Roman" panose="02020603050405020304" pitchFamily="18" charset="0"/>
              </a:rPr>
              <a:t>terpapar</a:t>
            </a:r>
            <a:r>
              <a:rPr lang="en-US" dirty="0">
                <a:effectLst/>
                <a:latin typeface="Bahnschrift" panose="020B0502040204020203" pitchFamily="34" charset="0"/>
                <a:ea typeface="Yu Mincho" panose="02020400000000000000" pitchFamily="18" charset="-128"/>
                <a:cs typeface="Times New Roman" panose="02020603050405020304" pitchFamily="18" charset="0"/>
              </a:rPr>
              <a:t> </a:t>
            </a:r>
            <a:r>
              <a:rPr lang="en-US" dirty="0" err="1">
                <a:effectLst/>
                <a:latin typeface="Bahnschrift" panose="020B0502040204020203" pitchFamily="34" charset="0"/>
                <a:ea typeface="Yu Mincho" panose="02020400000000000000" pitchFamily="18" charset="-128"/>
                <a:cs typeface="Times New Roman" panose="02020603050405020304" pitchFamily="18" charset="0"/>
              </a:rPr>
              <a:t>berita</a:t>
            </a:r>
            <a:r>
              <a:rPr lang="en-US" dirty="0">
                <a:effectLst/>
                <a:latin typeface="Bahnschrift" panose="020B0502040204020203" pitchFamily="34" charset="0"/>
                <a:ea typeface="Yu Mincho" panose="02020400000000000000" pitchFamily="18" charset="-128"/>
                <a:cs typeface="Times New Roman" panose="02020603050405020304" pitchFamily="18" charset="0"/>
              </a:rPr>
              <a:t> </a:t>
            </a:r>
            <a:r>
              <a:rPr lang="en-US" dirty="0" err="1">
                <a:effectLst/>
                <a:latin typeface="Bahnschrift" panose="020B0502040204020203" pitchFamily="34" charset="0"/>
                <a:ea typeface="Yu Mincho" panose="02020400000000000000" pitchFamily="18" charset="-128"/>
                <a:cs typeface="Times New Roman" panose="02020603050405020304" pitchFamily="18" charset="0"/>
              </a:rPr>
              <a:t>hoaks</a:t>
            </a:r>
            <a:r>
              <a:rPr lang="en-US" dirty="0">
                <a:effectLst/>
                <a:latin typeface="Bahnschrift" panose="020B0502040204020203" pitchFamily="34" charset="0"/>
                <a:ea typeface="Yu Mincho" panose="02020400000000000000" pitchFamily="18" charset="-128"/>
                <a:cs typeface="Times New Roman" panose="02020603050405020304" pitchFamily="18" charset="0"/>
              </a:rPr>
              <a:t> </a:t>
            </a:r>
            <a:r>
              <a:rPr lang="en-US" dirty="0" err="1">
                <a:effectLst/>
                <a:latin typeface="Bahnschrift" panose="020B0502040204020203" pitchFamily="34" charset="0"/>
                <a:ea typeface="Yu Mincho" panose="02020400000000000000" pitchFamily="18" charset="-128"/>
                <a:cs typeface="Times New Roman" panose="02020603050405020304" pitchFamily="18" charset="0"/>
              </a:rPr>
              <a:t>saat</a:t>
            </a:r>
            <a:r>
              <a:rPr lang="en-US" dirty="0">
                <a:effectLst/>
                <a:latin typeface="Bahnschrift" panose="020B0502040204020203" pitchFamily="34" charset="0"/>
                <a:ea typeface="Yu Mincho" panose="02020400000000000000" pitchFamily="18" charset="-128"/>
                <a:cs typeface="Times New Roman" panose="02020603050405020304" pitchFamily="18" charset="0"/>
              </a:rPr>
              <a:t> </a:t>
            </a:r>
            <a:r>
              <a:rPr lang="en-US" dirty="0" err="1">
                <a:effectLst/>
                <a:latin typeface="Bahnschrift" panose="020B0502040204020203" pitchFamily="34" charset="0"/>
                <a:ea typeface="Yu Mincho" panose="02020400000000000000" pitchFamily="18" charset="-128"/>
                <a:cs typeface="Times New Roman" panose="02020603050405020304" pitchFamily="18" charset="0"/>
              </a:rPr>
              <a:t>beraktifitas</a:t>
            </a:r>
            <a:r>
              <a:rPr lang="en-US" dirty="0">
                <a:effectLst/>
                <a:latin typeface="Bahnschrift" panose="020B0502040204020203" pitchFamily="34" charset="0"/>
                <a:ea typeface="Yu Mincho" panose="02020400000000000000" pitchFamily="18" charset="-128"/>
                <a:cs typeface="Times New Roman" panose="02020603050405020304" pitchFamily="18" charset="0"/>
              </a:rPr>
              <a:t> di dunia maya</a:t>
            </a:r>
            <a:r>
              <a:rPr lang="en-US" sz="1800" dirty="0">
                <a:effectLst/>
                <a:latin typeface="Times New Roman" panose="02020603050405020304" pitchFamily="18" charset="0"/>
                <a:ea typeface="Yu Mincho" panose="02020400000000000000" pitchFamily="18" charset="-128"/>
                <a:cs typeface="Times New Roman" panose="02020603050405020304" pitchFamily="18" charset="0"/>
              </a:rPr>
              <a:t>.</a:t>
            </a:r>
          </a:p>
        </p:txBody>
      </p:sp>
      <p:sp>
        <p:nvSpPr>
          <p:cNvPr id="14" name="TextBox 13">
            <a:extLst>
              <a:ext uri="{FF2B5EF4-FFF2-40B4-BE49-F238E27FC236}">
                <a16:creationId xmlns:a16="http://schemas.microsoft.com/office/drawing/2014/main" id="{51FD7DCD-E6EB-3668-491A-1BBE4EB27887}"/>
              </a:ext>
            </a:extLst>
          </p:cNvPr>
          <p:cNvSpPr txBox="1"/>
          <p:nvPr/>
        </p:nvSpPr>
        <p:spPr>
          <a:xfrm>
            <a:off x="8871983" y="4089531"/>
            <a:ext cx="2675994" cy="1754326"/>
          </a:xfrm>
          <a:prstGeom prst="rect">
            <a:avLst/>
          </a:prstGeom>
          <a:noFill/>
        </p:spPr>
        <p:txBody>
          <a:bodyPr wrap="square">
            <a:spAutoFit/>
          </a:bodyPr>
          <a:lstStyle/>
          <a:p>
            <a:r>
              <a:rPr lang="en-US" sz="1800" dirty="0" err="1">
                <a:effectLst/>
                <a:latin typeface="Bahnschrift" panose="020B0502040204020203" pitchFamily="34" charset="0"/>
                <a:ea typeface="Yu Mincho" panose="02020400000000000000" pitchFamily="18" charset="-128"/>
              </a:rPr>
              <a:t>Mafindo</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organisasi</a:t>
            </a:r>
            <a:r>
              <a:rPr lang="en-US" sz="1800" dirty="0">
                <a:effectLst/>
                <a:latin typeface="Bahnschrift" panose="020B0502040204020203" pitchFamily="34" charset="0"/>
                <a:ea typeface="Yu Mincho" panose="02020400000000000000" pitchFamily="18" charset="-128"/>
              </a:rPr>
              <a:t> independent, </a:t>
            </a:r>
            <a:r>
              <a:rPr lang="en-US" sz="1800" dirty="0" err="1">
                <a:effectLst/>
                <a:latin typeface="Bahnschrift" panose="020B0502040204020203" pitchFamily="34" charset="0"/>
                <a:ea typeface="Yu Mincho" panose="02020400000000000000" pitchFamily="18" charset="-128"/>
              </a:rPr>
              <a:t>didirikan</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untuk</a:t>
            </a:r>
            <a:r>
              <a:rPr lang="en-US" sz="1800" dirty="0">
                <a:effectLst/>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minimalisasi</a:t>
            </a:r>
            <a:r>
              <a:rPr lang="en-US" dirty="0">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penyebaran</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informasi</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bohong</a:t>
            </a:r>
            <a:r>
              <a:rPr lang="en-US" sz="1800" dirty="0">
                <a:effectLst/>
                <a:latin typeface="Bahnschrift" panose="020B0502040204020203" pitchFamily="34" charset="0"/>
                <a:ea typeface="Yu Mincho" panose="02020400000000000000" pitchFamily="18" charset="-128"/>
              </a:rPr>
              <a:t> (</a:t>
            </a:r>
            <a:r>
              <a:rPr lang="en-US" sz="1800" dirty="0" err="1">
                <a:effectLst/>
                <a:latin typeface="Bahnschrift" panose="020B0502040204020203" pitchFamily="34" charset="0"/>
                <a:ea typeface="Yu Mincho" panose="02020400000000000000" pitchFamily="18" charset="-128"/>
              </a:rPr>
              <a:t>hoaks</a:t>
            </a:r>
            <a:r>
              <a:rPr lang="en-US" sz="1800" dirty="0">
                <a:effectLst/>
                <a:latin typeface="Bahnschrift" panose="020B0502040204020203" pitchFamily="34" charset="0"/>
                <a:ea typeface="Yu Mincho" panose="02020400000000000000" pitchFamily="18" charset="-128"/>
              </a:rPr>
              <a:t>) di media social</a:t>
            </a:r>
            <a:r>
              <a:rPr lang="en-US" dirty="0">
                <a:latin typeface="Bahnschrift" panose="020B0502040204020203" pitchFamily="34" charset="0"/>
                <a:ea typeface="Yu Mincho" panose="02020400000000000000" pitchFamily="18" charset="-128"/>
              </a:rPr>
              <a:t>.</a:t>
            </a:r>
            <a:r>
              <a:rPr lang="en-US" sz="1800" dirty="0">
                <a:effectLst/>
                <a:latin typeface="Bahnschrift" panose="020B0502040204020203" pitchFamily="34" charset="0"/>
                <a:ea typeface="Yu Mincho" panose="02020400000000000000" pitchFamily="18" charset="-128"/>
              </a:rPr>
              <a:t> </a:t>
            </a:r>
            <a:endParaRPr lang="en-US" dirty="0">
              <a:latin typeface="Bahnschrift" panose="020B0502040204020203" pitchFamily="34" charset="0"/>
            </a:endParaRPr>
          </a:p>
        </p:txBody>
      </p:sp>
      <p:pic>
        <p:nvPicPr>
          <p:cNvPr id="17" name="Picture 16">
            <a:extLst>
              <a:ext uri="{FF2B5EF4-FFF2-40B4-BE49-F238E27FC236}">
                <a16:creationId xmlns:a16="http://schemas.microsoft.com/office/drawing/2014/main" id="{0A7DFEB0-2AEB-EE09-F4FB-046E5A40981E}"/>
              </a:ext>
            </a:extLst>
          </p:cNvPr>
          <p:cNvPicPr>
            <a:picLocks noChangeAspect="1"/>
          </p:cNvPicPr>
          <p:nvPr/>
        </p:nvPicPr>
        <p:blipFill>
          <a:blip r:embed="rId5"/>
          <a:stretch>
            <a:fillRect/>
          </a:stretch>
        </p:blipFill>
        <p:spPr>
          <a:xfrm>
            <a:off x="591428" y="2654117"/>
            <a:ext cx="1669791" cy="1725919"/>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id="{C7E6366E-879A-78C1-CA0C-1E459AFC461C}"/>
              </a:ext>
            </a:extLst>
          </p:cNvPr>
          <p:cNvSpPr txBox="1"/>
          <p:nvPr/>
        </p:nvSpPr>
        <p:spPr>
          <a:xfrm>
            <a:off x="2449640" y="2654117"/>
            <a:ext cx="2331435" cy="830997"/>
          </a:xfrm>
          <a:prstGeom prst="rect">
            <a:avLst/>
          </a:prstGeom>
          <a:noFill/>
        </p:spPr>
        <p:txBody>
          <a:bodyPr wrap="square">
            <a:spAutoFit/>
          </a:bodyPr>
          <a:lstStyle/>
          <a:p>
            <a:r>
              <a:rPr lang="en-US" sz="2400" dirty="0">
                <a:effectLst/>
                <a:latin typeface="Bahnschrift" panose="020B0502040204020203" pitchFamily="34" charset="0"/>
                <a:ea typeface="Yu Mincho" panose="02020400000000000000" pitchFamily="18" charset="-128"/>
              </a:rPr>
              <a:t>2018</a:t>
            </a:r>
          </a:p>
          <a:p>
            <a:r>
              <a:rPr lang="en-US" sz="2400" dirty="0">
                <a:solidFill>
                  <a:srgbClr val="FF0000"/>
                </a:solidFill>
                <a:effectLst/>
                <a:latin typeface="Bahnschrift" panose="020B0502040204020203" pitchFamily="34" charset="0"/>
                <a:ea typeface="Yu Mincho" panose="02020400000000000000" pitchFamily="18" charset="-128"/>
              </a:rPr>
              <a:t>800.000 Situs</a:t>
            </a:r>
            <a:endParaRPr lang="en-US" sz="2400" dirty="0">
              <a:solidFill>
                <a:srgbClr val="FF0000"/>
              </a:solidFill>
              <a:latin typeface="Bahnschrift" panose="020B0502040204020203" pitchFamily="34" charset="0"/>
            </a:endParaRPr>
          </a:p>
        </p:txBody>
      </p:sp>
      <p:sp>
        <p:nvSpPr>
          <p:cNvPr id="19" name="TextBox 18">
            <a:extLst>
              <a:ext uri="{FF2B5EF4-FFF2-40B4-BE49-F238E27FC236}">
                <a16:creationId xmlns:a16="http://schemas.microsoft.com/office/drawing/2014/main" id="{26D10872-45BC-9A4E-0D8F-54B5C6035E6F}"/>
              </a:ext>
            </a:extLst>
          </p:cNvPr>
          <p:cNvSpPr txBox="1"/>
          <p:nvPr/>
        </p:nvSpPr>
        <p:spPr>
          <a:xfrm>
            <a:off x="2449640" y="3508841"/>
            <a:ext cx="2145224" cy="830997"/>
          </a:xfrm>
          <a:prstGeom prst="rect">
            <a:avLst/>
          </a:prstGeom>
          <a:noFill/>
        </p:spPr>
        <p:txBody>
          <a:bodyPr wrap="square">
            <a:spAutoFit/>
          </a:bodyPr>
          <a:lstStyle/>
          <a:p>
            <a:r>
              <a:rPr lang="en-US" sz="2400" dirty="0" err="1">
                <a:latin typeface="Bahnschrift" panose="020B0502040204020203" pitchFamily="34" charset="0"/>
              </a:rPr>
              <a:t>Triwulan</a:t>
            </a:r>
            <a:r>
              <a:rPr lang="en-US" sz="2400" dirty="0">
                <a:latin typeface="Bahnschrift" panose="020B0502040204020203" pitchFamily="34" charset="0"/>
              </a:rPr>
              <a:t> 2023</a:t>
            </a:r>
          </a:p>
          <a:p>
            <a:r>
              <a:rPr lang="en-US" sz="2400" dirty="0">
                <a:solidFill>
                  <a:srgbClr val="FF0000"/>
                </a:solidFill>
                <a:latin typeface="Bahnschrift" panose="020B0502040204020203" pitchFamily="34" charset="0"/>
              </a:rPr>
              <a:t>425 </a:t>
            </a:r>
            <a:r>
              <a:rPr lang="en-US" sz="2400" dirty="0" err="1">
                <a:solidFill>
                  <a:srgbClr val="FF0000"/>
                </a:solidFill>
                <a:latin typeface="Bahnschrift" panose="020B0502040204020203" pitchFamily="34" charset="0"/>
              </a:rPr>
              <a:t>isu</a:t>
            </a:r>
            <a:r>
              <a:rPr lang="en-US" sz="2400" dirty="0">
                <a:solidFill>
                  <a:srgbClr val="FF0000"/>
                </a:solidFill>
                <a:latin typeface="Bahnschrift" panose="020B0502040204020203" pitchFamily="34" charset="0"/>
              </a:rPr>
              <a:t> </a:t>
            </a:r>
          </a:p>
        </p:txBody>
      </p:sp>
      <p:pic>
        <p:nvPicPr>
          <p:cNvPr id="1026" name="Picture 2" descr="Katadata Insight Center">
            <a:extLst>
              <a:ext uri="{FF2B5EF4-FFF2-40B4-BE49-F238E27FC236}">
                <a16:creationId xmlns:a16="http://schemas.microsoft.com/office/drawing/2014/main" id="{393C2B58-F0FB-8FB5-F112-4BA0E195CD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367" y="4559977"/>
            <a:ext cx="1762852" cy="16272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descr="Masyarakat Anti Fitnah Indonesia – Ditjen Aptika">
            <a:extLst>
              <a:ext uri="{FF2B5EF4-FFF2-40B4-BE49-F238E27FC236}">
                <a16:creationId xmlns:a16="http://schemas.microsoft.com/office/drawing/2014/main" id="{6FB93745-D0ED-4041-DFBC-37C8DF3C4D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71983" y="1522774"/>
            <a:ext cx="1914525" cy="23812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126" name="Picture 6" descr="Duh Gusti, Gak Nyangka! Ini Hoaks yang Disebar Tri Susanti Picu Pengepungan  Asrama Mahasiswa Papua | Berita Heboh">
            <a:extLst>
              <a:ext uri="{FF2B5EF4-FFF2-40B4-BE49-F238E27FC236}">
                <a16:creationId xmlns:a16="http://schemas.microsoft.com/office/drawing/2014/main" id="{1EE6D6E8-F8E9-CE92-A566-0EE21257BE0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1994" t="16541" r="50372" b="13344"/>
          <a:stretch/>
        </p:blipFill>
        <p:spPr bwMode="auto">
          <a:xfrm>
            <a:off x="4811712" y="1775867"/>
            <a:ext cx="2976314" cy="310797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DE36DB4-842A-13A0-78B2-1E02A9FAD588}"/>
              </a:ext>
            </a:extLst>
          </p:cNvPr>
          <p:cNvSpPr txBox="1"/>
          <p:nvPr/>
        </p:nvSpPr>
        <p:spPr>
          <a:xfrm>
            <a:off x="5451833" y="5204375"/>
            <a:ext cx="2003582" cy="461665"/>
          </a:xfrm>
          <a:prstGeom prst="rect">
            <a:avLst/>
          </a:prstGeom>
          <a:noFill/>
        </p:spPr>
        <p:txBody>
          <a:bodyPr wrap="square">
            <a:spAutoFit/>
          </a:bodyPr>
          <a:lstStyle/>
          <a:p>
            <a:r>
              <a:rPr lang="en-US" sz="2400" dirty="0">
                <a:latin typeface="Bahnschrift" panose="020B0502040204020203" pitchFamily="34" charset="0"/>
                <a:ea typeface="Yu Mincho" panose="02020400000000000000" pitchFamily="18" charset="-128"/>
              </a:rPr>
              <a:t>Tri Susanti</a:t>
            </a:r>
          </a:p>
        </p:txBody>
      </p:sp>
      <p:sp>
        <p:nvSpPr>
          <p:cNvPr id="21" name="TextBox 20">
            <a:extLst>
              <a:ext uri="{FF2B5EF4-FFF2-40B4-BE49-F238E27FC236}">
                <a16:creationId xmlns:a16="http://schemas.microsoft.com/office/drawing/2014/main" id="{BC3206F6-E3DC-C7D3-2D8D-AD94F8B8B13D}"/>
              </a:ext>
            </a:extLst>
          </p:cNvPr>
          <p:cNvSpPr txBox="1"/>
          <p:nvPr/>
        </p:nvSpPr>
        <p:spPr>
          <a:xfrm>
            <a:off x="5291266" y="677292"/>
            <a:ext cx="2003582" cy="461665"/>
          </a:xfrm>
          <a:prstGeom prst="rect">
            <a:avLst/>
          </a:prstGeom>
          <a:noFill/>
        </p:spPr>
        <p:txBody>
          <a:bodyPr wrap="square">
            <a:spAutoFit/>
          </a:bodyPr>
          <a:lstStyle/>
          <a:p>
            <a:r>
              <a:rPr lang="en-US" sz="2400" dirty="0">
                <a:latin typeface="Bahnschrift" panose="020B0502040204020203" pitchFamily="34" charset="0"/>
                <a:ea typeface="Yu Mincho" panose="02020400000000000000" pitchFamily="18" charset="-128"/>
              </a:rPr>
              <a:t>Perpecahan</a:t>
            </a:r>
          </a:p>
        </p:txBody>
      </p:sp>
    </p:spTree>
    <p:extLst>
      <p:ext uri="{BB962C8B-B14F-4D97-AF65-F5344CB8AC3E}">
        <p14:creationId xmlns:p14="http://schemas.microsoft.com/office/powerpoint/2010/main" val="2781538082"/>
      </p:ext>
    </p:extLst>
  </p:cSld>
  <p:clrMapOvr>
    <a:masterClrMapping/>
  </p:clrMapOvr>
  <p:transition spd="slow">
    <p:wipe/>
  </p:transition>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1D72BDF-664F-47EA-93E7-8AB52DF7B680}"/>
              </a:ext>
            </a:extLst>
          </p:cNvPr>
          <p:cNvSpPr/>
          <p:nvPr/>
        </p:nvSpPr>
        <p:spPr>
          <a:xfrm rot="19623074">
            <a:off x="11111569" y="6032229"/>
            <a:ext cx="1816670" cy="907424"/>
          </a:xfrm>
          <a:custGeom>
            <a:avLst/>
            <a:gdLst>
              <a:gd name="connsiteX0" fmla="*/ 3521022 w 6722324"/>
              <a:gd name="connsiteY0" fmla="*/ 442611 h 3697335"/>
              <a:gd name="connsiteX1" fmla="*/ 1558872 w 6722324"/>
              <a:gd name="connsiteY1" fmla="*/ 80661 h 3697335"/>
              <a:gd name="connsiteX2" fmla="*/ 15822 w 6722324"/>
              <a:gd name="connsiteY2" fmla="*/ 2119011 h 3697335"/>
              <a:gd name="connsiteX3" fmla="*/ 2530422 w 6722324"/>
              <a:gd name="connsiteY3" fmla="*/ 3681111 h 3697335"/>
              <a:gd name="connsiteX4" fmla="*/ 5025972 w 6722324"/>
              <a:gd name="connsiteY4" fmla="*/ 2976261 h 3697335"/>
              <a:gd name="connsiteX5" fmla="*/ 6721422 w 6722324"/>
              <a:gd name="connsiteY5" fmla="*/ 2500011 h 3697335"/>
              <a:gd name="connsiteX6" fmla="*/ 5235522 w 6722324"/>
              <a:gd name="connsiteY6" fmla="*/ 766461 h 3697335"/>
              <a:gd name="connsiteX7" fmla="*/ 3521022 w 6722324"/>
              <a:gd name="connsiteY7" fmla="*/ 442611 h 3697335"/>
              <a:gd name="connsiteX0" fmla="*/ 3512403 w 6713705"/>
              <a:gd name="connsiteY0" fmla="*/ 442611 h 3697335"/>
              <a:gd name="connsiteX1" fmla="*/ 1550253 w 6713705"/>
              <a:gd name="connsiteY1" fmla="*/ 80661 h 3697335"/>
              <a:gd name="connsiteX2" fmla="*/ 7203 w 6713705"/>
              <a:gd name="connsiteY2" fmla="*/ 2119011 h 3697335"/>
              <a:gd name="connsiteX3" fmla="*/ 2521803 w 6713705"/>
              <a:gd name="connsiteY3" fmla="*/ 3681111 h 3697335"/>
              <a:gd name="connsiteX4" fmla="*/ 5017353 w 6713705"/>
              <a:gd name="connsiteY4" fmla="*/ 2976261 h 3697335"/>
              <a:gd name="connsiteX5" fmla="*/ 6712803 w 6713705"/>
              <a:gd name="connsiteY5" fmla="*/ 2500011 h 3697335"/>
              <a:gd name="connsiteX6" fmla="*/ 5226903 w 6713705"/>
              <a:gd name="connsiteY6" fmla="*/ 766461 h 3697335"/>
              <a:gd name="connsiteX7" fmla="*/ 3512403 w 6713705"/>
              <a:gd name="connsiteY7" fmla="*/ 442611 h 3697335"/>
              <a:gd name="connsiteX0" fmla="*/ 3512403 w 6713705"/>
              <a:gd name="connsiteY0" fmla="*/ 442611 h 3689679"/>
              <a:gd name="connsiteX1" fmla="*/ 1550253 w 6713705"/>
              <a:gd name="connsiteY1" fmla="*/ 80661 h 3689679"/>
              <a:gd name="connsiteX2" fmla="*/ 7203 w 6713705"/>
              <a:gd name="connsiteY2" fmla="*/ 2119011 h 3689679"/>
              <a:gd name="connsiteX3" fmla="*/ 2521803 w 6713705"/>
              <a:gd name="connsiteY3" fmla="*/ 3681111 h 3689679"/>
              <a:gd name="connsiteX4" fmla="*/ 4369653 w 6713705"/>
              <a:gd name="connsiteY4" fmla="*/ 2785761 h 3689679"/>
              <a:gd name="connsiteX5" fmla="*/ 6712803 w 6713705"/>
              <a:gd name="connsiteY5" fmla="*/ 2500011 h 3689679"/>
              <a:gd name="connsiteX6" fmla="*/ 5226903 w 6713705"/>
              <a:gd name="connsiteY6" fmla="*/ 766461 h 3689679"/>
              <a:gd name="connsiteX7" fmla="*/ 3512403 w 6713705"/>
              <a:gd name="connsiteY7" fmla="*/ 442611 h 3689679"/>
              <a:gd name="connsiteX0" fmla="*/ 3512403 w 6067023"/>
              <a:gd name="connsiteY0" fmla="*/ 442611 h 3692311"/>
              <a:gd name="connsiteX1" fmla="*/ 1550253 w 6067023"/>
              <a:gd name="connsiteY1" fmla="*/ 80661 h 3692311"/>
              <a:gd name="connsiteX2" fmla="*/ 7203 w 6067023"/>
              <a:gd name="connsiteY2" fmla="*/ 2119011 h 3692311"/>
              <a:gd name="connsiteX3" fmla="*/ 2521803 w 6067023"/>
              <a:gd name="connsiteY3" fmla="*/ 3681111 h 3692311"/>
              <a:gd name="connsiteX4" fmla="*/ 4369653 w 6067023"/>
              <a:gd name="connsiteY4" fmla="*/ 2785761 h 3692311"/>
              <a:gd name="connsiteX5" fmla="*/ 6065103 w 6067023"/>
              <a:gd name="connsiteY5" fmla="*/ 2119011 h 3692311"/>
              <a:gd name="connsiteX6" fmla="*/ 5226903 w 6067023"/>
              <a:gd name="connsiteY6" fmla="*/ 766461 h 3692311"/>
              <a:gd name="connsiteX7" fmla="*/ 3512403 w 6067023"/>
              <a:gd name="connsiteY7" fmla="*/ 442611 h 3692311"/>
              <a:gd name="connsiteX0" fmla="*/ 3226372 w 6066949"/>
              <a:gd name="connsiteY0" fmla="*/ 813286 h 3643886"/>
              <a:gd name="connsiteX1" fmla="*/ 1549972 w 6066949"/>
              <a:gd name="connsiteY1" fmla="*/ 32236 h 3643886"/>
              <a:gd name="connsiteX2" fmla="*/ 6922 w 6066949"/>
              <a:gd name="connsiteY2" fmla="*/ 2070586 h 3643886"/>
              <a:gd name="connsiteX3" fmla="*/ 2521522 w 6066949"/>
              <a:gd name="connsiteY3" fmla="*/ 3632686 h 3643886"/>
              <a:gd name="connsiteX4" fmla="*/ 4369372 w 6066949"/>
              <a:gd name="connsiteY4" fmla="*/ 2737336 h 3643886"/>
              <a:gd name="connsiteX5" fmla="*/ 6064822 w 6066949"/>
              <a:gd name="connsiteY5" fmla="*/ 2070586 h 3643886"/>
              <a:gd name="connsiteX6" fmla="*/ 5226622 w 6066949"/>
              <a:gd name="connsiteY6" fmla="*/ 718036 h 3643886"/>
              <a:gd name="connsiteX7" fmla="*/ 3226372 w 6066949"/>
              <a:gd name="connsiteY7" fmla="*/ 813286 h 3643886"/>
              <a:gd name="connsiteX0" fmla="*/ 3226372 w 6066567"/>
              <a:gd name="connsiteY0" fmla="*/ 812175 h 3642775"/>
              <a:gd name="connsiteX1" fmla="*/ 1549972 w 6066567"/>
              <a:gd name="connsiteY1" fmla="*/ 31125 h 3642775"/>
              <a:gd name="connsiteX2" fmla="*/ 6922 w 6066567"/>
              <a:gd name="connsiteY2" fmla="*/ 2069475 h 3642775"/>
              <a:gd name="connsiteX3" fmla="*/ 2521522 w 6066567"/>
              <a:gd name="connsiteY3" fmla="*/ 3631575 h 3642775"/>
              <a:gd name="connsiteX4" fmla="*/ 4369372 w 6066567"/>
              <a:gd name="connsiteY4" fmla="*/ 2736225 h 3642775"/>
              <a:gd name="connsiteX5" fmla="*/ 6064822 w 6066567"/>
              <a:gd name="connsiteY5" fmla="*/ 2069475 h 3642775"/>
              <a:gd name="connsiteX6" fmla="*/ 5131372 w 6066567"/>
              <a:gd name="connsiteY6" fmla="*/ 488325 h 3642775"/>
              <a:gd name="connsiteX7" fmla="*/ 3226372 w 6066567"/>
              <a:gd name="connsiteY7" fmla="*/ 812175 h 3642775"/>
              <a:gd name="connsiteX0" fmla="*/ 3226372 w 6072958"/>
              <a:gd name="connsiteY0" fmla="*/ 812175 h 3642775"/>
              <a:gd name="connsiteX1" fmla="*/ 1549972 w 6072958"/>
              <a:gd name="connsiteY1" fmla="*/ 31125 h 3642775"/>
              <a:gd name="connsiteX2" fmla="*/ 6922 w 6072958"/>
              <a:gd name="connsiteY2" fmla="*/ 2069475 h 3642775"/>
              <a:gd name="connsiteX3" fmla="*/ 2521522 w 6072958"/>
              <a:gd name="connsiteY3" fmla="*/ 3631575 h 3642775"/>
              <a:gd name="connsiteX4" fmla="*/ 4369372 w 6072958"/>
              <a:gd name="connsiteY4" fmla="*/ 2736225 h 3642775"/>
              <a:gd name="connsiteX5" fmla="*/ 6064822 w 6072958"/>
              <a:gd name="connsiteY5" fmla="*/ 2069475 h 3642775"/>
              <a:gd name="connsiteX6" fmla="*/ 5131372 w 6072958"/>
              <a:gd name="connsiteY6" fmla="*/ 488325 h 3642775"/>
              <a:gd name="connsiteX7" fmla="*/ 3226372 w 6072958"/>
              <a:gd name="connsiteY7" fmla="*/ 812175 h 364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72958" h="3642775">
                <a:moveTo>
                  <a:pt x="3226372" y="812175"/>
                </a:moveTo>
                <a:cubicBezTo>
                  <a:pt x="2629472" y="735975"/>
                  <a:pt x="2086547" y="-178425"/>
                  <a:pt x="1549972" y="31125"/>
                </a:cubicBezTo>
                <a:cubicBezTo>
                  <a:pt x="1013397" y="240675"/>
                  <a:pt x="-97853" y="669300"/>
                  <a:pt x="6922" y="2069475"/>
                </a:cubicBezTo>
                <a:cubicBezTo>
                  <a:pt x="111697" y="3469650"/>
                  <a:pt x="1794447" y="3520450"/>
                  <a:pt x="2521522" y="3631575"/>
                </a:cubicBezTo>
                <a:cubicBezTo>
                  <a:pt x="3248597" y="3742700"/>
                  <a:pt x="3778822" y="2996575"/>
                  <a:pt x="4369372" y="2736225"/>
                </a:cubicBezTo>
                <a:cubicBezTo>
                  <a:pt x="4959922" y="2475875"/>
                  <a:pt x="6029897" y="2437775"/>
                  <a:pt x="6064822" y="2069475"/>
                </a:cubicBezTo>
                <a:cubicBezTo>
                  <a:pt x="6099747" y="1701175"/>
                  <a:pt x="6061647" y="678825"/>
                  <a:pt x="5131372" y="488325"/>
                </a:cubicBezTo>
                <a:cubicBezTo>
                  <a:pt x="4201097" y="297825"/>
                  <a:pt x="3823272" y="888375"/>
                  <a:pt x="3226372" y="812175"/>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8D8D51E6-90D9-4F45-89B5-4159847FE8FD}"/>
              </a:ext>
            </a:extLst>
          </p:cNvPr>
          <p:cNvSpPr/>
          <p:nvPr/>
        </p:nvSpPr>
        <p:spPr>
          <a:xfrm rot="20328734">
            <a:off x="-651024" y="4458567"/>
            <a:ext cx="2637760" cy="3184712"/>
          </a:xfrm>
          <a:custGeom>
            <a:avLst/>
            <a:gdLst>
              <a:gd name="connsiteX0" fmla="*/ 408955 w 8512265"/>
              <a:gd name="connsiteY0" fmla="*/ 326459 h 8500626"/>
              <a:gd name="connsiteX1" fmla="*/ 4333255 w 8512265"/>
              <a:gd name="connsiteY1" fmla="*/ 1774259 h 8500626"/>
              <a:gd name="connsiteX2" fmla="*/ 4314205 w 8512265"/>
              <a:gd name="connsiteY2" fmla="*/ 5431859 h 8500626"/>
              <a:gd name="connsiteX3" fmla="*/ 7857505 w 8512265"/>
              <a:gd name="connsiteY3" fmla="*/ 7051109 h 8500626"/>
              <a:gd name="connsiteX4" fmla="*/ 8505205 w 8512265"/>
              <a:gd name="connsiteY4" fmla="*/ 7984559 h 8500626"/>
              <a:gd name="connsiteX5" fmla="*/ 8219455 w 8512265"/>
              <a:gd name="connsiteY5" fmla="*/ 8041709 h 8500626"/>
              <a:gd name="connsiteX6" fmla="*/ 999505 w 8512265"/>
              <a:gd name="connsiteY6" fmla="*/ 7889309 h 8500626"/>
              <a:gd name="connsiteX7" fmla="*/ 408955 w 8512265"/>
              <a:gd name="connsiteY7" fmla="*/ 326459 h 8500626"/>
              <a:gd name="connsiteX0" fmla="*/ 388651 w 8488835"/>
              <a:gd name="connsiteY0" fmla="*/ 326459 h 10183774"/>
              <a:gd name="connsiteX1" fmla="*/ 4312951 w 8488835"/>
              <a:gd name="connsiteY1" fmla="*/ 1774259 h 10183774"/>
              <a:gd name="connsiteX2" fmla="*/ 4293901 w 8488835"/>
              <a:gd name="connsiteY2" fmla="*/ 5431859 h 10183774"/>
              <a:gd name="connsiteX3" fmla="*/ 7837201 w 8488835"/>
              <a:gd name="connsiteY3" fmla="*/ 7051109 h 10183774"/>
              <a:gd name="connsiteX4" fmla="*/ 8484901 w 8488835"/>
              <a:gd name="connsiteY4" fmla="*/ 7984559 h 10183774"/>
              <a:gd name="connsiteX5" fmla="*/ 7778556 w 8488835"/>
              <a:gd name="connsiteY5" fmla="*/ 10183773 h 10183774"/>
              <a:gd name="connsiteX6" fmla="*/ 979201 w 8488835"/>
              <a:gd name="connsiteY6" fmla="*/ 7889309 h 10183774"/>
              <a:gd name="connsiteX7" fmla="*/ 388651 w 8488835"/>
              <a:gd name="connsiteY7" fmla="*/ 326459 h 10183774"/>
              <a:gd name="connsiteX0" fmla="*/ 388651 w 9511190"/>
              <a:gd name="connsiteY0" fmla="*/ 326459 h 10183774"/>
              <a:gd name="connsiteX1" fmla="*/ 4312951 w 9511190"/>
              <a:gd name="connsiteY1" fmla="*/ 1774259 h 10183774"/>
              <a:gd name="connsiteX2" fmla="*/ 4293901 w 9511190"/>
              <a:gd name="connsiteY2" fmla="*/ 5431859 h 10183774"/>
              <a:gd name="connsiteX3" fmla="*/ 7837201 w 9511190"/>
              <a:gd name="connsiteY3" fmla="*/ 7051109 h 10183774"/>
              <a:gd name="connsiteX4" fmla="*/ 9511104 w 9511190"/>
              <a:gd name="connsiteY4" fmla="*/ 9513315 h 10183774"/>
              <a:gd name="connsiteX5" fmla="*/ 7778556 w 9511190"/>
              <a:gd name="connsiteY5" fmla="*/ 10183773 h 10183774"/>
              <a:gd name="connsiteX6" fmla="*/ 979201 w 9511190"/>
              <a:gd name="connsiteY6" fmla="*/ 7889309 h 10183774"/>
              <a:gd name="connsiteX7" fmla="*/ 388651 w 9511190"/>
              <a:gd name="connsiteY7" fmla="*/ 326459 h 10183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11190" h="10183774">
                <a:moveTo>
                  <a:pt x="388651" y="326459"/>
                </a:moveTo>
                <a:cubicBezTo>
                  <a:pt x="944276" y="-692716"/>
                  <a:pt x="3662076" y="923359"/>
                  <a:pt x="4312951" y="1774259"/>
                </a:cubicBezTo>
                <a:cubicBezTo>
                  <a:pt x="4963826" y="2625159"/>
                  <a:pt x="3706526" y="4552384"/>
                  <a:pt x="4293901" y="5431859"/>
                </a:cubicBezTo>
                <a:cubicBezTo>
                  <a:pt x="4881276" y="6311334"/>
                  <a:pt x="6967667" y="6370866"/>
                  <a:pt x="7837201" y="7051109"/>
                </a:cubicBezTo>
                <a:cubicBezTo>
                  <a:pt x="8706735" y="7731352"/>
                  <a:pt x="9520878" y="8991204"/>
                  <a:pt x="9511104" y="9513315"/>
                </a:cubicBezTo>
                <a:cubicBezTo>
                  <a:pt x="9501330" y="10035426"/>
                  <a:pt x="7778556" y="10183773"/>
                  <a:pt x="7778556" y="10183773"/>
                </a:cubicBezTo>
                <a:cubicBezTo>
                  <a:pt x="6527606" y="10167898"/>
                  <a:pt x="2210852" y="9532195"/>
                  <a:pt x="979201" y="7889309"/>
                </a:cubicBezTo>
                <a:cubicBezTo>
                  <a:pt x="-252450" y="6246423"/>
                  <a:pt x="-166974" y="1345634"/>
                  <a:pt x="388651" y="326459"/>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17">
            <a:extLst>
              <a:ext uri="{FF2B5EF4-FFF2-40B4-BE49-F238E27FC236}">
                <a16:creationId xmlns:a16="http://schemas.microsoft.com/office/drawing/2014/main" id="{AB68D4C2-F485-4D45-8C84-B6E00CF7F67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778218">
            <a:off x="7646985" y="-698690"/>
            <a:ext cx="1765700" cy="1686244"/>
          </a:xfrm>
          <a:prstGeom prst="rect">
            <a:avLst/>
          </a:prstGeom>
        </p:spPr>
      </p:pic>
      <p:sp>
        <p:nvSpPr>
          <p:cNvPr id="12" name="TextBox 5">
            <a:extLst>
              <a:ext uri="{FF2B5EF4-FFF2-40B4-BE49-F238E27FC236}">
                <a16:creationId xmlns:a16="http://schemas.microsoft.com/office/drawing/2014/main" id="{92835045-963E-48FF-AD53-A7EF8CC5504C}"/>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4</a:t>
            </a:r>
            <a:endParaRPr lang="en-US" sz="2000" b="1" dirty="0"/>
          </a:p>
        </p:txBody>
      </p:sp>
      <p:sp>
        <p:nvSpPr>
          <p:cNvPr id="20" name="TextBox 19">
            <a:extLst>
              <a:ext uri="{FF2B5EF4-FFF2-40B4-BE49-F238E27FC236}">
                <a16:creationId xmlns:a16="http://schemas.microsoft.com/office/drawing/2014/main" id="{96A61B8A-40EC-7B02-9B04-60A1ECEA0746}"/>
              </a:ext>
            </a:extLst>
          </p:cNvPr>
          <p:cNvSpPr txBox="1"/>
          <p:nvPr/>
        </p:nvSpPr>
        <p:spPr>
          <a:xfrm>
            <a:off x="579331" y="402123"/>
            <a:ext cx="1805244" cy="369332"/>
          </a:xfrm>
          <a:prstGeom prst="rect">
            <a:avLst/>
          </a:prstGeom>
          <a:solidFill>
            <a:srgbClr val="51D7A8"/>
          </a:solidFill>
        </p:spPr>
        <p:txBody>
          <a:bodyPr wrap="square" rtlCol="0">
            <a:spAutoFit/>
          </a:bodyPr>
          <a:lstStyle/>
          <a:p>
            <a:r>
              <a:rPr lang="en-US" dirty="0">
                <a:solidFill>
                  <a:schemeClr val="bg1"/>
                </a:solidFill>
              </a:rPr>
              <a:t>BAB I</a:t>
            </a:r>
          </a:p>
        </p:txBody>
      </p:sp>
      <p:pic>
        <p:nvPicPr>
          <p:cNvPr id="2052" name="Picture 4" descr="40,800+ Verification Stock Photos, Pictures &amp; Royalty-Free Images - iStock  | Identity theft, Hello my name is, Business name">
            <a:extLst>
              <a:ext uri="{FF2B5EF4-FFF2-40B4-BE49-F238E27FC236}">
                <a16:creationId xmlns:a16="http://schemas.microsoft.com/office/drawing/2014/main" id="{D3F86720-3D1E-07EC-1B80-1109743C8EB4}"/>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8837" t="20841" r="18310" b="19220"/>
          <a:stretch/>
        </p:blipFill>
        <p:spPr bwMode="auto">
          <a:xfrm>
            <a:off x="-1809737" y="-645814"/>
            <a:ext cx="1657351" cy="15804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Kenapa Verifikasi Digital Penting bagi Keamanan Bisnis?">
            <a:extLst>
              <a:ext uri="{FF2B5EF4-FFF2-40B4-BE49-F238E27FC236}">
                <a16:creationId xmlns:a16="http://schemas.microsoft.com/office/drawing/2014/main" id="{A89FE773-95B3-640A-5E7E-473E8E03D2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4468" y="1640566"/>
            <a:ext cx="2702763" cy="179856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1357156E-A69E-72A7-605C-365B14E450F6}"/>
              </a:ext>
            </a:extLst>
          </p:cNvPr>
          <p:cNvSpPr txBox="1"/>
          <p:nvPr/>
        </p:nvSpPr>
        <p:spPr>
          <a:xfrm>
            <a:off x="3287231" y="1496440"/>
            <a:ext cx="3140870" cy="2308324"/>
          </a:xfrm>
          <a:prstGeom prst="rect">
            <a:avLst/>
          </a:prstGeom>
          <a:noFill/>
        </p:spPr>
        <p:txBody>
          <a:bodyPr wrap="square">
            <a:spAutoFit/>
          </a:bodyPr>
          <a:lstStyle/>
          <a:p>
            <a:pPr algn="just"/>
            <a:r>
              <a:rPr lang="en-US" dirty="0">
                <a:latin typeface="Bahnschrift" panose="020B0502040204020203" pitchFamily="34" charset="0"/>
                <a:ea typeface="Yu Mincho" panose="02020400000000000000" pitchFamily="18" charset="-128"/>
              </a:rPr>
              <a:t>Namun p</a:t>
            </a:r>
            <a:r>
              <a:rPr lang="en-US" sz="1800" dirty="0">
                <a:effectLst/>
                <a:latin typeface="Bahnschrift" panose="020B0502040204020203" pitchFamily="34" charset="0"/>
                <a:ea typeface="Yu Mincho" panose="02020400000000000000" pitchFamily="18" charset="-128"/>
              </a:rPr>
              <a:t>roses verifikasi suatu informasi atau berita oleh </a:t>
            </a:r>
            <a:r>
              <a:rPr lang="en-US" sz="1800" dirty="0" err="1">
                <a:effectLst/>
                <a:latin typeface="Bahnschrift" panose="020B0502040204020203" pitchFamily="34" charset="0"/>
                <a:ea typeface="Yu Mincho" panose="02020400000000000000" pitchFamily="18" charset="-128"/>
              </a:rPr>
              <a:t>Mafindo</a:t>
            </a:r>
            <a:r>
              <a:rPr lang="en-US" sz="1800" dirty="0">
                <a:effectLst/>
                <a:latin typeface="Bahnschrift" panose="020B0502040204020203" pitchFamily="34" charset="0"/>
                <a:ea typeface="Yu Mincho" panose="02020400000000000000" pitchFamily="18" charset="-128"/>
              </a:rPr>
              <a:t> saat ini masih dilakukan secara manual, proses tersebut tidak sebanding dengan jumlah penyebaran berita hoaks yang beredar.</a:t>
            </a:r>
            <a:endParaRPr lang="en-US" dirty="0">
              <a:latin typeface="Bahnschrift" panose="020B0502040204020203" pitchFamily="34" charset="0"/>
            </a:endParaRPr>
          </a:p>
        </p:txBody>
      </p:sp>
      <p:pic>
        <p:nvPicPr>
          <p:cNvPr id="2056" name="Picture 8" descr="ML/DL Logos – Machine Learning/Deep Learning">
            <a:extLst>
              <a:ext uri="{FF2B5EF4-FFF2-40B4-BE49-F238E27FC236}">
                <a16:creationId xmlns:a16="http://schemas.microsoft.com/office/drawing/2014/main" id="{7A88B3B2-1D45-81F6-DAC1-8EE7FE5CB8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180" y="3771746"/>
            <a:ext cx="1805244" cy="2036247"/>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F00DA81F-16B1-5168-0910-E3B4DA91FB20}"/>
              </a:ext>
            </a:extLst>
          </p:cNvPr>
          <p:cNvSpPr txBox="1"/>
          <p:nvPr/>
        </p:nvSpPr>
        <p:spPr>
          <a:xfrm>
            <a:off x="3316630" y="3938459"/>
            <a:ext cx="3140870" cy="2862322"/>
          </a:xfrm>
          <a:prstGeom prst="rect">
            <a:avLst/>
          </a:prstGeom>
          <a:noFill/>
        </p:spPr>
        <p:txBody>
          <a:bodyPr wrap="square">
            <a:spAutoFit/>
          </a:bodyPr>
          <a:lstStyle/>
          <a:p>
            <a:pPr algn="just"/>
            <a:r>
              <a:rPr lang="en-US" dirty="0">
                <a:latin typeface="Bahnschrift" panose="020B0502040204020203" pitchFamily="34" charset="0"/>
                <a:ea typeface="Yu Mincho" panose="02020400000000000000" pitchFamily="18" charset="-128"/>
              </a:rPr>
              <a:t>Cara </a:t>
            </a:r>
            <a:r>
              <a:rPr lang="en-US" dirty="0" err="1">
                <a:latin typeface="Bahnschrift" panose="020B0502040204020203" pitchFamily="34" charset="0"/>
                <a:ea typeface="Yu Mincho" panose="02020400000000000000" pitchFamily="18" charset="-128"/>
              </a:rPr>
              <a:t>mengatasi</a:t>
            </a:r>
            <a:r>
              <a:rPr lang="en-US" dirty="0">
                <a:latin typeface="Bahnschrift" panose="020B0502040204020203" pitchFamily="34" charset="0"/>
                <a:ea typeface="Yu Mincho" panose="02020400000000000000" pitchFamily="18" charset="-128"/>
              </a:rPr>
              <a:t> proses </a:t>
            </a:r>
            <a:r>
              <a:rPr lang="en-US" dirty="0" err="1">
                <a:latin typeface="Bahnschrift" panose="020B0502040204020203" pitchFamily="34" charset="0"/>
                <a:ea typeface="Yu Mincho" panose="02020400000000000000" pitchFamily="18" charset="-128"/>
              </a:rPr>
              <a:t>kerja</a:t>
            </a:r>
            <a:r>
              <a:rPr lang="en-US" dirty="0">
                <a:latin typeface="Bahnschrift" panose="020B0502040204020203" pitchFamily="34" charset="0"/>
                <a:ea typeface="Yu Mincho" panose="02020400000000000000" pitchFamily="18" charset="-128"/>
              </a:rPr>
              <a:t> manual </a:t>
            </a:r>
            <a:r>
              <a:rPr lang="en-US" dirty="0" err="1">
                <a:latin typeface="Bahnschrift" panose="020B0502040204020203" pitchFamily="34" charset="0"/>
                <a:ea typeface="Yu Mincho" panose="02020400000000000000" pitchFamily="18" charset="-128"/>
              </a:rPr>
              <a:t>yaitu</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dengan</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membangun</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sebuah</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mesin</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Penelitian</a:t>
            </a:r>
            <a:r>
              <a:rPr lang="en-US" dirty="0">
                <a:latin typeface="Bahnschrift" panose="020B0502040204020203" pitchFamily="34" charset="0"/>
                <a:ea typeface="Yu Mincho" panose="02020400000000000000" pitchFamily="18" charset="-128"/>
              </a:rPr>
              <a:t> </a:t>
            </a:r>
            <a:r>
              <a:rPr lang="en-US" i="1" dirty="0">
                <a:latin typeface="Bahnschrift" panose="020B0502040204020203" pitchFamily="34" charset="0"/>
                <a:ea typeface="Yu Mincho" panose="02020400000000000000" pitchFamily="18" charset="-128"/>
              </a:rPr>
              <a:t>Machine learning </a:t>
            </a:r>
            <a:r>
              <a:rPr lang="en-US" i="1" dirty="0" err="1">
                <a:latin typeface="Bahnschrift" panose="020B0502040204020203" pitchFamily="34" charset="0"/>
                <a:ea typeface="Yu Mincho" panose="02020400000000000000" pitchFamily="18" charset="-128"/>
              </a:rPr>
              <a:t>telah</a:t>
            </a:r>
            <a:r>
              <a:rPr lang="en-US" i="1"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memberikan</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solusi</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sebagai</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alat</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verifikasi</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otomatis</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sehingga</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dapat</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memangkas</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waktu</a:t>
            </a:r>
            <a:r>
              <a:rPr lang="en-US" dirty="0">
                <a:latin typeface="Bahnschrift" panose="020B0502040204020203" pitchFamily="34" charset="0"/>
                <a:ea typeface="Yu Mincho" panose="02020400000000000000" pitchFamily="18" charset="-128"/>
              </a:rPr>
              <a:t> dan </a:t>
            </a:r>
            <a:r>
              <a:rPr lang="en-US" dirty="0" err="1">
                <a:latin typeface="Bahnschrift" panose="020B0502040204020203" pitchFamily="34" charset="0"/>
                <a:ea typeface="Yu Mincho" panose="02020400000000000000" pitchFamily="18" charset="-128"/>
              </a:rPr>
              <a:t>tenaga</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dalam</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mengolah</a:t>
            </a:r>
            <a:r>
              <a:rPr lang="en-US" dirty="0">
                <a:latin typeface="Bahnschrift" panose="020B0502040204020203" pitchFamily="34" charset="0"/>
                <a:ea typeface="Yu Mincho" panose="02020400000000000000" pitchFamily="18" charset="-128"/>
              </a:rPr>
              <a:t> </a:t>
            </a:r>
            <a:r>
              <a:rPr lang="en-US" dirty="0" err="1">
                <a:latin typeface="Bahnschrift" panose="020B0502040204020203" pitchFamily="34" charset="0"/>
                <a:ea typeface="Yu Mincho" panose="02020400000000000000" pitchFamily="18" charset="-128"/>
              </a:rPr>
              <a:t>informasi</a:t>
            </a:r>
            <a:endParaRPr lang="en-US" dirty="0">
              <a:latin typeface="Bahnschrift" panose="020B0502040204020203" pitchFamily="34" charset="0"/>
            </a:endParaRPr>
          </a:p>
        </p:txBody>
      </p:sp>
      <p:pic>
        <p:nvPicPr>
          <p:cNvPr id="40" name="Picture 39">
            <a:extLst>
              <a:ext uri="{FF2B5EF4-FFF2-40B4-BE49-F238E27FC236}">
                <a16:creationId xmlns:a16="http://schemas.microsoft.com/office/drawing/2014/main" id="{DDCCBC6B-AE49-EA9C-DEEC-F0028431E658}"/>
              </a:ext>
            </a:extLst>
          </p:cNvPr>
          <p:cNvPicPr>
            <a:picLocks noChangeAspect="1"/>
          </p:cNvPicPr>
          <p:nvPr/>
        </p:nvPicPr>
        <p:blipFill>
          <a:blip r:embed="rId9"/>
          <a:stretch>
            <a:fillRect/>
          </a:stretch>
        </p:blipFill>
        <p:spPr>
          <a:xfrm>
            <a:off x="10575508" y="334546"/>
            <a:ext cx="785211" cy="769507"/>
          </a:xfrm>
          <a:prstGeom prst="rect">
            <a:avLst/>
          </a:prstGeom>
        </p:spPr>
      </p:pic>
      <p:pic>
        <p:nvPicPr>
          <p:cNvPr id="41" name="Picture 40">
            <a:extLst>
              <a:ext uri="{FF2B5EF4-FFF2-40B4-BE49-F238E27FC236}">
                <a16:creationId xmlns:a16="http://schemas.microsoft.com/office/drawing/2014/main" id="{F829E1F6-064F-AF91-A895-628CDA90564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7" name="TextBox 6">
            <a:extLst>
              <a:ext uri="{FF2B5EF4-FFF2-40B4-BE49-F238E27FC236}">
                <a16:creationId xmlns:a16="http://schemas.microsoft.com/office/drawing/2014/main" id="{C36ED3F3-24E7-B0F3-6973-A605A41EEA49}"/>
              </a:ext>
            </a:extLst>
          </p:cNvPr>
          <p:cNvSpPr txBox="1"/>
          <p:nvPr/>
        </p:nvSpPr>
        <p:spPr>
          <a:xfrm>
            <a:off x="6734602" y="4397275"/>
            <a:ext cx="5255112" cy="584775"/>
          </a:xfrm>
          <a:prstGeom prst="rect">
            <a:avLst/>
          </a:prstGeom>
          <a:noFill/>
        </p:spPr>
        <p:txBody>
          <a:bodyPr wrap="square">
            <a:spAutoFit/>
          </a:bodyPr>
          <a:lstStyle/>
          <a:p>
            <a:pPr algn="just"/>
            <a:r>
              <a:rPr lang="en-US" sz="3200" dirty="0" err="1">
                <a:solidFill>
                  <a:schemeClr val="accent6"/>
                </a:solidFill>
                <a:latin typeface="Bahnschrift SemiBold" panose="020B0502040204020203" pitchFamily="34" charset="0"/>
                <a:ea typeface="Yu Mincho" panose="02020400000000000000" pitchFamily="18" charset="-128"/>
              </a:rPr>
              <a:t>Multimodel</a:t>
            </a:r>
            <a:r>
              <a:rPr lang="en-US" sz="3200" dirty="0">
                <a:solidFill>
                  <a:schemeClr val="accent6"/>
                </a:solidFill>
                <a:latin typeface="Bahnschrift SemiBold" panose="020B0502040204020203" pitchFamily="34" charset="0"/>
                <a:ea typeface="Yu Mincho" panose="02020400000000000000" pitchFamily="18" charset="-128"/>
              </a:rPr>
              <a:t> Deep Learning</a:t>
            </a:r>
          </a:p>
        </p:txBody>
      </p:sp>
      <p:sp>
        <p:nvSpPr>
          <p:cNvPr id="11" name="TextBox 10">
            <a:extLst>
              <a:ext uri="{FF2B5EF4-FFF2-40B4-BE49-F238E27FC236}">
                <a16:creationId xmlns:a16="http://schemas.microsoft.com/office/drawing/2014/main" id="{BD9D37F1-D9CC-72F3-B3DC-7E95FD918C18}"/>
              </a:ext>
            </a:extLst>
          </p:cNvPr>
          <p:cNvSpPr txBox="1"/>
          <p:nvPr/>
        </p:nvSpPr>
        <p:spPr>
          <a:xfrm>
            <a:off x="6790385" y="5482250"/>
            <a:ext cx="3704499" cy="113877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Bahnschrift" panose="020B0502040204020203" pitchFamily="34" charset="0"/>
              </a:rPr>
              <a:t>Model </a:t>
            </a:r>
            <a:r>
              <a:rPr lang="en-US" sz="1600" dirty="0" err="1">
                <a:latin typeface="Bahnschrift" panose="020B0502040204020203" pitchFamily="34" charset="0"/>
              </a:rPr>
              <a:t>pengolah</a:t>
            </a:r>
            <a:r>
              <a:rPr lang="en-US" sz="1600" dirty="0">
                <a:latin typeface="Bahnschrift" panose="020B0502040204020203" pitchFamily="34" charset="0"/>
              </a:rPr>
              <a:t> Teks</a:t>
            </a:r>
          </a:p>
          <a:p>
            <a:pPr marL="285750" indent="-285750">
              <a:buFont typeface="Arial" panose="020B0604020202020204" pitchFamily="34" charset="0"/>
              <a:buChar char="•"/>
            </a:pPr>
            <a:r>
              <a:rPr lang="en-US" sz="1600" dirty="0">
                <a:latin typeface="Bahnschrift" panose="020B0502040204020203" pitchFamily="34" charset="0"/>
              </a:rPr>
              <a:t>Model </a:t>
            </a:r>
            <a:r>
              <a:rPr lang="en-US" sz="1600" dirty="0" err="1">
                <a:latin typeface="Bahnschrift" panose="020B0502040204020203" pitchFamily="34" charset="0"/>
              </a:rPr>
              <a:t>Pengolah</a:t>
            </a:r>
            <a:r>
              <a:rPr lang="en-US" sz="1600" dirty="0">
                <a:latin typeface="Bahnschrift" panose="020B0502040204020203" pitchFamily="34" charset="0"/>
              </a:rPr>
              <a:t> Gambar</a:t>
            </a:r>
          </a:p>
          <a:p>
            <a:pPr marL="285750" indent="-285750">
              <a:buFont typeface="Arial" panose="020B0604020202020204" pitchFamily="34" charset="0"/>
              <a:buChar char="•"/>
            </a:pPr>
            <a:r>
              <a:rPr lang="en-US" sz="1600" dirty="0">
                <a:latin typeface="Bahnschrift" panose="020B0502040204020203" pitchFamily="34" charset="0"/>
              </a:rPr>
              <a:t>Model </a:t>
            </a:r>
            <a:r>
              <a:rPr lang="en-US" sz="1600" dirty="0" err="1">
                <a:latin typeface="Bahnschrift" panose="020B0502040204020203" pitchFamily="34" charset="0"/>
              </a:rPr>
              <a:t>Gabungan</a:t>
            </a:r>
            <a:r>
              <a:rPr lang="en-US" sz="1600" dirty="0">
                <a:latin typeface="Bahnschrift" panose="020B0502040204020203" pitchFamily="34" charset="0"/>
              </a:rPr>
              <a:t> (</a:t>
            </a:r>
            <a:r>
              <a:rPr lang="en-US" sz="1600" i="1" dirty="0" err="1">
                <a:latin typeface="Bahnschrift" panose="020B0502040204020203" pitchFamily="34" charset="0"/>
              </a:rPr>
              <a:t>Multimodel</a:t>
            </a:r>
            <a:r>
              <a:rPr lang="en-US" dirty="0">
                <a:latin typeface="Bahnschrift" panose="020B0502040204020203" pitchFamily="34" charset="0"/>
              </a:rPr>
              <a:t>)</a:t>
            </a:r>
          </a:p>
          <a:p>
            <a:pPr marL="285750" indent="-285750">
              <a:buFont typeface="Arial" panose="020B0604020202020204" pitchFamily="34" charset="0"/>
              <a:buChar char="•"/>
            </a:pPr>
            <a:endParaRPr lang="en-US" dirty="0">
              <a:latin typeface="Bahnschrift" panose="020B0502040204020203" pitchFamily="34" charset="0"/>
            </a:endParaRPr>
          </a:p>
        </p:txBody>
      </p:sp>
      <p:pic>
        <p:nvPicPr>
          <p:cNvPr id="13" name="Picture 12">
            <a:extLst>
              <a:ext uri="{FF2B5EF4-FFF2-40B4-BE49-F238E27FC236}">
                <a16:creationId xmlns:a16="http://schemas.microsoft.com/office/drawing/2014/main" id="{09DFE0A6-FE8C-29AD-7C92-B8E815E32872}"/>
              </a:ext>
            </a:extLst>
          </p:cNvPr>
          <p:cNvPicPr>
            <a:picLocks noChangeAspect="1"/>
          </p:cNvPicPr>
          <p:nvPr/>
        </p:nvPicPr>
        <p:blipFill>
          <a:blip r:embed="rId11"/>
          <a:stretch>
            <a:fillRect/>
          </a:stretch>
        </p:blipFill>
        <p:spPr>
          <a:xfrm>
            <a:off x="6790385" y="1421854"/>
            <a:ext cx="2012655" cy="1734447"/>
          </a:xfrm>
          <a:prstGeom prst="rect">
            <a:avLst/>
          </a:prstGeom>
        </p:spPr>
      </p:pic>
      <p:pic>
        <p:nvPicPr>
          <p:cNvPr id="14" name="Picture 13">
            <a:extLst>
              <a:ext uri="{FF2B5EF4-FFF2-40B4-BE49-F238E27FC236}">
                <a16:creationId xmlns:a16="http://schemas.microsoft.com/office/drawing/2014/main" id="{30D40FD9-79E5-8F1D-CACA-3212F51CC464}"/>
              </a:ext>
            </a:extLst>
          </p:cNvPr>
          <p:cNvPicPr>
            <a:picLocks noChangeAspect="1"/>
          </p:cNvPicPr>
          <p:nvPr/>
        </p:nvPicPr>
        <p:blipFill>
          <a:blip r:embed="rId12"/>
          <a:stretch>
            <a:fillRect/>
          </a:stretch>
        </p:blipFill>
        <p:spPr>
          <a:xfrm>
            <a:off x="8879034" y="2123030"/>
            <a:ext cx="3140870" cy="1033271"/>
          </a:xfrm>
          <a:prstGeom prst="rect">
            <a:avLst/>
          </a:prstGeom>
        </p:spPr>
      </p:pic>
      <p:sp>
        <p:nvSpPr>
          <p:cNvPr id="15" name="TextBox 14">
            <a:extLst>
              <a:ext uri="{FF2B5EF4-FFF2-40B4-BE49-F238E27FC236}">
                <a16:creationId xmlns:a16="http://schemas.microsoft.com/office/drawing/2014/main" id="{A1A8629F-B4C4-6A97-2E0B-621F2C7A2F1F}"/>
              </a:ext>
            </a:extLst>
          </p:cNvPr>
          <p:cNvSpPr txBox="1"/>
          <p:nvPr/>
        </p:nvSpPr>
        <p:spPr>
          <a:xfrm>
            <a:off x="6734602" y="3372979"/>
            <a:ext cx="2923729" cy="584775"/>
          </a:xfrm>
          <a:prstGeom prst="rect">
            <a:avLst/>
          </a:prstGeom>
          <a:noFill/>
        </p:spPr>
        <p:txBody>
          <a:bodyPr wrap="square">
            <a:spAutoFit/>
          </a:bodyPr>
          <a:lstStyle/>
          <a:p>
            <a:pPr algn="just"/>
            <a:r>
              <a:rPr lang="en-US" sz="3200" dirty="0" err="1">
                <a:solidFill>
                  <a:schemeClr val="accent6"/>
                </a:solidFill>
                <a:latin typeface="Bahnschrift SemiBold" panose="020B0502040204020203" pitchFamily="34" charset="0"/>
                <a:ea typeface="Yu Mincho" panose="02020400000000000000" pitchFamily="18" charset="-128"/>
              </a:rPr>
              <a:t>Unimodel</a:t>
            </a:r>
            <a:endParaRPr lang="en-US" sz="3200" dirty="0">
              <a:solidFill>
                <a:schemeClr val="accent6"/>
              </a:solidFill>
              <a:latin typeface="Bahnschrift SemiBold" panose="020B0502040204020203" pitchFamily="34" charset="0"/>
              <a:ea typeface="Yu Mincho" panose="02020400000000000000" pitchFamily="18" charset="-128"/>
            </a:endParaRPr>
          </a:p>
        </p:txBody>
      </p:sp>
    </p:spTree>
    <p:extLst>
      <p:ext uri="{BB962C8B-B14F-4D97-AF65-F5344CB8AC3E}">
        <p14:creationId xmlns:p14="http://schemas.microsoft.com/office/powerpoint/2010/main" val="3565089486"/>
      </p:ext>
    </p:extLst>
  </p:cSld>
  <p:clrMapOvr>
    <a:masterClrMapping/>
  </p:clrMapOvr>
  <p:transition spd="slow">
    <p:wipe/>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5CE5738C-C117-4A43-BB97-3FC969410D3B}"/>
              </a:ext>
            </a:extLst>
          </p:cNvPr>
          <p:cNvSpPr/>
          <p:nvPr/>
        </p:nvSpPr>
        <p:spPr>
          <a:xfrm rot="12559241">
            <a:off x="10971466" y="-462320"/>
            <a:ext cx="1894093"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AA1B9FCE-1C7C-4CF9-BA92-8781A5C06761}"/>
              </a:ext>
            </a:extLst>
          </p:cNvPr>
          <p:cNvSpPr/>
          <p:nvPr/>
        </p:nvSpPr>
        <p:spPr>
          <a:xfrm rot="12559241">
            <a:off x="2357629" y="6197735"/>
            <a:ext cx="1660122" cy="1445996"/>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F06D74CB-C9AA-40AE-A9E0-58B8BDA7EAE9}"/>
              </a:ext>
            </a:extLst>
          </p:cNvPr>
          <p:cNvSpPr/>
          <p:nvPr/>
        </p:nvSpPr>
        <p:spPr>
          <a:xfrm rot="6882520">
            <a:off x="-1198192" y="5344383"/>
            <a:ext cx="2396385" cy="3016698"/>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3">
            <a:extLst>
              <a:ext uri="{FF2B5EF4-FFF2-40B4-BE49-F238E27FC236}">
                <a16:creationId xmlns:a16="http://schemas.microsoft.com/office/drawing/2014/main" id="{517680D3-BCCF-436B-94C0-6A6FB8D73A1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9321394" y="-689160"/>
            <a:ext cx="1829798" cy="1848281"/>
          </a:xfrm>
          <a:prstGeom prst="rect">
            <a:avLst/>
          </a:prstGeom>
        </p:spPr>
      </p:pic>
      <p:sp>
        <p:nvSpPr>
          <p:cNvPr id="2" name="Title 1"/>
          <p:cNvSpPr>
            <a:spLocks noGrp="1"/>
          </p:cNvSpPr>
          <p:nvPr>
            <p:ph type="title"/>
          </p:nvPr>
        </p:nvSpPr>
        <p:spPr>
          <a:xfrm>
            <a:off x="496074" y="980916"/>
            <a:ext cx="5015128" cy="794197"/>
          </a:xfrm>
        </p:spPr>
        <p:txBody>
          <a:bodyPr>
            <a:normAutofit/>
          </a:bodyPr>
          <a:lstStyle/>
          <a:p>
            <a:r>
              <a:rPr lang="en-US" sz="2800" dirty="0">
                <a:solidFill>
                  <a:srgbClr val="51D7A8"/>
                </a:solidFill>
                <a:latin typeface="Bahnschrift SemiBold" panose="020B0502040204020203" pitchFamily="34" charset="0"/>
              </a:rPr>
              <a:t>RUMUSAN MASALAH</a:t>
            </a:r>
          </a:p>
        </p:txBody>
      </p:sp>
      <p:sp>
        <p:nvSpPr>
          <p:cNvPr id="4" name="TextBox 3"/>
          <p:cNvSpPr txBox="1"/>
          <p:nvPr/>
        </p:nvSpPr>
        <p:spPr>
          <a:xfrm>
            <a:off x="450464" y="1630004"/>
            <a:ext cx="4825058" cy="1122615"/>
          </a:xfrm>
          <a:prstGeom prst="rect">
            <a:avLst/>
          </a:prstGeom>
          <a:noFill/>
        </p:spPr>
        <p:txBody>
          <a:bodyPr wrap="square" rtlCol="0">
            <a:spAutoFit/>
          </a:bodyPr>
          <a:lstStyle/>
          <a:p>
            <a:pPr algn="just">
              <a:lnSpc>
                <a:spcPct val="107000"/>
              </a:lnSpc>
              <a:spcAft>
                <a:spcPts val="800"/>
              </a:spcAft>
            </a:pPr>
            <a:r>
              <a:rPr lang="en-US" sz="1600" dirty="0">
                <a:effectLst/>
                <a:latin typeface="Bahnschrift" panose="020B0502040204020203" pitchFamily="34" charset="0"/>
                <a:ea typeface="Yu Mincho" panose="02020400000000000000" pitchFamily="18" charset="-128"/>
              </a:rPr>
              <a:t>B</a:t>
            </a:r>
            <a:r>
              <a:rPr lang="en-US" sz="1600" dirty="0">
                <a:latin typeface="Bahnschrift" panose="020B0502040204020203" pitchFamily="34" charset="0"/>
                <a:ea typeface="Yu Mincho" panose="02020400000000000000" pitchFamily="18" charset="-128"/>
              </a:rPr>
              <a:t>agaimana </a:t>
            </a:r>
            <a:r>
              <a:rPr lang="en-US" sz="1600" i="1" dirty="0" err="1">
                <a:latin typeface="Bahnschrift" panose="020B0502040204020203" pitchFamily="34" charset="0"/>
                <a:ea typeface="Yu Mincho" panose="02020400000000000000" pitchFamily="18" charset="-128"/>
              </a:rPr>
              <a:t>multimodel</a:t>
            </a:r>
            <a:r>
              <a:rPr lang="en-US" sz="1600" i="1" dirty="0">
                <a:latin typeface="Bahnschrift" panose="020B0502040204020203" pitchFamily="34" charset="0"/>
                <a:ea typeface="Yu Mincho" panose="02020400000000000000" pitchFamily="18" charset="-128"/>
              </a:rPr>
              <a:t> deep learning </a:t>
            </a:r>
            <a:r>
              <a:rPr lang="en-US" sz="1600" dirty="0">
                <a:latin typeface="Bahnschrift" panose="020B0502040204020203" pitchFamily="34" charset="0"/>
                <a:ea typeface="Yu Mincho" panose="02020400000000000000" pitchFamily="18" charset="-128"/>
              </a:rPr>
              <a:t>dengan arsitektur CNN dapat efektif mengklasifikasikan berita hoaks berbahasa Indonesia dan bagaimana </a:t>
            </a:r>
            <a:r>
              <a:rPr lang="en-US" sz="1600" dirty="0" err="1">
                <a:latin typeface="Bahnschrift" panose="020B0502040204020203" pitchFamily="34" charset="0"/>
                <a:ea typeface="Yu Mincho" panose="02020400000000000000" pitchFamily="18" charset="-128"/>
              </a:rPr>
              <a:t>evaluasinya</a:t>
            </a:r>
            <a:r>
              <a:rPr lang="en-US" sz="1600" dirty="0">
                <a:latin typeface="Bahnschrift" panose="020B0502040204020203" pitchFamily="34" charset="0"/>
                <a:ea typeface="Yu Mincho" panose="02020400000000000000" pitchFamily="18" charset="-128"/>
              </a:rPr>
              <a:t> dibandingkan </a:t>
            </a:r>
            <a:r>
              <a:rPr lang="en-US" sz="1600" i="1" dirty="0" err="1">
                <a:latin typeface="Bahnschrift" panose="020B0502040204020203" pitchFamily="34" charset="0"/>
                <a:ea typeface="Yu Mincho" panose="02020400000000000000" pitchFamily="18" charset="-128"/>
              </a:rPr>
              <a:t>unimodel</a:t>
            </a:r>
            <a:r>
              <a:rPr lang="en-US" sz="1600" i="1" dirty="0">
                <a:latin typeface="Bahnschrift" panose="020B0502040204020203" pitchFamily="34" charset="0"/>
                <a:ea typeface="Yu Mincho" panose="02020400000000000000" pitchFamily="18" charset="-128"/>
              </a:rPr>
              <a:t>?</a:t>
            </a:r>
            <a:endParaRPr lang="en-US" sz="1600" i="1" dirty="0">
              <a:effectLst/>
              <a:latin typeface="Bahnschrift" panose="020B0502040204020203" pitchFamily="34" charset="0"/>
              <a:ea typeface="Yu Mincho" panose="02020400000000000000" pitchFamily="18" charset="-128"/>
            </a:endParaRPr>
          </a:p>
        </p:txBody>
      </p:sp>
      <p:sp>
        <p:nvSpPr>
          <p:cNvPr id="16" name="Freeform: Shape 15">
            <a:extLst>
              <a:ext uri="{FF2B5EF4-FFF2-40B4-BE49-F238E27FC236}">
                <a16:creationId xmlns:a16="http://schemas.microsoft.com/office/drawing/2014/main" id="{2D48E666-DFA7-44CD-9CA9-69FFC1A406BA}"/>
              </a:ext>
            </a:extLst>
          </p:cNvPr>
          <p:cNvSpPr/>
          <p:nvPr/>
        </p:nvSpPr>
        <p:spPr>
          <a:xfrm rot="12559241">
            <a:off x="-726699" y="2620242"/>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51D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5">
            <a:extLst>
              <a:ext uri="{FF2B5EF4-FFF2-40B4-BE49-F238E27FC236}">
                <a16:creationId xmlns:a16="http://schemas.microsoft.com/office/drawing/2014/main" id="{EE3A15A6-B6D1-4B6A-8A3A-317CE81DE791}"/>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5</a:t>
            </a:r>
            <a:endParaRPr lang="en-US" sz="2000" b="1" dirty="0"/>
          </a:p>
        </p:txBody>
      </p:sp>
      <p:sp>
        <p:nvSpPr>
          <p:cNvPr id="5" name="Title 1">
            <a:extLst>
              <a:ext uri="{FF2B5EF4-FFF2-40B4-BE49-F238E27FC236}">
                <a16:creationId xmlns:a16="http://schemas.microsoft.com/office/drawing/2014/main" id="{23D6F6C5-E8CD-8A76-46E9-6E01B2888549}"/>
              </a:ext>
            </a:extLst>
          </p:cNvPr>
          <p:cNvSpPr txBox="1">
            <a:spLocks/>
          </p:cNvSpPr>
          <p:nvPr/>
        </p:nvSpPr>
        <p:spPr>
          <a:xfrm>
            <a:off x="6250228" y="985347"/>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51D7A8"/>
                </a:solidFill>
                <a:latin typeface="Bahnschrift SemiBold" panose="020B0502040204020203" pitchFamily="34" charset="0"/>
              </a:rPr>
              <a:t>MANFAAT</a:t>
            </a:r>
          </a:p>
        </p:txBody>
      </p:sp>
      <p:sp>
        <p:nvSpPr>
          <p:cNvPr id="7" name="TextBox 6">
            <a:extLst>
              <a:ext uri="{FF2B5EF4-FFF2-40B4-BE49-F238E27FC236}">
                <a16:creationId xmlns:a16="http://schemas.microsoft.com/office/drawing/2014/main" id="{E0F60A4D-484B-1B8E-8AEA-0AA37F8E7A8E}"/>
              </a:ext>
            </a:extLst>
          </p:cNvPr>
          <p:cNvSpPr txBox="1"/>
          <p:nvPr/>
        </p:nvSpPr>
        <p:spPr>
          <a:xfrm>
            <a:off x="6236254" y="1590973"/>
            <a:ext cx="5340439" cy="2215991"/>
          </a:xfrm>
          <a:prstGeom prst="rect">
            <a:avLst/>
          </a:prstGeom>
          <a:noFill/>
        </p:spPr>
        <p:txBody>
          <a:bodyPr wrap="square" rtlCol="0">
            <a:spAutoFit/>
          </a:bodyPr>
          <a:lstStyle/>
          <a:p>
            <a:pPr marL="285750" lvl="0" indent="-285750" algn="just">
              <a:spcAft>
                <a:spcPts val="600"/>
              </a:spcAft>
              <a:buFont typeface="Arial" panose="020B0604020202020204" pitchFamily="34" charset="0"/>
              <a:buChar char="•"/>
            </a:pPr>
            <a:r>
              <a:rPr lang="en-US" sz="1600" dirty="0">
                <a:latin typeface="Bahnschrift" panose="020B0502040204020203" pitchFamily="34" charset="0"/>
                <a:cs typeface="Times New Roman" panose="02020603050405020304" pitchFamily="18" charset="0"/>
              </a:rPr>
              <a:t>Memberi kontribusi dalam penanganan berita hoax terutama membantu </a:t>
            </a:r>
            <a:r>
              <a:rPr lang="en-US" sz="1600" dirty="0" err="1">
                <a:latin typeface="Bahnschrift" panose="020B0502040204020203" pitchFamily="34" charset="0"/>
                <a:cs typeface="Times New Roman" panose="02020603050405020304" pitchFamily="18" charset="0"/>
              </a:rPr>
              <a:t>Mafindo</a:t>
            </a:r>
            <a:r>
              <a:rPr lang="en-US" sz="1600" dirty="0">
                <a:latin typeface="Bahnschrift" panose="020B0502040204020203" pitchFamily="34" charset="0"/>
                <a:cs typeface="Times New Roman" panose="02020603050405020304" pitchFamily="18" charset="0"/>
              </a:rPr>
              <a:t>.</a:t>
            </a:r>
          </a:p>
          <a:p>
            <a:pPr marL="285750" lvl="0" indent="-285750" algn="just">
              <a:spcAft>
                <a:spcPts val="600"/>
              </a:spcAft>
              <a:buFont typeface="Arial" panose="020B0604020202020204" pitchFamily="34" charset="0"/>
              <a:buChar char="•"/>
            </a:pPr>
            <a:r>
              <a:rPr lang="en-US" sz="1600" dirty="0">
                <a:latin typeface="Bahnschrift" panose="020B0502040204020203" pitchFamily="34" charset="0"/>
                <a:cs typeface="Times New Roman" panose="02020603050405020304" pitchFamily="18" charset="0"/>
              </a:rPr>
              <a:t>Memper cepat proses kerja dengan otomasi model </a:t>
            </a:r>
            <a:r>
              <a:rPr lang="en-US" sz="1600" i="1" dirty="0">
                <a:latin typeface="Bahnschrift" panose="020B0502040204020203" pitchFamily="34" charset="0"/>
                <a:cs typeface="Times New Roman" panose="02020603050405020304" pitchFamily="18" charset="0"/>
              </a:rPr>
              <a:t>deep learning.</a:t>
            </a:r>
          </a:p>
          <a:p>
            <a:pPr marL="285750" lvl="0" indent="-285750" algn="just">
              <a:spcAft>
                <a:spcPts val="600"/>
              </a:spcAft>
              <a:buFont typeface="Arial" panose="020B0604020202020204" pitchFamily="34" charset="0"/>
              <a:buChar char="•"/>
            </a:pPr>
            <a:r>
              <a:rPr lang="en-US" sz="1600" dirty="0">
                <a:latin typeface="Bahnschrift" panose="020B0502040204020203" pitchFamily="34" charset="0"/>
                <a:cs typeface="Times New Roman" panose="02020603050405020304" pitchFamily="18" charset="0"/>
              </a:rPr>
              <a:t>Memberikan wawasan dan pemahaman yang lebih baik mengenai teknik-teknik klasifikasi dan deteksi hoaks menggunakan pendekatan </a:t>
            </a:r>
            <a:r>
              <a:rPr lang="en-US" sz="1600" i="1" dirty="0" err="1">
                <a:latin typeface="Bahnschrift" panose="020B0502040204020203" pitchFamily="34" charset="0"/>
                <a:cs typeface="Times New Roman" panose="02020603050405020304" pitchFamily="18" charset="0"/>
              </a:rPr>
              <a:t>multimodel</a:t>
            </a:r>
            <a:r>
              <a:rPr lang="en-US" sz="1600" i="1" dirty="0">
                <a:latin typeface="Bahnschrift" panose="020B0502040204020203" pitchFamily="34" charset="0"/>
                <a:cs typeface="Times New Roman" panose="02020603050405020304" pitchFamily="18" charset="0"/>
              </a:rPr>
              <a:t> deep learning</a:t>
            </a:r>
            <a:r>
              <a:rPr lang="en-US" sz="1600" dirty="0">
                <a:latin typeface="Bahnschrift" panose="020B0502040204020203" pitchFamily="34" charset="0"/>
                <a:cs typeface="Times New Roman" panose="02020603050405020304" pitchFamily="18" charset="0"/>
              </a:rPr>
              <a:t>.</a:t>
            </a:r>
          </a:p>
        </p:txBody>
      </p:sp>
      <p:sp>
        <p:nvSpPr>
          <p:cNvPr id="12" name="Title 1">
            <a:extLst>
              <a:ext uri="{FF2B5EF4-FFF2-40B4-BE49-F238E27FC236}">
                <a16:creationId xmlns:a16="http://schemas.microsoft.com/office/drawing/2014/main" id="{D7B20B6B-32F9-2468-17BF-479FE82F1FEA}"/>
              </a:ext>
            </a:extLst>
          </p:cNvPr>
          <p:cNvSpPr txBox="1">
            <a:spLocks/>
          </p:cNvSpPr>
          <p:nvPr/>
        </p:nvSpPr>
        <p:spPr>
          <a:xfrm>
            <a:off x="6109974" y="3848446"/>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51D7A8"/>
                </a:solidFill>
                <a:latin typeface="Bahnschrift SemiBold" panose="020B0502040204020203" pitchFamily="34" charset="0"/>
              </a:rPr>
              <a:t>BATASAN MASALAH</a:t>
            </a:r>
          </a:p>
        </p:txBody>
      </p:sp>
      <p:sp>
        <p:nvSpPr>
          <p:cNvPr id="19" name="TextBox 18">
            <a:extLst>
              <a:ext uri="{FF2B5EF4-FFF2-40B4-BE49-F238E27FC236}">
                <a16:creationId xmlns:a16="http://schemas.microsoft.com/office/drawing/2014/main" id="{0BAE451F-C7B5-4A7D-99AF-CC82B61E5281}"/>
              </a:ext>
            </a:extLst>
          </p:cNvPr>
          <p:cNvSpPr txBox="1"/>
          <p:nvPr/>
        </p:nvSpPr>
        <p:spPr>
          <a:xfrm>
            <a:off x="6096000" y="4454072"/>
            <a:ext cx="5340439" cy="1077218"/>
          </a:xfrm>
          <a:prstGeom prst="rect">
            <a:avLst/>
          </a:prstGeom>
          <a:noFill/>
        </p:spPr>
        <p:txBody>
          <a:bodyPr wrap="square" rtlCol="0">
            <a:spAutoFit/>
          </a:bodyPr>
          <a:lstStyle/>
          <a:p>
            <a:pPr lvl="0" algn="just">
              <a:spcAft>
                <a:spcPts val="600"/>
              </a:spcAft>
            </a:pPr>
            <a:r>
              <a:rPr lang="en-US" sz="1600" dirty="0">
                <a:latin typeface="Bahnschrift" panose="020B0502040204020203" pitchFamily="34" charset="0"/>
                <a:cs typeface="Times New Roman" panose="02020603050405020304" pitchFamily="18" charset="0"/>
              </a:rPr>
              <a:t>Menggunakan database website </a:t>
            </a:r>
            <a:r>
              <a:rPr lang="en-US" sz="1600" i="1" dirty="0">
                <a:latin typeface="Bahnschrift" panose="020B0502040204020203" pitchFamily="34" charset="0"/>
                <a:cs typeface="Times New Roman" panose="02020603050405020304" pitchFamily="18" charset="0"/>
              </a:rPr>
              <a:t>turnbackhoax.id </a:t>
            </a:r>
            <a:r>
              <a:rPr lang="en-US" sz="1600" dirty="0">
                <a:latin typeface="Bahnschrift" panose="020B0502040204020203" pitchFamily="34" charset="0"/>
                <a:cs typeface="Times New Roman" panose="02020603050405020304" pitchFamily="18" charset="0"/>
              </a:rPr>
              <a:t>dan </a:t>
            </a:r>
            <a:r>
              <a:rPr lang="en-US" sz="1600" i="1" dirty="0">
                <a:latin typeface="Bahnschrift" panose="020B0502040204020203" pitchFamily="34" charset="0"/>
                <a:cs typeface="Times New Roman" panose="02020603050405020304" pitchFamily="18" charset="0"/>
              </a:rPr>
              <a:t>republika.co.id </a:t>
            </a:r>
            <a:r>
              <a:rPr lang="en-US" sz="1600" dirty="0">
                <a:latin typeface="Bahnschrift" panose="020B0502040204020203" pitchFamily="34" charset="0"/>
                <a:cs typeface="Times New Roman" panose="02020603050405020304" pitchFamily="18" charset="0"/>
              </a:rPr>
              <a:t>dengan periode publikasi 1 Januari 2023 hingga 13 Oktober 2023. Penelitian berfokus pada foto berita dan konten berita</a:t>
            </a:r>
          </a:p>
        </p:txBody>
      </p:sp>
      <p:pic>
        <p:nvPicPr>
          <p:cNvPr id="3" name="Picture 2">
            <a:extLst>
              <a:ext uri="{FF2B5EF4-FFF2-40B4-BE49-F238E27FC236}">
                <a16:creationId xmlns:a16="http://schemas.microsoft.com/office/drawing/2014/main" id="{387A6EF2-401C-016F-AB58-BFD33CEB5FE4}"/>
              </a:ext>
            </a:extLst>
          </p:cNvPr>
          <p:cNvPicPr>
            <a:picLocks noChangeAspect="1"/>
          </p:cNvPicPr>
          <p:nvPr/>
        </p:nvPicPr>
        <p:blipFill>
          <a:blip r:embed="rId4"/>
          <a:stretch>
            <a:fillRect/>
          </a:stretch>
        </p:blipFill>
        <p:spPr>
          <a:xfrm>
            <a:off x="10575508" y="334546"/>
            <a:ext cx="785211" cy="769507"/>
          </a:xfrm>
          <a:prstGeom prst="rect">
            <a:avLst/>
          </a:prstGeom>
        </p:spPr>
      </p:pic>
      <p:pic>
        <p:nvPicPr>
          <p:cNvPr id="6" name="Picture 5">
            <a:extLst>
              <a:ext uri="{FF2B5EF4-FFF2-40B4-BE49-F238E27FC236}">
                <a16:creationId xmlns:a16="http://schemas.microsoft.com/office/drawing/2014/main" id="{AEB46AEE-EFB9-868D-DA95-8B552F89F5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21" name="TextBox 20">
            <a:extLst>
              <a:ext uri="{FF2B5EF4-FFF2-40B4-BE49-F238E27FC236}">
                <a16:creationId xmlns:a16="http://schemas.microsoft.com/office/drawing/2014/main" id="{96C5ADF0-209E-6393-9224-0D97D41BCE97}"/>
              </a:ext>
            </a:extLst>
          </p:cNvPr>
          <p:cNvSpPr txBox="1"/>
          <p:nvPr/>
        </p:nvSpPr>
        <p:spPr>
          <a:xfrm>
            <a:off x="579331" y="402123"/>
            <a:ext cx="1805244" cy="369332"/>
          </a:xfrm>
          <a:prstGeom prst="rect">
            <a:avLst/>
          </a:prstGeom>
          <a:solidFill>
            <a:srgbClr val="51D7A8"/>
          </a:solidFill>
        </p:spPr>
        <p:txBody>
          <a:bodyPr wrap="square" rtlCol="0">
            <a:spAutoFit/>
          </a:bodyPr>
          <a:lstStyle/>
          <a:p>
            <a:r>
              <a:rPr lang="en-US" dirty="0">
                <a:solidFill>
                  <a:schemeClr val="bg1"/>
                </a:solidFill>
              </a:rPr>
              <a:t>BAB I</a:t>
            </a:r>
          </a:p>
        </p:txBody>
      </p:sp>
      <p:sp>
        <p:nvSpPr>
          <p:cNvPr id="9" name="Title 1">
            <a:extLst>
              <a:ext uri="{FF2B5EF4-FFF2-40B4-BE49-F238E27FC236}">
                <a16:creationId xmlns:a16="http://schemas.microsoft.com/office/drawing/2014/main" id="{9BA05AAB-64A9-4B2B-86E1-055F8B517FE9}"/>
              </a:ext>
            </a:extLst>
          </p:cNvPr>
          <p:cNvSpPr txBox="1">
            <a:spLocks/>
          </p:cNvSpPr>
          <p:nvPr/>
        </p:nvSpPr>
        <p:spPr>
          <a:xfrm>
            <a:off x="450464" y="2929941"/>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51D7A8"/>
                </a:solidFill>
                <a:latin typeface="Bahnschrift SemiBold" panose="020B0502040204020203" pitchFamily="34" charset="0"/>
              </a:rPr>
              <a:t>TUJUAN</a:t>
            </a:r>
          </a:p>
        </p:txBody>
      </p:sp>
      <p:sp>
        <p:nvSpPr>
          <p:cNvPr id="10" name="TextBox 9">
            <a:extLst>
              <a:ext uri="{FF2B5EF4-FFF2-40B4-BE49-F238E27FC236}">
                <a16:creationId xmlns:a16="http://schemas.microsoft.com/office/drawing/2014/main" id="{9FCF8E8D-B2F1-5A02-376C-E6B181C3A0D9}"/>
              </a:ext>
            </a:extLst>
          </p:cNvPr>
          <p:cNvSpPr txBox="1"/>
          <p:nvPr/>
        </p:nvSpPr>
        <p:spPr>
          <a:xfrm>
            <a:off x="436491" y="3561071"/>
            <a:ext cx="4646932" cy="1970219"/>
          </a:xfrm>
          <a:prstGeom prst="rect">
            <a:avLst/>
          </a:prstGeom>
          <a:noFill/>
        </p:spPr>
        <p:txBody>
          <a:bodyPr wrap="square" rtlCol="0">
            <a:spAutoFit/>
          </a:bodyPr>
          <a:lstStyle/>
          <a:p>
            <a:pPr marL="342900" marR="0" lvl="0" indent="-342900" algn="just">
              <a:lnSpc>
                <a:spcPct val="107000"/>
              </a:lnSpc>
              <a:spcBef>
                <a:spcPts val="0"/>
              </a:spcBef>
              <a:spcAft>
                <a:spcPts val="800"/>
              </a:spcAft>
              <a:buFont typeface="+mj-lt"/>
              <a:buAutoNum type="arabicPeriod"/>
            </a:pPr>
            <a:r>
              <a:rPr lang="en-US" sz="1600" dirty="0">
                <a:latin typeface="Bahnschrift" panose="020B0502040204020203" pitchFamily="34" charset="0"/>
                <a:ea typeface="Yu Mincho" panose="02020400000000000000" pitchFamily="18" charset="-128"/>
              </a:rPr>
              <a:t>Membangun </a:t>
            </a:r>
            <a:r>
              <a:rPr lang="en-US" sz="1600" i="1" dirty="0" err="1">
                <a:latin typeface="Bahnschrift" panose="020B0502040204020203" pitchFamily="34" charset="0"/>
                <a:ea typeface="Yu Mincho" panose="02020400000000000000" pitchFamily="18" charset="-128"/>
              </a:rPr>
              <a:t>multimodel</a:t>
            </a:r>
            <a:r>
              <a:rPr lang="en-US" sz="1600" i="1" dirty="0">
                <a:latin typeface="Bahnschrift" panose="020B0502040204020203" pitchFamily="34" charset="0"/>
                <a:ea typeface="Yu Mincho" panose="02020400000000000000" pitchFamily="18" charset="-128"/>
              </a:rPr>
              <a:t> deep learning </a:t>
            </a:r>
            <a:r>
              <a:rPr lang="en-US" sz="1600" dirty="0">
                <a:latin typeface="Bahnschrift" panose="020B0502040204020203" pitchFamily="34" charset="0"/>
                <a:ea typeface="Yu Mincho" panose="02020400000000000000" pitchFamily="18" charset="-128"/>
              </a:rPr>
              <a:t>mengklasifikasikan berita hoaks dan fakta berbahasa Indonesia.</a:t>
            </a:r>
          </a:p>
          <a:p>
            <a:pPr marL="342900" indent="-342900" algn="just">
              <a:buFont typeface="+mj-lt"/>
              <a:buAutoNum type="arabicPeriod"/>
            </a:pPr>
            <a:r>
              <a:rPr lang="en-US" sz="1600" dirty="0">
                <a:latin typeface="Bahnschrift" panose="020B0502040204020203" pitchFamily="34" charset="0"/>
                <a:ea typeface="Yu Mincho" panose="02020400000000000000" pitchFamily="18" charset="-128"/>
              </a:rPr>
              <a:t>Melakukan perbandingan evaluasi model pada </a:t>
            </a:r>
            <a:r>
              <a:rPr lang="en-US" sz="1600" i="1" dirty="0" err="1">
                <a:latin typeface="Bahnschrift" panose="020B0502040204020203" pitchFamily="34" charset="0"/>
                <a:ea typeface="Yu Mincho" panose="02020400000000000000" pitchFamily="18" charset="-128"/>
              </a:rPr>
              <a:t>multimodel</a:t>
            </a:r>
            <a:r>
              <a:rPr lang="en-US" sz="1600" dirty="0">
                <a:latin typeface="Bahnschrift" panose="020B0502040204020203" pitchFamily="34" charset="0"/>
                <a:ea typeface="Yu Mincho" panose="02020400000000000000" pitchFamily="18" charset="-128"/>
              </a:rPr>
              <a:t> dan </a:t>
            </a:r>
            <a:r>
              <a:rPr lang="en-US" sz="1600" i="1" dirty="0" err="1">
                <a:latin typeface="Bahnschrift" panose="020B0502040204020203" pitchFamily="34" charset="0"/>
                <a:ea typeface="Yu Mincho" panose="02020400000000000000" pitchFamily="18" charset="-128"/>
              </a:rPr>
              <a:t>unimodel</a:t>
            </a:r>
            <a:r>
              <a:rPr lang="en-US" sz="1600" i="1" dirty="0">
                <a:latin typeface="Bahnschrift" panose="020B0502040204020203" pitchFamily="34" charset="0"/>
                <a:ea typeface="Yu Mincho" panose="02020400000000000000" pitchFamily="18" charset="-128"/>
              </a:rPr>
              <a:t> </a:t>
            </a:r>
            <a:r>
              <a:rPr lang="en-US" sz="1600" dirty="0">
                <a:latin typeface="Bahnschrift" panose="020B0502040204020203" pitchFamily="34" charset="0"/>
                <a:ea typeface="Yu Mincho" panose="02020400000000000000" pitchFamily="18" charset="-128"/>
              </a:rPr>
              <a:t>dalam mengklasifikasikan berita hoaks dan fakta berbahasa Indonesia.</a:t>
            </a:r>
          </a:p>
        </p:txBody>
      </p:sp>
    </p:spTree>
    <p:extLst>
      <p:ext uri="{BB962C8B-B14F-4D97-AF65-F5344CB8AC3E}">
        <p14:creationId xmlns:p14="http://schemas.microsoft.com/office/powerpoint/2010/main" val="362272851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6957DD"/>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a:bodyPr>
          <a:lstStyle/>
          <a:p>
            <a:r>
              <a:rPr lang="en-US" sz="2800" dirty="0">
                <a:solidFill>
                  <a:srgbClr val="6957DD"/>
                </a:solidFill>
                <a:latin typeface="Bahnschrift SemiBold" panose="020B0502040204020203" pitchFamily="34" charset="0"/>
              </a:rPr>
              <a:t>TINJAUAN PUSTAKA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rgbClr val="6957DD"/>
          </a:solidFill>
        </p:spPr>
        <p:txBody>
          <a:bodyPr wrap="square" rtlCol="0">
            <a:spAutoFit/>
          </a:bodyPr>
          <a:lstStyle/>
          <a:p>
            <a:r>
              <a:rPr lang="en-US" dirty="0">
                <a:solidFill>
                  <a:schemeClr val="bg1"/>
                </a:solidFill>
                <a:latin typeface="Bahnschrift SemiBold" panose="020B0502040204020203" pitchFamily="34" charset="0"/>
              </a:rPr>
              <a:t>BAB II</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6</a:t>
            </a:r>
            <a:endParaRPr lang="en-US" sz="2000" b="1" dirty="0"/>
          </a:p>
        </p:txBody>
      </p:sp>
      <p:sp>
        <p:nvSpPr>
          <p:cNvPr id="3" name="Title 1">
            <a:extLst>
              <a:ext uri="{FF2B5EF4-FFF2-40B4-BE49-F238E27FC236}">
                <a16:creationId xmlns:a16="http://schemas.microsoft.com/office/drawing/2014/main" id="{BCBB8550-9D31-F4F2-DB49-2A043C0300D5}"/>
              </a:ext>
            </a:extLst>
          </p:cNvPr>
          <p:cNvSpPr txBox="1">
            <a:spLocks/>
          </p:cNvSpPr>
          <p:nvPr/>
        </p:nvSpPr>
        <p:spPr>
          <a:xfrm>
            <a:off x="482101" y="1256664"/>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err="1">
                <a:solidFill>
                  <a:srgbClr val="6957DD"/>
                </a:solidFill>
                <a:latin typeface="Bahnschrift SemiBold" panose="020B0502040204020203" pitchFamily="34" charset="0"/>
              </a:rPr>
              <a:t>Penelitian</a:t>
            </a:r>
            <a:r>
              <a:rPr lang="en-US" sz="1800" dirty="0">
                <a:solidFill>
                  <a:srgbClr val="6957DD"/>
                </a:solidFill>
                <a:latin typeface="Bahnschrift SemiBold" panose="020B0502040204020203" pitchFamily="34" charset="0"/>
              </a:rPr>
              <a:t> </a:t>
            </a:r>
            <a:r>
              <a:rPr lang="en-US" sz="1800" dirty="0" err="1">
                <a:solidFill>
                  <a:srgbClr val="6957DD"/>
                </a:solidFill>
                <a:latin typeface="Bahnschrift SemiBold" panose="020B0502040204020203" pitchFamily="34" charset="0"/>
              </a:rPr>
              <a:t>Terdahulu</a:t>
            </a:r>
            <a:endParaRPr lang="en-US" sz="1800" dirty="0">
              <a:solidFill>
                <a:srgbClr val="6957DD"/>
              </a:solidFill>
              <a:latin typeface="Bahnschrift SemiBold" panose="020B0502040204020203" pitchFamily="34" charset="0"/>
            </a:endParaRPr>
          </a:p>
        </p:txBody>
      </p:sp>
      <p:sp>
        <p:nvSpPr>
          <p:cNvPr id="12" name="TextBox 11">
            <a:extLst>
              <a:ext uri="{FF2B5EF4-FFF2-40B4-BE49-F238E27FC236}">
                <a16:creationId xmlns:a16="http://schemas.microsoft.com/office/drawing/2014/main" id="{654BC6F2-4323-969C-45BF-F0E829F641C0}"/>
              </a:ext>
            </a:extLst>
          </p:cNvPr>
          <p:cNvSpPr txBox="1"/>
          <p:nvPr/>
        </p:nvSpPr>
        <p:spPr>
          <a:xfrm>
            <a:off x="482101" y="1946916"/>
            <a:ext cx="5349984" cy="4220964"/>
          </a:xfrm>
          <a:prstGeom prst="rect">
            <a:avLst/>
          </a:prstGeom>
          <a:noFill/>
        </p:spPr>
        <p:txBody>
          <a:bodyPr wrap="square">
            <a:spAutoFit/>
          </a:bodyPr>
          <a:lstStyle/>
          <a:p>
            <a:pPr marL="342900" lvl="0" indent="-342900" algn="just">
              <a:lnSpc>
                <a:spcPct val="107000"/>
              </a:lnSpc>
              <a:buFont typeface="+mj-lt"/>
              <a:buAutoNum type="arabicPeriod"/>
            </a:pPr>
            <a:r>
              <a:rPr lang="en-US" sz="1400" dirty="0" err="1">
                <a:latin typeface="Bahnschrift" panose="020B0502040204020203" pitchFamily="34" charset="0"/>
                <a:ea typeface="Yu Mincho" panose="02020400000000000000" pitchFamily="18" charset="-128"/>
                <a:cs typeface="Times New Roman" panose="02020603050405020304" pitchFamily="18" charset="0"/>
              </a:rPr>
              <a:t>Yuliani</a:t>
            </a:r>
            <a:r>
              <a:rPr lang="en-US" sz="1400" dirty="0">
                <a:latin typeface="Bahnschrift" panose="020B0502040204020203" pitchFamily="34" charset="0"/>
                <a:ea typeface="Yu Mincho" panose="02020400000000000000" pitchFamily="18" charset="-128"/>
                <a:cs typeface="Times New Roman" panose="02020603050405020304" pitchFamily="18" charset="0"/>
              </a:rPr>
              <a:t> dan Sahib</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model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neural network</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(NN) memiliki hasil akurasi</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terbaik sebesar 93,33%. Sedangkan model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support vektor machine</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(SVM),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naive bayes, decision tree, logistic regression nilai </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akurasi</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tidak lebih besar dari 91%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Yuliani</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2019).</a:t>
            </a:r>
          </a:p>
          <a:p>
            <a:pPr marL="342900" lvl="0" indent="-342900" algn="just">
              <a:lnSpc>
                <a:spcPct val="107000"/>
              </a:lnSpc>
              <a:buFont typeface="+mj-lt"/>
              <a:buAutoNum type="arabicPeriod"/>
            </a:pP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Ferda</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Olfi</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arsitektur </a:t>
            </a:r>
            <a:r>
              <a:rPr lang="en-US" sz="1400" i="1" dirty="0" err="1">
                <a:effectLst/>
                <a:latin typeface="Bahnschrift" panose="020B0502040204020203" pitchFamily="34" charset="0"/>
                <a:ea typeface="Yu Mincho" panose="02020400000000000000" pitchFamily="18" charset="-128"/>
                <a:cs typeface="Times New Roman" panose="02020603050405020304" pitchFamily="18" charset="0"/>
              </a:rPr>
              <a:t>multimodel</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yang diusulkan memberikan kinerja yang lebih baik daripada model yang dilatih menggunakan satu model saja (misalnya, teks atau gambar saja)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Ofli</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2020)</a:t>
            </a:r>
          </a:p>
          <a:p>
            <a:pPr marL="342900" lvl="0" indent="-342900" algn="just">
              <a:lnSpc>
                <a:spcPct val="107000"/>
              </a:lnSpc>
              <a:buFont typeface="+mj-lt"/>
              <a:buAutoNum type="arabicPeriod"/>
            </a:pP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Antonius dan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Metty</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dalam klasifikasi berita hoaks berbahasa Indonesia. Hasil penelitian menunjukkan akurasi model CNN sebesar 88%, sedangkan model LSTM 4%</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lebih rendah dibawah CNN </a:t>
            </a:r>
            <a:r>
              <a:rPr lang="en-US" sz="1400" i="0" dirty="0">
                <a:effectLst/>
                <a:latin typeface="Bahnschrift" panose="020B0502040204020203" pitchFamily="34" charset="0"/>
                <a:ea typeface="Yu Mincho" panose="02020400000000000000" pitchFamily="18" charset="-128"/>
                <a:cs typeface="Times New Roman" panose="02020603050405020304" pitchFamily="18" charset="0"/>
              </a:rPr>
              <a:t>(Kurniawan, 2021)</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a:p>
            <a:pPr marL="342900" lvl="0" indent="-342900" algn="just">
              <a:lnSpc>
                <a:spcPct val="107000"/>
              </a:lnSpc>
              <a:buFont typeface="+mj-lt"/>
              <a:buAutoNum type="arabicPeriod"/>
            </a:pPr>
            <a:r>
              <a:rPr lang="en-US" sz="1400" dirty="0">
                <a:latin typeface="Bahnschrift" panose="020B0502040204020203" pitchFamily="34" charset="0"/>
                <a:ea typeface="Yu Mincho" panose="02020400000000000000" pitchFamily="18" charset="-128"/>
                <a:cs typeface="Times New Roman" panose="02020603050405020304" pitchFamily="18" charset="0"/>
              </a:rPr>
              <a:t>Selanjutnya penelitian yang dilakukan Hussein, </a:t>
            </a:r>
            <a:r>
              <a:rPr lang="en-US" sz="1400" dirty="0" err="1">
                <a:latin typeface="Bahnschrift" panose="020B0502040204020203" pitchFamily="34" charset="0"/>
                <a:ea typeface="Yu Mincho" panose="02020400000000000000" pitchFamily="18" charset="-128"/>
                <a:cs typeface="Times New Roman" panose="02020603050405020304" pitchFamily="18" charset="0"/>
              </a:rPr>
              <a:t>Rizk</a:t>
            </a:r>
            <a:r>
              <a:rPr lang="en-US" sz="1400" dirty="0">
                <a:latin typeface="Bahnschrift" panose="020B0502040204020203" pitchFamily="34" charset="0"/>
                <a:ea typeface="Yu Mincho" panose="02020400000000000000" pitchFamily="18" charset="-128"/>
                <a:cs typeface="Times New Roman" panose="02020603050405020304" pitchFamily="18" charset="0"/>
              </a:rPr>
              <a:t>, dan Award . Hasil pengujian model tunggal memiliki hasil akurasi dibawah 90%, sementara </a:t>
            </a:r>
            <a:r>
              <a:rPr lang="en-US" sz="1400" dirty="0" err="1">
                <a:latin typeface="Bahnschrift" panose="020B0502040204020203" pitchFamily="34" charset="0"/>
                <a:ea typeface="Yu Mincho" panose="02020400000000000000" pitchFamily="18" charset="-128"/>
                <a:cs typeface="Times New Roman" panose="02020603050405020304" pitchFamily="18" charset="0"/>
              </a:rPr>
              <a:t>multimodel</a:t>
            </a:r>
            <a:r>
              <a:rPr lang="en-US" sz="1400" dirty="0">
                <a:latin typeface="Bahnschrift" panose="020B0502040204020203" pitchFamily="34" charset="0"/>
                <a:ea typeface="Yu Mincho" panose="02020400000000000000" pitchFamily="18" charset="-128"/>
                <a:cs typeface="Times New Roman" panose="02020603050405020304" pitchFamily="18" charset="0"/>
              </a:rPr>
              <a:t> deep learning memiliki akurasi di atas 90% (</a:t>
            </a:r>
            <a:r>
              <a:rPr lang="en-US" sz="1400" dirty="0" err="1">
                <a:latin typeface="Bahnschrift" panose="020B0502040204020203" pitchFamily="34" charset="0"/>
                <a:ea typeface="Yu Mincho" panose="02020400000000000000" pitchFamily="18" charset="-128"/>
                <a:cs typeface="Times New Roman" panose="02020603050405020304" pitchFamily="18" charset="0"/>
              </a:rPr>
              <a:t>Mouzannar</a:t>
            </a:r>
            <a:r>
              <a:rPr lang="en-US" sz="1400" dirty="0">
                <a:latin typeface="Bahnschrift" panose="020B0502040204020203" pitchFamily="34" charset="0"/>
                <a:ea typeface="Yu Mincho" panose="02020400000000000000" pitchFamily="18" charset="-128"/>
                <a:cs typeface="Times New Roman" panose="02020603050405020304" pitchFamily="18" charset="0"/>
              </a:rPr>
              <a:t>, 2018)</a:t>
            </a:r>
          </a:p>
          <a:p>
            <a:pPr marL="342900" lvl="0" indent="-342900" algn="just">
              <a:lnSpc>
                <a:spcPct val="107000"/>
              </a:lnSpc>
              <a:buFont typeface="+mj-lt"/>
              <a:buAutoNum type="arabicPeriod"/>
            </a:pP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p:txBody>
      </p:sp>
      <p:pic>
        <p:nvPicPr>
          <p:cNvPr id="2" name="Picture 1">
            <a:extLst>
              <a:ext uri="{FF2B5EF4-FFF2-40B4-BE49-F238E27FC236}">
                <a16:creationId xmlns:a16="http://schemas.microsoft.com/office/drawing/2014/main" id="{326CEC4B-27FA-0143-BD6C-41864B9CEF4A}"/>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4" name="Picture 3">
            <a:extLst>
              <a:ext uri="{FF2B5EF4-FFF2-40B4-BE49-F238E27FC236}">
                <a16:creationId xmlns:a16="http://schemas.microsoft.com/office/drawing/2014/main" id="{4FCD8049-C5AC-C532-E163-BD1A2305E3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8" name="Title 1">
            <a:extLst>
              <a:ext uri="{FF2B5EF4-FFF2-40B4-BE49-F238E27FC236}">
                <a16:creationId xmlns:a16="http://schemas.microsoft.com/office/drawing/2014/main" id="{205A5007-F6B0-1FD2-EB30-98293FBAF33F}"/>
              </a:ext>
            </a:extLst>
          </p:cNvPr>
          <p:cNvSpPr txBox="1">
            <a:spLocks/>
          </p:cNvSpPr>
          <p:nvPr/>
        </p:nvSpPr>
        <p:spPr>
          <a:xfrm>
            <a:off x="6368552" y="1253569"/>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solidFill>
                  <a:srgbClr val="6957DD"/>
                </a:solidFill>
                <a:latin typeface="Bahnschrift SemiBold" panose="020B0502040204020203" pitchFamily="34" charset="0"/>
              </a:rPr>
              <a:t>Deep Learning</a:t>
            </a:r>
          </a:p>
        </p:txBody>
      </p:sp>
      <p:sp>
        <p:nvSpPr>
          <p:cNvPr id="9" name="TextBox 8">
            <a:extLst>
              <a:ext uri="{FF2B5EF4-FFF2-40B4-BE49-F238E27FC236}">
                <a16:creationId xmlns:a16="http://schemas.microsoft.com/office/drawing/2014/main" id="{80FFF3A5-A856-5ABE-2A21-556B72E75CDD}"/>
              </a:ext>
            </a:extLst>
          </p:cNvPr>
          <p:cNvSpPr txBox="1"/>
          <p:nvPr/>
        </p:nvSpPr>
        <p:spPr>
          <a:xfrm>
            <a:off x="6368552" y="1911331"/>
            <a:ext cx="4790303" cy="1323439"/>
          </a:xfrm>
          <a:prstGeom prst="rect">
            <a:avLst/>
          </a:prstGeom>
          <a:noFill/>
        </p:spPr>
        <p:txBody>
          <a:bodyPr wrap="square">
            <a:spAutoFit/>
          </a:bodyPr>
          <a:lstStyle/>
          <a:p>
            <a:pPr algn="just"/>
            <a:r>
              <a:rPr lang="en-US" sz="1400" i="1" dirty="0">
                <a:solidFill>
                  <a:srgbClr val="000000"/>
                </a:solidFill>
                <a:latin typeface="Bahnschrift" panose="020B0502040204020203" pitchFamily="34" charset="0"/>
                <a:ea typeface="Yu Mincho" panose="02020400000000000000" pitchFamily="18" charset="-128"/>
              </a:rPr>
              <a:t>Deep learning </a:t>
            </a:r>
            <a:r>
              <a:rPr lang="en-US" sz="1400" dirty="0">
                <a:solidFill>
                  <a:srgbClr val="000000"/>
                </a:solidFill>
                <a:latin typeface="Bahnschrift" panose="020B0502040204020203" pitchFamily="34" charset="0"/>
                <a:ea typeface="Yu Mincho" panose="02020400000000000000" pitchFamily="18" charset="-128"/>
              </a:rPr>
              <a:t>merupakan bagian dari </a:t>
            </a:r>
            <a:r>
              <a:rPr lang="en-US" sz="1400" i="1" dirty="0">
                <a:solidFill>
                  <a:srgbClr val="000000"/>
                </a:solidFill>
                <a:latin typeface="Bahnschrift" panose="020B0502040204020203" pitchFamily="34" charset="0"/>
                <a:ea typeface="Yu Mincho" panose="02020400000000000000" pitchFamily="18" charset="-128"/>
              </a:rPr>
              <a:t>machine learning </a:t>
            </a:r>
            <a:r>
              <a:rPr lang="en-US" sz="1400" dirty="0">
                <a:solidFill>
                  <a:srgbClr val="000000"/>
                </a:solidFill>
                <a:latin typeface="Bahnschrift" panose="020B0502040204020203" pitchFamily="34" charset="0"/>
                <a:ea typeface="Yu Mincho" panose="02020400000000000000" pitchFamily="18" charset="-128"/>
              </a:rPr>
              <a:t>yaitu, sebagai pembaruan dari neural network multiple. Proses pembelajaran deep learning didasarkan pada ekstraksi fitur otomatis dan hierarkis menggunakan NN.</a:t>
            </a:r>
            <a:endParaRPr lang="en-US" sz="1400" i="1" dirty="0">
              <a:solidFill>
                <a:srgbClr val="000000"/>
              </a:solidFill>
              <a:latin typeface="Bahnschrift" panose="020B0502040204020203" pitchFamily="34" charset="0"/>
              <a:ea typeface="Yu Mincho" panose="02020400000000000000" pitchFamily="18" charset="-128"/>
            </a:endParaRPr>
          </a:p>
          <a:p>
            <a:pPr algn="just"/>
            <a:endParaRPr lang="en-US" sz="1400" i="1" dirty="0">
              <a:solidFill>
                <a:srgbClr val="000000"/>
              </a:solidFill>
              <a:effectLst/>
              <a:latin typeface="Bahnschrift" panose="020B0502040204020203" pitchFamily="34" charset="0"/>
              <a:ea typeface="Yu Mincho" panose="02020400000000000000" pitchFamily="18" charset="-128"/>
            </a:endParaRPr>
          </a:p>
          <a:p>
            <a:pPr algn="just"/>
            <a:endParaRPr lang="en-US" sz="1000" dirty="0">
              <a:latin typeface="Bahnschrift" panose="020B0502040204020203" pitchFamily="34" charset="0"/>
            </a:endParaRPr>
          </a:p>
        </p:txBody>
      </p:sp>
      <p:pic>
        <p:nvPicPr>
          <p:cNvPr id="7172" name="Picture 4" descr="Deep Learning Spreads">
            <a:extLst>
              <a:ext uri="{FF2B5EF4-FFF2-40B4-BE49-F238E27FC236}">
                <a16:creationId xmlns:a16="http://schemas.microsoft.com/office/drawing/2014/main" id="{CDB05021-98AA-2D35-EECF-DFF8C175D4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2308" y="3263228"/>
            <a:ext cx="4237289" cy="2341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96785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6957DD"/>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rgbClr val="6957DD"/>
          </a:solidFill>
        </p:spPr>
        <p:txBody>
          <a:bodyPr wrap="square" rtlCol="0">
            <a:spAutoFit/>
          </a:bodyPr>
          <a:lstStyle/>
          <a:p>
            <a:r>
              <a:rPr lang="en-US" dirty="0">
                <a:solidFill>
                  <a:schemeClr val="bg1"/>
                </a:solidFill>
                <a:latin typeface="Bahnschrift SemiBold" panose="020B0502040204020203" pitchFamily="34" charset="0"/>
              </a:rPr>
              <a:t>BAB II</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sp>
        <p:nvSpPr>
          <p:cNvPr id="25" name="Title 1">
            <a:extLst>
              <a:ext uri="{FF2B5EF4-FFF2-40B4-BE49-F238E27FC236}">
                <a16:creationId xmlns:a16="http://schemas.microsoft.com/office/drawing/2014/main" id="{E896F581-4054-2A90-C805-AA9F154216F2}"/>
              </a:ext>
            </a:extLst>
          </p:cNvPr>
          <p:cNvSpPr txBox="1">
            <a:spLocks/>
          </p:cNvSpPr>
          <p:nvPr/>
        </p:nvSpPr>
        <p:spPr>
          <a:xfrm>
            <a:off x="6482017" y="771455"/>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solidFill>
                  <a:srgbClr val="6957DD"/>
                </a:solidFill>
                <a:latin typeface="Bahnschrift SemiBold" panose="020B0502040204020203" pitchFamily="34" charset="0"/>
              </a:rPr>
              <a:t>Convolution Neural Network</a:t>
            </a:r>
          </a:p>
        </p:txBody>
      </p:sp>
      <p:sp>
        <p:nvSpPr>
          <p:cNvPr id="26" name="TextBox 25">
            <a:extLst>
              <a:ext uri="{FF2B5EF4-FFF2-40B4-BE49-F238E27FC236}">
                <a16:creationId xmlns:a16="http://schemas.microsoft.com/office/drawing/2014/main" id="{9E219F2C-5FF1-A2E2-584B-C1752DA03B56}"/>
              </a:ext>
            </a:extLst>
          </p:cNvPr>
          <p:cNvSpPr txBox="1"/>
          <p:nvPr/>
        </p:nvSpPr>
        <p:spPr>
          <a:xfrm>
            <a:off x="6509345" y="1358238"/>
            <a:ext cx="4790303" cy="1384995"/>
          </a:xfrm>
          <a:prstGeom prst="rect">
            <a:avLst/>
          </a:prstGeom>
          <a:noFill/>
        </p:spPr>
        <p:txBody>
          <a:bodyPr wrap="square">
            <a:spAutoFit/>
          </a:bodyPr>
          <a:lstStyle/>
          <a:p>
            <a:pPr algn="just"/>
            <a:r>
              <a:rPr lang="en-US" sz="1400" i="1" dirty="0">
                <a:solidFill>
                  <a:srgbClr val="000000"/>
                </a:solidFill>
                <a:effectLst/>
                <a:latin typeface="Bahnschrift" panose="020B0502040204020203" pitchFamily="34" charset="0"/>
                <a:ea typeface="Yu Mincho" panose="02020400000000000000" pitchFamily="18" charset="-128"/>
              </a:rPr>
              <a:t>Convolutional Neural Network</a:t>
            </a:r>
            <a:r>
              <a:rPr lang="en-US" sz="1400" dirty="0">
                <a:solidFill>
                  <a:srgbClr val="000000"/>
                </a:solidFill>
                <a:effectLst/>
                <a:latin typeface="Bahnschrift" panose="020B0502040204020203" pitchFamily="34" charset="0"/>
                <a:ea typeface="Yu Mincho" panose="02020400000000000000" pitchFamily="18" charset="-128"/>
              </a:rPr>
              <a:t> (CNN) adalah arsitektur </a:t>
            </a:r>
            <a:r>
              <a:rPr lang="en-US" sz="1400" i="1" dirty="0">
                <a:solidFill>
                  <a:srgbClr val="000000"/>
                </a:solidFill>
                <a:effectLst/>
                <a:latin typeface="Bahnschrift" panose="020B0502040204020203" pitchFamily="34" charset="0"/>
                <a:ea typeface="Yu Mincho" panose="02020400000000000000" pitchFamily="18" charset="-128"/>
              </a:rPr>
              <a:t>deep learning</a:t>
            </a:r>
            <a:r>
              <a:rPr lang="en-US" sz="1400" dirty="0">
                <a:solidFill>
                  <a:srgbClr val="000000"/>
                </a:solidFill>
                <a:effectLst/>
                <a:latin typeface="Bahnschrift" panose="020B0502040204020203" pitchFamily="34" charset="0"/>
                <a:ea typeface="Yu Mincho" panose="02020400000000000000" pitchFamily="18" charset="-128"/>
              </a:rPr>
              <a:t> yang </a:t>
            </a:r>
            <a:r>
              <a:rPr lang="en-US" sz="1400" dirty="0" err="1">
                <a:solidFill>
                  <a:srgbClr val="000000"/>
                </a:solidFill>
                <a:effectLst/>
                <a:latin typeface="Bahnschrift" panose="020B0502040204020203" pitchFamily="34" charset="0"/>
                <a:ea typeface="Yu Mincho" panose="02020400000000000000" pitchFamily="18" charset="-128"/>
              </a:rPr>
              <a:t>menggunkan</a:t>
            </a:r>
            <a:r>
              <a:rPr lang="en-US" sz="1400" dirty="0">
                <a:solidFill>
                  <a:srgbClr val="000000"/>
                </a:solidFill>
                <a:effectLst/>
                <a:latin typeface="Bahnschrift" panose="020B0502040204020203" pitchFamily="34" charset="0"/>
                <a:ea typeface="Yu Mincho" panose="02020400000000000000" pitchFamily="18" charset="-128"/>
              </a:rPr>
              <a:t> konvolusi sebagai metode ekstraksi fitur serta terkenal dalam pengolahan data gambar yang terinspirasi dari mekanisme persepsi visual alami makhluk hidup. Arsitektur CNN terdiri dari </a:t>
            </a:r>
            <a:r>
              <a:rPr lang="en-US" sz="1400" i="1" dirty="0">
                <a:solidFill>
                  <a:srgbClr val="000000"/>
                </a:solidFill>
                <a:effectLst/>
                <a:latin typeface="Bahnschrift" panose="020B0502040204020203" pitchFamily="34" charset="0"/>
                <a:ea typeface="Yu Mincho" panose="02020400000000000000" pitchFamily="18" charset="-128"/>
              </a:rPr>
              <a:t>input layer</a:t>
            </a:r>
            <a:r>
              <a:rPr lang="en-US" sz="1400" dirty="0">
                <a:solidFill>
                  <a:srgbClr val="000000"/>
                </a:solidFill>
                <a:effectLst/>
                <a:latin typeface="Bahnschrift" panose="020B0502040204020203" pitchFamily="34" charset="0"/>
                <a:ea typeface="Yu Mincho" panose="02020400000000000000" pitchFamily="18" charset="-128"/>
              </a:rPr>
              <a:t>, </a:t>
            </a:r>
            <a:r>
              <a:rPr lang="en-US" sz="1400" i="1" dirty="0">
                <a:solidFill>
                  <a:srgbClr val="000000"/>
                </a:solidFill>
                <a:effectLst/>
                <a:latin typeface="Bahnschrift" panose="020B0502040204020203" pitchFamily="34" charset="0"/>
                <a:ea typeface="Yu Mincho" panose="02020400000000000000" pitchFamily="18" charset="-128"/>
              </a:rPr>
              <a:t>hidden layers, </a:t>
            </a:r>
            <a:r>
              <a:rPr lang="en-US" sz="1400" dirty="0">
                <a:solidFill>
                  <a:srgbClr val="000000"/>
                </a:solidFill>
                <a:effectLst/>
                <a:latin typeface="Bahnschrift" panose="020B0502040204020203" pitchFamily="34" charset="0"/>
                <a:ea typeface="Yu Mincho" panose="02020400000000000000" pitchFamily="18" charset="-128"/>
              </a:rPr>
              <a:t>dan </a:t>
            </a:r>
            <a:r>
              <a:rPr lang="en-US" sz="1400" i="1" dirty="0">
                <a:solidFill>
                  <a:srgbClr val="000000"/>
                </a:solidFill>
                <a:effectLst/>
                <a:latin typeface="Bahnschrift" panose="020B0502040204020203" pitchFamily="34" charset="0"/>
                <a:ea typeface="Yu Mincho" panose="02020400000000000000" pitchFamily="18" charset="-128"/>
              </a:rPr>
              <a:t>output layer. </a:t>
            </a:r>
            <a:endParaRPr lang="en-US" sz="1000" dirty="0">
              <a:latin typeface="Bahnschrift" panose="020B0502040204020203" pitchFamily="34" charset="0"/>
            </a:endParaRPr>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9" name="Title 1">
            <a:extLst>
              <a:ext uri="{FF2B5EF4-FFF2-40B4-BE49-F238E27FC236}">
                <a16:creationId xmlns:a16="http://schemas.microsoft.com/office/drawing/2014/main" id="{EABFEBC0-CAD8-7EAF-1F71-C79ECF606EA7}"/>
              </a:ext>
            </a:extLst>
          </p:cNvPr>
          <p:cNvSpPr txBox="1">
            <a:spLocks/>
          </p:cNvSpPr>
          <p:nvPr/>
        </p:nvSpPr>
        <p:spPr>
          <a:xfrm>
            <a:off x="517868" y="771455"/>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rgbClr val="6957DD"/>
                </a:solidFill>
                <a:latin typeface="Bahnschrift SemiBold" panose="020B0502040204020203" pitchFamily="34" charset="0"/>
              </a:rPr>
              <a:t>TF-IDF</a:t>
            </a:r>
          </a:p>
        </p:txBody>
      </p:sp>
      <p:sp>
        <p:nvSpPr>
          <p:cNvPr id="10" name="TextBox 9">
            <a:extLst>
              <a:ext uri="{FF2B5EF4-FFF2-40B4-BE49-F238E27FC236}">
                <a16:creationId xmlns:a16="http://schemas.microsoft.com/office/drawing/2014/main" id="{9B5631F1-4F60-3216-4343-DD61D8537ED4}"/>
              </a:ext>
            </a:extLst>
          </p:cNvPr>
          <p:cNvSpPr txBox="1"/>
          <p:nvPr/>
        </p:nvSpPr>
        <p:spPr>
          <a:xfrm>
            <a:off x="545196" y="1358238"/>
            <a:ext cx="4790303" cy="954107"/>
          </a:xfrm>
          <a:prstGeom prst="rect">
            <a:avLst/>
          </a:prstGeom>
          <a:noFill/>
        </p:spPr>
        <p:txBody>
          <a:bodyPr wrap="square">
            <a:spAutoFit/>
          </a:bodyPr>
          <a:lstStyle/>
          <a:p>
            <a:pPr algn="just"/>
            <a:r>
              <a:rPr lang="en-US" sz="1400" dirty="0">
                <a:solidFill>
                  <a:srgbClr val="000000"/>
                </a:solidFill>
                <a:effectLst/>
                <a:latin typeface="Bahnschrift" panose="020B0502040204020203" pitchFamily="34" charset="0"/>
                <a:ea typeface="Yu Mincho" panose="02020400000000000000" pitchFamily="18" charset="-128"/>
              </a:rPr>
              <a:t>TF-IDF </a:t>
            </a:r>
            <a:r>
              <a:rPr lang="en-US" sz="1400" dirty="0" err="1">
                <a:solidFill>
                  <a:srgbClr val="000000"/>
                </a:solidFill>
                <a:effectLst/>
                <a:latin typeface="Bahnschrift" panose="020B0502040204020203" pitchFamily="34" charset="0"/>
                <a:ea typeface="Yu Mincho" panose="02020400000000000000" pitchFamily="18" charset="-128"/>
              </a:rPr>
              <a:t>menggabungkan</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informasi</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tentang</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frekuensi</a:t>
            </a:r>
            <a:r>
              <a:rPr lang="en-US" sz="1400" dirty="0">
                <a:solidFill>
                  <a:srgbClr val="000000"/>
                </a:solidFill>
                <a:effectLst/>
                <a:latin typeface="Bahnschrift" panose="020B0502040204020203" pitchFamily="34" charset="0"/>
                <a:ea typeface="Yu Mincho" panose="02020400000000000000" pitchFamily="18" charset="-128"/>
              </a:rPr>
              <a:t> kata </a:t>
            </a:r>
            <a:r>
              <a:rPr lang="en-US" sz="1400" dirty="0" err="1">
                <a:solidFill>
                  <a:srgbClr val="000000"/>
                </a:solidFill>
                <a:effectLst/>
                <a:latin typeface="Bahnschrift" panose="020B0502040204020203" pitchFamily="34" charset="0"/>
                <a:ea typeface="Yu Mincho" panose="02020400000000000000" pitchFamily="18" charset="-128"/>
              </a:rPr>
              <a:t>dalam</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dokumen</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tertentu</a:t>
            </a:r>
            <a:r>
              <a:rPr lang="en-US" sz="1400" dirty="0">
                <a:solidFill>
                  <a:srgbClr val="000000"/>
                </a:solidFill>
                <a:effectLst/>
                <a:latin typeface="Bahnschrift" panose="020B0502040204020203" pitchFamily="34" charset="0"/>
                <a:ea typeface="Yu Mincho" panose="02020400000000000000" pitchFamily="18" charset="-128"/>
              </a:rPr>
              <a:t> (TF) </a:t>
            </a:r>
            <a:r>
              <a:rPr lang="en-US" sz="1400" dirty="0" err="1">
                <a:solidFill>
                  <a:srgbClr val="000000"/>
                </a:solidFill>
                <a:effectLst/>
                <a:latin typeface="Bahnschrift" panose="020B0502040204020203" pitchFamily="34" charset="0"/>
                <a:ea typeface="Yu Mincho" panose="02020400000000000000" pitchFamily="18" charset="-128"/>
              </a:rPr>
              <a:t>dengan</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informasi</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tentang</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seberapa</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sering</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atau</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jarang</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sebuah</a:t>
            </a:r>
            <a:r>
              <a:rPr lang="en-US" sz="1400" dirty="0">
                <a:solidFill>
                  <a:srgbClr val="000000"/>
                </a:solidFill>
                <a:effectLst/>
                <a:latin typeface="Bahnschrift" panose="020B0502040204020203" pitchFamily="34" charset="0"/>
                <a:ea typeface="Yu Mincho" panose="02020400000000000000" pitchFamily="18" charset="-128"/>
              </a:rPr>
              <a:t> kata </a:t>
            </a:r>
            <a:r>
              <a:rPr lang="en-US" sz="1400" dirty="0" err="1">
                <a:solidFill>
                  <a:srgbClr val="000000"/>
                </a:solidFill>
                <a:effectLst/>
                <a:latin typeface="Bahnschrift" panose="020B0502040204020203" pitchFamily="34" charset="0"/>
                <a:ea typeface="Yu Mincho" panose="02020400000000000000" pitchFamily="18" charset="-128"/>
              </a:rPr>
              <a:t>tersebut</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muncul</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dalam</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korpus</a:t>
            </a:r>
            <a:r>
              <a:rPr lang="en-US" sz="1400" dirty="0">
                <a:solidFill>
                  <a:srgbClr val="000000"/>
                </a:solidFill>
                <a:effectLst/>
                <a:latin typeface="Bahnschrift" panose="020B0502040204020203" pitchFamily="34" charset="0"/>
                <a:ea typeface="Yu Mincho" panose="02020400000000000000" pitchFamily="18" charset="-128"/>
              </a:rPr>
              <a:t> (IDF). </a:t>
            </a:r>
            <a:endParaRPr lang="en-US" sz="1400" dirty="0">
              <a:latin typeface="Bahnschrift" panose="020B0502040204020203" pitchFamily="34" charset="0"/>
            </a:endParaRPr>
          </a:p>
        </p:txBody>
      </p:sp>
      <p:graphicFrame>
        <p:nvGraphicFramePr>
          <p:cNvPr id="18" name="Object 17">
            <a:extLst>
              <a:ext uri="{FF2B5EF4-FFF2-40B4-BE49-F238E27FC236}">
                <a16:creationId xmlns:a16="http://schemas.microsoft.com/office/drawing/2014/main" id="{A43E76EC-2957-3E56-8607-231F74A500D1}"/>
              </a:ext>
            </a:extLst>
          </p:cNvPr>
          <p:cNvGraphicFramePr>
            <a:graphicFrameLocks noChangeAspect="1"/>
          </p:cNvGraphicFramePr>
          <p:nvPr>
            <p:extLst>
              <p:ext uri="{D42A27DB-BD31-4B8C-83A1-F6EECF244321}">
                <p14:modId xmlns:p14="http://schemas.microsoft.com/office/powerpoint/2010/main" val="297539293"/>
              </p:ext>
            </p:extLst>
          </p:nvPr>
        </p:nvGraphicFramePr>
        <p:xfrm>
          <a:off x="526373" y="2512218"/>
          <a:ext cx="2008187" cy="561975"/>
        </p:xfrm>
        <a:graphic>
          <a:graphicData uri="http://schemas.openxmlformats.org/presentationml/2006/ole">
            <mc:AlternateContent xmlns:mc="http://schemas.openxmlformats.org/markup-compatibility/2006">
              <mc:Choice xmlns:v="urn:schemas-microsoft-com:vml" Requires="v">
                <p:oleObj name="Equation" r:id="rId4" imgW="2008950" imgH="562766" progId="Equation.DSMT4">
                  <p:embed/>
                </p:oleObj>
              </mc:Choice>
              <mc:Fallback>
                <p:oleObj name="Equation" r:id="rId4" imgW="2008950" imgH="562766" progId="Equation.DSMT4">
                  <p:embed/>
                  <p:pic>
                    <p:nvPicPr>
                      <p:cNvPr id="18" name="Object 17">
                        <a:extLst>
                          <a:ext uri="{FF2B5EF4-FFF2-40B4-BE49-F238E27FC236}">
                            <a16:creationId xmlns:a16="http://schemas.microsoft.com/office/drawing/2014/main" id="{A43E76EC-2957-3E56-8607-231F74A500D1}"/>
                          </a:ext>
                        </a:extLst>
                      </p:cNvPr>
                      <p:cNvPicPr/>
                      <p:nvPr/>
                    </p:nvPicPr>
                    <p:blipFill>
                      <a:blip r:embed="rId5"/>
                      <a:stretch>
                        <a:fillRect/>
                      </a:stretch>
                    </p:blipFill>
                    <p:spPr>
                      <a:xfrm>
                        <a:off x="526373" y="2512218"/>
                        <a:ext cx="2008187" cy="56197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F94A7DCB-1CFC-B8E5-C1C2-C51D51C02B39}"/>
              </a:ext>
            </a:extLst>
          </p:cNvPr>
          <p:cNvGraphicFramePr>
            <a:graphicFrameLocks noChangeAspect="1"/>
          </p:cNvGraphicFramePr>
          <p:nvPr>
            <p:extLst>
              <p:ext uri="{D42A27DB-BD31-4B8C-83A1-F6EECF244321}">
                <p14:modId xmlns:p14="http://schemas.microsoft.com/office/powerpoint/2010/main" val="700154079"/>
              </p:ext>
            </p:extLst>
          </p:nvPr>
        </p:nvGraphicFramePr>
        <p:xfrm>
          <a:off x="3025432" y="2287587"/>
          <a:ext cx="1924050" cy="1011237"/>
        </p:xfrm>
        <a:graphic>
          <a:graphicData uri="http://schemas.openxmlformats.org/presentationml/2006/ole">
            <mc:AlternateContent xmlns:mc="http://schemas.openxmlformats.org/markup-compatibility/2006">
              <mc:Choice xmlns:v="urn:schemas-microsoft-com:vml" Requires="v">
                <p:oleObj name="Equation" r:id="rId6" imgW="1923309" imgH="1011248" progId="Equation.DSMT4">
                  <p:embed/>
                </p:oleObj>
              </mc:Choice>
              <mc:Fallback>
                <p:oleObj name="Equation" r:id="rId6" imgW="1923309" imgH="1011248" progId="Equation.DSMT4">
                  <p:embed/>
                  <p:pic>
                    <p:nvPicPr>
                      <p:cNvPr id="19" name="Object 18">
                        <a:extLst>
                          <a:ext uri="{FF2B5EF4-FFF2-40B4-BE49-F238E27FC236}">
                            <a16:creationId xmlns:a16="http://schemas.microsoft.com/office/drawing/2014/main" id="{F94A7DCB-1CFC-B8E5-C1C2-C51D51C02B39}"/>
                          </a:ext>
                        </a:extLst>
                      </p:cNvPr>
                      <p:cNvPicPr/>
                      <p:nvPr/>
                    </p:nvPicPr>
                    <p:blipFill>
                      <a:blip r:embed="rId7"/>
                      <a:stretch>
                        <a:fillRect/>
                      </a:stretch>
                    </p:blipFill>
                    <p:spPr>
                      <a:xfrm>
                        <a:off x="3025432" y="2287587"/>
                        <a:ext cx="1924050" cy="101123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D48CF736-8329-9772-72A5-BB7FE7FE7CFB}"/>
              </a:ext>
            </a:extLst>
          </p:cNvPr>
          <p:cNvGraphicFramePr>
            <a:graphicFrameLocks noChangeAspect="1"/>
          </p:cNvGraphicFramePr>
          <p:nvPr>
            <p:extLst>
              <p:ext uri="{D42A27DB-BD31-4B8C-83A1-F6EECF244321}">
                <p14:modId xmlns:p14="http://schemas.microsoft.com/office/powerpoint/2010/main" val="2827908892"/>
              </p:ext>
            </p:extLst>
          </p:nvPr>
        </p:nvGraphicFramePr>
        <p:xfrm>
          <a:off x="545196" y="3530958"/>
          <a:ext cx="1646237" cy="276225"/>
        </p:xfrm>
        <a:graphic>
          <a:graphicData uri="http://schemas.openxmlformats.org/presentationml/2006/ole">
            <mc:AlternateContent xmlns:mc="http://schemas.openxmlformats.org/markup-compatibility/2006">
              <mc:Choice xmlns:v="urn:schemas-microsoft-com:vml" Requires="v">
                <p:oleObj name="Equation" r:id="rId8" imgW="1646957" imgH="276516" progId="Equation.DSMT4">
                  <p:embed/>
                </p:oleObj>
              </mc:Choice>
              <mc:Fallback>
                <p:oleObj name="Equation" r:id="rId8" imgW="1646957" imgH="276516" progId="Equation.DSMT4">
                  <p:embed/>
                  <p:pic>
                    <p:nvPicPr>
                      <p:cNvPr id="20" name="Object 19">
                        <a:extLst>
                          <a:ext uri="{FF2B5EF4-FFF2-40B4-BE49-F238E27FC236}">
                            <a16:creationId xmlns:a16="http://schemas.microsoft.com/office/drawing/2014/main" id="{D48CF736-8329-9772-72A5-BB7FE7FE7CFB}"/>
                          </a:ext>
                        </a:extLst>
                      </p:cNvPr>
                      <p:cNvPicPr/>
                      <p:nvPr/>
                    </p:nvPicPr>
                    <p:blipFill>
                      <a:blip r:embed="rId9"/>
                      <a:stretch>
                        <a:fillRect/>
                      </a:stretch>
                    </p:blipFill>
                    <p:spPr>
                      <a:xfrm>
                        <a:off x="545196" y="3530958"/>
                        <a:ext cx="1646237" cy="276225"/>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E896F581-4054-2A90-C805-AA9F154216F2}"/>
              </a:ext>
            </a:extLst>
          </p:cNvPr>
          <p:cNvSpPr txBox="1">
            <a:spLocks/>
          </p:cNvSpPr>
          <p:nvPr/>
        </p:nvSpPr>
        <p:spPr>
          <a:xfrm>
            <a:off x="514821" y="3954341"/>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rgbClr val="6957DD"/>
                </a:solidFill>
                <a:latin typeface="Bahnschrift SemiBold" panose="020B0502040204020203" pitchFamily="34" charset="0"/>
              </a:rPr>
              <a:t>Convolution</a:t>
            </a:r>
          </a:p>
        </p:txBody>
      </p:sp>
      <p:sp>
        <p:nvSpPr>
          <p:cNvPr id="12" name="TextBox 11">
            <a:extLst>
              <a:ext uri="{FF2B5EF4-FFF2-40B4-BE49-F238E27FC236}">
                <a16:creationId xmlns:a16="http://schemas.microsoft.com/office/drawing/2014/main" id="{9E219F2C-5FF1-A2E2-584B-C1752DA03B56}"/>
              </a:ext>
            </a:extLst>
          </p:cNvPr>
          <p:cNvSpPr txBox="1"/>
          <p:nvPr/>
        </p:nvSpPr>
        <p:spPr>
          <a:xfrm>
            <a:off x="542149" y="4541124"/>
            <a:ext cx="4790303" cy="738664"/>
          </a:xfrm>
          <a:prstGeom prst="rect">
            <a:avLst/>
          </a:prstGeom>
          <a:noFill/>
        </p:spPr>
        <p:txBody>
          <a:bodyPr wrap="square">
            <a:spAutoFit/>
          </a:bodyPr>
          <a:lstStyle/>
          <a:p>
            <a:pPr algn="just"/>
            <a:r>
              <a:rPr lang="en-US" sz="1400" i="1" dirty="0">
                <a:solidFill>
                  <a:srgbClr val="000000"/>
                </a:solidFill>
                <a:effectLst/>
                <a:latin typeface="Bahnschrift" panose="020B0502040204020203" pitchFamily="34" charset="0"/>
                <a:ea typeface="Yu Mincho" panose="02020400000000000000" pitchFamily="18" charset="-128"/>
              </a:rPr>
              <a:t>Convolution</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atau</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konvolusi</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adalah</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operasi</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matematis</a:t>
            </a:r>
            <a:r>
              <a:rPr lang="en-US" sz="1400" dirty="0">
                <a:solidFill>
                  <a:srgbClr val="000000"/>
                </a:solidFill>
                <a:effectLst/>
                <a:latin typeface="Bahnschrift" panose="020B0502040204020203" pitchFamily="34" charset="0"/>
                <a:ea typeface="Yu Mincho" panose="02020400000000000000" pitchFamily="18" charset="-128"/>
              </a:rPr>
              <a:t> yang </a:t>
            </a:r>
            <a:r>
              <a:rPr lang="en-US" sz="1400" dirty="0" err="1">
                <a:solidFill>
                  <a:srgbClr val="000000"/>
                </a:solidFill>
                <a:effectLst/>
                <a:latin typeface="Bahnschrift" panose="020B0502040204020203" pitchFamily="34" charset="0"/>
                <a:ea typeface="Yu Mincho" panose="02020400000000000000" pitchFamily="18" charset="-128"/>
              </a:rPr>
              <a:t>bekerja</a:t>
            </a:r>
            <a:r>
              <a:rPr lang="en-US" sz="1400" dirty="0">
                <a:solidFill>
                  <a:srgbClr val="000000"/>
                </a:solidFill>
                <a:effectLst/>
                <a:latin typeface="Bahnschrift" panose="020B0502040204020203" pitchFamily="34" charset="0"/>
                <a:ea typeface="Yu Mincho" panose="02020400000000000000" pitchFamily="18" charset="-128"/>
              </a:rPr>
              <a:t> pada dua </a:t>
            </a:r>
            <a:r>
              <a:rPr lang="en-US" sz="1400" dirty="0" err="1">
                <a:solidFill>
                  <a:srgbClr val="000000"/>
                </a:solidFill>
                <a:effectLst/>
                <a:latin typeface="Bahnschrift" panose="020B0502040204020203" pitchFamily="34" charset="0"/>
                <a:ea typeface="Yu Mincho" panose="02020400000000000000" pitchFamily="18" charset="-128"/>
              </a:rPr>
              <a:t>fungsi</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untuk</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menciptakan</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fungsi</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baru</a:t>
            </a:r>
            <a:r>
              <a:rPr lang="en-US" sz="1400" dirty="0">
                <a:solidFill>
                  <a:srgbClr val="000000"/>
                </a:solidFill>
                <a:effectLst/>
                <a:latin typeface="Bahnschrift" panose="020B0502040204020203" pitchFamily="34" charset="0"/>
                <a:ea typeface="Yu Mincho" panose="02020400000000000000" pitchFamily="18" charset="-128"/>
              </a:rPr>
              <a:t> yang </a:t>
            </a:r>
            <a:r>
              <a:rPr lang="en-US" sz="1400" dirty="0" err="1">
                <a:solidFill>
                  <a:srgbClr val="000000"/>
                </a:solidFill>
                <a:effectLst/>
                <a:latin typeface="Bahnschrift" panose="020B0502040204020203" pitchFamily="34" charset="0"/>
                <a:ea typeface="Yu Mincho" panose="02020400000000000000" pitchFamily="18" charset="-128"/>
              </a:rPr>
              <a:t>menggambarkan</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fitur</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pola</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atau</a:t>
            </a:r>
            <a:r>
              <a:rPr lang="en-US" sz="1400" dirty="0">
                <a:solidFill>
                  <a:srgbClr val="000000"/>
                </a:solidFill>
                <a:effectLst/>
                <a:latin typeface="Bahnschrift" panose="020B0502040204020203" pitchFamily="34" charset="0"/>
                <a:ea typeface="Yu Mincho" panose="02020400000000000000" pitchFamily="18" charset="-128"/>
              </a:rPr>
              <a:t> </a:t>
            </a:r>
            <a:r>
              <a:rPr lang="en-US" sz="1400" dirty="0" err="1">
                <a:solidFill>
                  <a:srgbClr val="000000"/>
                </a:solidFill>
                <a:effectLst/>
                <a:latin typeface="Bahnschrift" panose="020B0502040204020203" pitchFamily="34" charset="0"/>
                <a:ea typeface="Yu Mincho" panose="02020400000000000000" pitchFamily="18" charset="-128"/>
              </a:rPr>
              <a:t>krakteristik</a:t>
            </a:r>
            <a:r>
              <a:rPr lang="en-US" sz="1400" dirty="0">
                <a:solidFill>
                  <a:srgbClr val="000000"/>
                </a:solidFill>
                <a:effectLst/>
                <a:latin typeface="Bahnschrift" panose="020B0502040204020203" pitchFamily="34" charset="0"/>
                <a:ea typeface="Yu Mincho" panose="02020400000000000000" pitchFamily="18" charset="-128"/>
              </a:rPr>
              <a:t>)</a:t>
            </a:r>
            <a:endParaRPr lang="en-US" sz="11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E6CA623-FF67-2315-D3B0-853256276B4D}"/>
                  </a:ext>
                </a:extLst>
              </p:cNvPr>
              <p:cNvSpPr txBox="1"/>
              <p:nvPr/>
            </p:nvSpPr>
            <p:spPr>
              <a:xfrm>
                <a:off x="514821" y="5449179"/>
                <a:ext cx="3694104" cy="454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𝐶</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0">
                          <a:latin typeface="Cambria Math" panose="02040503050406030204" pitchFamily="18" charset="0"/>
                        </a:rPr>
                        <m:t>=</m:t>
                      </m:r>
                      <m:r>
                        <a:rPr lang="en-US" sz="1200" i="1">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0">
                          <a:latin typeface="Cambria Math" panose="02040503050406030204" pitchFamily="18" charset="0"/>
                        </a:rPr>
                        <m:t>∗</m:t>
                      </m:r>
                      <m:r>
                        <a:rPr lang="en-US" sz="1200" i="1">
                          <a:latin typeface="Cambria Math" panose="02040503050406030204" pitchFamily="18" charset="0"/>
                        </a:rPr>
                        <m:t>𝑔</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0">
                          <a:latin typeface="Cambria Math" panose="02040503050406030204" pitchFamily="18" charset="0"/>
                        </a:rPr>
                        <m:t>=</m:t>
                      </m:r>
                      <m:nary>
                        <m:naryPr>
                          <m:chr m:val="∑"/>
                          <m:limLoc m:val="subSup"/>
                          <m:ctrlPr>
                            <a:rPr lang="en-US" sz="1200" i="1">
                              <a:latin typeface="Cambria Math" panose="02040503050406030204" pitchFamily="18" charset="0"/>
                            </a:rPr>
                          </m:ctrlPr>
                        </m:naryPr>
                        <m:sub>
                          <m:r>
                            <a:rPr lang="en-US" sz="1200" i="1">
                              <a:latin typeface="Cambria Math" panose="02040503050406030204" pitchFamily="18" charset="0"/>
                            </a:rPr>
                            <m:t>𝑥</m:t>
                          </m:r>
                          <m:r>
                            <a:rPr lang="en-US" sz="1200" i="0">
                              <a:latin typeface="Cambria Math" panose="02040503050406030204" pitchFamily="18" charset="0"/>
                            </a:rPr>
                            <m:t>=−∞</m:t>
                          </m:r>
                        </m:sub>
                        <m:sup>
                          <m:r>
                            <a:rPr lang="en-US" sz="1200" i="0">
                              <a:latin typeface="Cambria Math" panose="02040503050406030204" pitchFamily="18" charset="0"/>
                            </a:rPr>
                            <m:t>∞</m:t>
                          </m:r>
                        </m:sup>
                        <m:e>
                          <m:d>
                            <m:dPr>
                              <m:begChr m:val=""/>
                              <m:ctrlPr>
                                <a:rPr lang="en-US" sz="1200" i="1">
                                  <a:latin typeface="Cambria Math" panose="02040503050406030204" pitchFamily="18" charset="0"/>
                                </a:rPr>
                              </m:ctrlPr>
                            </m:dPr>
                            <m:e>
                              <m:nary>
                                <m:naryPr>
                                  <m:chr m:val="∑"/>
                                  <m:limLoc m:val="subSup"/>
                                  <m:ctrlPr>
                                    <a:rPr lang="en-US" sz="1200" i="1">
                                      <a:latin typeface="Cambria Math" panose="02040503050406030204" pitchFamily="18" charset="0"/>
                                    </a:rPr>
                                  </m:ctrlPr>
                                </m:naryPr>
                                <m:sub>
                                  <m:r>
                                    <a:rPr lang="en-US" sz="1200" i="1">
                                      <a:latin typeface="Cambria Math" panose="02040503050406030204" pitchFamily="18" charset="0"/>
                                    </a:rPr>
                                    <m:t>𝑥</m:t>
                                  </m:r>
                                  <m:r>
                                    <a:rPr lang="en-US" sz="1200" i="0">
                                      <a:latin typeface="Cambria Math" panose="02040503050406030204" pitchFamily="18" charset="0"/>
                                    </a:rPr>
                                    <m:t>=−∞</m:t>
                                  </m:r>
                                </m:sub>
                                <m:sup>
                                  <m:r>
                                    <a:rPr lang="en-US" sz="1200" i="0">
                                      <a:latin typeface="Cambria Math" panose="02040503050406030204" pitchFamily="18" charset="0"/>
                                    </a:rPr>
                                    <m:t>∞</m:t>
                                  </m:r>
                                </m:sup>
                                <m:e>
                                  <m:r>
                                    <a:rPr lang="en-US" sz="1200" i="1">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𝑔</m:t>
                                  </m:r>
                                  <m:d>
                                    <m:dPr>
                                      <m:endChr m:val=""/>
                                      <m:ctrlPr>
                                        <a:rPr lang="en-US" sz="1200" i="1">
                                          <a:latin typeface="Cambria Math" panose="02040503050406030204" pitchFamily="18" charset="0"/>
                                        </a:rPr>
                                      </m:ctrlPr>
                                    </m:dPr>
                                    <m:e>
                                      <m:r>
                                        <a:rPr lang="en-US" sz="1200" i="1">
                                          <a:latin typeface="Cambria Math" panose="02040503050406030204" pitchFamily="18" charset="0"/>
                                        </a:rPr>
                                        <m:t>𝑥</m:t>
                                      </m:r>
                                    </m:e>
                                  </m:d>
                                </m:e>
                              </m:nary>
                              <m:r>
                                <a:rPr lang="en-US" sz="1200" i="0">
                                  <a:latin typeface="Cambria Math" panose="02040503050406030204" pitchFamily="18" charset="0"/>
                                </a:rPr>
                                <m:t>−</m:t>
                              </m:r>
                              <m:r>
                                <a:rPr lang="en-US" sz="1200" i="1">
                                  <a:latin typeface="Cambria Math" panose="02040503050406030204" pitchFamily="18" charset="0"/>
                                </a:rPr>
                                <m:t>𝑡</m:t>
                              </m:r>
                            </m:e>
                          </m:d>
                        </m:e>
                      </m:nary>
                    </m:oMath>
                  </m:oMathPara>
                </a14:m>
                <a:endParaRPr lang="en-US" sz="1200" dirty="0"/>
              </a:p>
            </p:txBody>
          </p:sp>
        </mc:Choice>
        <mc:Fallback xmlns="">
          <p:sp>
            <p:nvSpPr>
              <p:cNvPr id="22" name="TextBox 21">
                <a:extLst>
                  <a:ext uri="{FF2B5EF4-FFF2-40B4-BE49-F238E27FC236}">
                    <a16:creationId xmlns:a16="http://schemas.microsoft.com/office/drawing/2014/main" id="{4E6CA623-FF67-2315-D3B0-853256276B4D}"/>
                  </a:ext>
                </a:extLst>
              </p:cNvPr>
              <p:cNvSpPr txBox="1">
                <a:spLocks noRot="1" noChangeAspect="1" noMove="1" noResize="1" noEditPoints="1" noAdjustHandles="1" noChangeArrowheads="1" noChangeShapeType="1" noTextEdit="1"/>
              </p:cNvSpPr>
              <p:nvPr/>
            </p:nvSpPr>
            <p:spPr>
              <a:xfrm>
                <a:off x="514821" y="5449179"/>
                <a:ext cx="3694104" cy="454612"/>
              </a:xfrm>
              <a:prstGeom prst="rect">
                <a:avLst/>
              </a:prstGeom>
              <a:blipFill>
                <a:blip r:embed="rId10"/>
                <a:stretch>
                  <a:fillRect t="-151351" r="-18317" b="-222973"/>
                </a:stretch>
              </a:blipFill>
            </p:spPr>
            <p:txBody>
              <a:bodyPr/>
              <a:lstStyle/>
              <a:p>
                <a:r>
                  <a:rPr lang="en-US">
                    <a:noFill/>
                  </a:rPr>
                  <a:t> </a:t>
                </a:r>
              </a:p>
            </p:txBody>
          </p:sp>
        </mc:Fallback>
      </mc:AlternateContent>
      <p:pic>
        <p:nvPicPr>
          <p:cNvPr id="7170" name="Picture 2" descr="Elemen Penting dalam Computer Vision yang Harus Diketahui Sebelum Membuat  Model Pertamamu | Data Folks Indonesia">
            <a:extLst>
              <a:ext uri="{FF2B5EF4-FFF2-40B4-BE49-F238E27FC236}">
                <a16:creationId xmlns:a16="http://schemas.microsoft.com/office/drawing/2014/main" id="{E8232CCB-DB24-68F9-1225-FA474FD424C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66685" y="2997418"/>
            <a:ext cx="4675621" cy="230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61288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rgbClr val="6957DD"/>
          </a:solidFill>
        </p:spPr>
        <p:txBody>
          <a:bodyPr wrap="square" rtlCol="0">
            <a:spAutoFit/>
          </a:bodyPr>
          <a:lstStyle/>
          <a:p>
            <a:r>
              <a:rPr lang="en-US" dirty="0">
                <a:solidFill>
                  <a:schemeClr val="bg1"/>
                </a:solidFill>
                <a:latin typeface="Bahnschrift SemiBold" panose="020B0502040204020203" pitchFamily="34" charset="0"/>
              </a:rPr>
              <a:t>BAB II</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8" name="Title 1">
            <a:extLst>
              <a:ext uri="{FF2B5EF4-FFF2-40B4-BE49-F238E27FC236}">
                <a16:creationId xmlns:a16="http://schemas.microsoft.com/office/drawing/2014/main" id="{EFE74E24-3032-7C89-EFD1-14660F6DDD46}"/>
              </a:ext>
            </a:extLst>
          </p:cNvPr>
          <p:cNvSpPr txBox="1">
            <a:spLocks/>
          </p:cNvSpPr>
          <p:nvPr/>
        </p:nvSpPr>
        <p:spPr>
          <a:xfrm>
            <a:off x="461166" y="771455"/>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solidFill>
                  <a:srgbClr val="6957DD"/>
                </a:solidFill>
                <a:latin typeface="Bahnschrift SemiBold" panose="020B0502040204020203" pitchFamily="34" charset="0"/>
              </a:rPr>
              <a:t>Arsitektur CNN VGG </a:t>
            </a:r>
          </a:p>
        </p:txBody>
      </p:sp>
      <p:sp>
        <p:nvSpPr>
          <p:cNvPr id="13" name="TextBox 12">
            <a:extLst>
              <a:ext uri="{FF2B5EF4-FFF2-40B4-BE49-F238E27FC236}">
                <a16:creationId xmlns:a16="http://schemas.microsoft.com/office/drawing/2014/main" id="{0B79E06F-A8EC-297F-2E55-ED007F782929}"/>
              </a:ext>
            </a:extLst>
          </p:cNvPr>
          <p:cNvSpPr txBox="1"/>
          <p:nvPr/>
        </p:nvSpPr>
        <p:spPr>
          <a:xfrm>
            <a:off x="429832" y="1316704"/>
            <a:ext cx="4790303" cy="1600438"/>
          </a:xfrm>
          <a:prstGeom prst="rect">
            <a:avLst/>
          </a:prstGeom>
          <a:noFill/>
        </p:spPr>
        <p:txBody>
          <a:bodyPr wrap="square">
            <a:spAutoFit/>
          </a:bodyPr>
          <a:lstStyle/>
          <a:p>
            <a:pPr algn="just"/>
            <a:r>
              <a:rPr lang="en-US" sz="1400" dirty="0">
                <a:solidFill>
                  <a:srgbClr val="000000"/>
                </a:solidFill>
                <a:latin typeface="Bahnschrift" panose="020B0502040204020203" pitchFamily="34" charset="0"/>
                <a:ea typeface="Yu Mincho" panose="02020400000000000000" pitchFamily="18" charset="-128"/>
              </a:rPr>
              <a:t>Arsitektur CNN VGG terkenal dengan struktur yang dalam, menggunakan filter kecil 3x3 dan lapisan konvolusi bertumpuk. Dengan total 16 atau 19 lapisan konvolusi, VGG efektif dalam mengekstraksi fitur kompleks dari gambar dan menghasilkan jumlah parameter yang besar. Memiliki keunggulan menjaga dimensi dari fitur.</a:t>
            </a:r>
          </a:p>
        </p:txBody>
      </p:sp>
      <p:pic>
        <p:nvPicPr>
          <p:cNvPr id="8198" name="Picture 6" descr="VGG16 architecture">
            <a:extLst>
              <a:ext uri="{FF2B5EF4-FFF2-40B4-BE49-F238E27FC236}">
                <a16:creationId xmlns:a16="http://schemas.microsoft.com/office/drawing/2014/main" id="{39CAF9AE-358C-BC42-610F-588A532293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2700" y="1937476"/>
            <a:ext cx="6507526" cy="180524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D3CE219-CD12-2054-F4D6-524ECBCE25EF}"/>
              </a:ext>
            </a:extLst>
          </p:cNvPr>
          <p:cNvPicPr>
            <a:picLocks noChangeAspect="1"/>
          </p:cNvPicPr>
          <p:nvPr/>
        </p:nvPicPr>
        <p:blipFill>
          <a:blip r:embed="rId5"/>
          <a:stretch>
            <a:fillRect/>
          </a:stretch>
        </p:blipFill>
        <p:spPr>
          <a:xfrm>
            <a:off x="579331" y="3170030"/>
            <a:ext cx="3153215" cy="3410426"/>
          </a:xfrm>
          <a:prstGeom prst="rect">
            <a:avLst/>
          </a:prstGeom>
        </p:spPr>
      </p:pic>
      <p:pic>
        <p:nvPicPr>
          <p:cNvPr id="2050" name="Picture 2" descr="Block diagram of the proposed method. The layers &quot;Conv1D&quot; represent... |  Download Scientific Diagram">
            <a:extLst>
              <a:ext uri="{FF2B5EF4-FFF2-40B4-BE49-F238E27FC236}">
                <a16:creationId xmlns:a16="http://schemas.microsoft.com/office/drawing/2014/main" id="{C64C2F31-DC0D-282C-1B66-96508E577AA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52155"/>
          <a:stretch/>
        </p:blipFill>
        <p:spPr bwMode="auto">
          <a:xfrm>
            <a:off x="5083953" y="4271577"/>
            <a:ext cx="7108047" cy="16482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4ECD2F-2918-5920-DB26-2D0F7BEF3619}"/>
              </a:ext>
            </a:extLst>
          </p:cNvPr>
          <p:cNvSpPr txBox="1"/>
          <p:nvPr/>
        </p:nvSpPr>
        <p:spPr>
          <a:xfrm>
            <a:off x="8449595" y="3680745"/>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(1)</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9" name="TextBox 8">
            <a:extLst>
              <a:ext uri="{FF2B5EF4-FFF2-40B4-BE49-F238E27FC236}">
                <a16:creationId xmlns:a16="http://schemas.microsoft.com/office/drawing/2014/main" id="{0030769A-33DB-E5CE-983E-88111CC9322E}"/>
              </a:ext>
            </a:extLst>
          </p:cNvPr>
          <p:cNvSpPr txBox="1"/>
          <p:nvPr/>
        </p:nvSpPr>
        <p:spPr>
          <a:xfrm>
            <a:off x="8449595" y="5919788"/>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(2)</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242610030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rgbClr val="6957DD"/>
          </a:solidFill>
        </p:spPr>
        <p:txBody>
          <a:bodyPr wrap="square" rtlCol="0">
            <a:spAutoFit/>
          </a:bodyPr>
          <a:lstStyle/>
          <a:p>
            <a:r>
              <a:rPr lang="en-US" dirty="0">
                <a:solidFill>
                  <a:schemeClr val="bg1"/>
                </a:solidFill>
                <a:latin typeface="Bahnschrift SemiBold" panose="020B0502040204020203" pitchFamily="34" charset="0"/>
              </a:rPr>
              <a:t>BAB II</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695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8" name="Title 1">
            <a:extLst>
              <a:ext uri="{FF2B5EF4-FFF2-40B4-BE49-F238E27FC236}">
                <a16:creationId xmlns:a16="http://schemas.microsoft.com/office/drawing/2014/main" id="{EFE74E24-3032-7C89-EFD1-14660F6DDD46}"/>
              </a:ext>
            </a:extLst>
          </p:cNvPr>
          <p:cNvSpPr txBox="1">
            <a:spLocks/>
          </p:cNvSpPr>
          <p:nvPr/>
        </p:nvSpPr>
        <p:spPr>
          <a:xfrm>
            <a:off x="461166" y="771455"/>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solidFill>
                  <a:srgbClr val="6957DD"/>
                </a:solidFill>
                <a:latin typeface="Bahnschrift SemiBold" panose="020B0502040204020203" pitchFamily="34" charset="0"/>
              </a:rPr>
              <a:t>Arsitektur </a:t>
            </a:r>
            <a:r>
              <a:rPr lang="en-US" sz="1800" i="1" dirty="0" err="1">
                <a:solidFill>
                  <a:srgbClr val="6957DD"/>
                </a:solidFill>
                <a:latin typeface="Bahnschrift SemiBold" panose="020B0502040204020203" pitchFamily="34" charset="0"/>
              </a:rPr>
              <a:t>Multimodel</a:t>
            </a:r>
            <a:endParaRPr lang="en-US" sz="1800" i="1" dirty="0">
              <a:solidFill>
                <a:srgbClr val="6957DD"/>
              </a:solidFill>
              <a:latin typeface="Bahnschrift SemiBold" panose="020B0502040204020203" pitchFamily="34" charset="0"/>
            </a:endParaRPr>
          </a:p>
        </p:txBody>
      </p:sp>
      <p:pic>
        <p:nvPicPr>
          <p:cNvPr id="7" name="Picture 6">
            <a:extLst>
              <a:ext uri="{FF2B5EF4-FFF2-40B4-BE49-F238E27FC236}">
                <a16:creationId xmlns:a16="http://schemas.microsoft.com/office/drawing/2014/main" id="{6E9A0D72-817C-0FBB-439D-C98BBB082FB6}"/>
              </a:ext>
            </a:extLst>
          </p:cNvPr>
          <p:cNvPicPr>
            <a:picLocks noChangeAspect="1"/>
          </p:cNvPicPr>
          <p:nvPr/>
        </p:nvPicPr>
        <p:blipFill>
          <a:blip r:embed="rId4"/>
          <a:stretch>
            <a:fillRect/>
          </a:stretch>
        </p:blipFill>
        <p:spPr>
          <a:xfrm>
            <a:off x="2085475" y="2193307"/>
            <a:ext cx="6238356" cy="3250737"/>
          </a:xfrm>
          <a:prstGeom prst="rect">
            <a:avLst/>
          </a:prstGeom>
        </p:spPr>
      </p:pic>
    </p:spTree>
    <p:extLst>
      <p:ext uri="{BB962C8B-B14F-4D97-AF65-F5344CB8AC3E}">
        <p14:creationId xmlns:p14="http://schemas.microsoft.com/office/powerpoint/2010/main" val="299556700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9586CF4-B9B7-431C-9CB7-4BEC72656BA9}"/>
              </a:ext>
            </a:extLst>
          </p:cNvPr>
          <p:cNvSpPr/>
          <p:nvPr/>
        </p:nvSpPr>
        <p:spPr>
          <a:xfrm>
            <a:off x="2136053" y="-446460"/>
            <a:ext cx="11259274" cy="8145173"/>
          </a:xfrm>
          <a:custGeom>
            <a:avLst/>
            <a:gdLst>
              <a:gd name="connsiteX0" fmla="*/ 8931997 w 11259274"/>
              <a:gd name="connsiteY0" fmla="*/ 27360 h 8145173"/>
              <a:gd name="connsiteX1" fmla="*/ 8379547 w 11259274"/>
              <a:gd name="connsiteY1" fmla="*/ 1513260 h 8145173"/>
              <a:gd name="connsiteX2" fmla="*/ 6626947 w 11259274"/>
              <a:gd name="connsiteY2" fmla="*/ 2332410 h 8145173"/>
              <a:gd name="connsiteX3" fmla="*/ 6017347 w 11259274"/>
              <a:gd name="connsiteY3" fmla="*/ 3189660 h 8145173"/>
              <a:gd name="connsiteX4" fmla="*/ 4264747 w 11259274"/>
              <a:gd name="connsiteY4" fmla="*/ 4332660 h 8145173"/>
              <a:gd name="connsiteX5" fmla="*/ 3883747 w 11259274"/>
              <a:gd name="connsiteY5" fmla="*/ 6199560 h 8145173"/>
              <a:gd name="connsiteX6" fmla="*/ 1616797 w 11259274"/>
              <a:gd name="connsiteY6" fmla="*/ 6561510 h 8145173"/>
              <a:gd name="connsiteX7" fmla="*/ 35647 w 11259274"/>
              <a:gd name="connsiteY7" fmla="*/ 7361610 h 8145173"/>
              <a:gd name="connsiteX8" fmla="*/ 3159847 w 11259274"/>
              <a:gd name="connsiteY8" fmla="*/ 7742610 h 8145173"/>
              <a:gd name="connsiteX9" fmla="*/ 10341697 w 11259274"/>
              <a:gd name="connsiteY9" fmla="*/ 7609260 h 8145173"/>
              <a:gd name="connsiteX10" fmla="*/ 11008447 w 11259274"/>
              <a:gd name="connsiteY10" fmla="*/ 1151310 h 8145173"/>
              <a:gd name="connsiteX11" fmla="*/ 8931997 w 11259274"/>
              <a:gd name="connsiteY11" fmla="*/ 27360 h 8145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59274" h="8145173">
                <a:moveTo>
                  <a:pt x="8931997" y="27360"/>
                </a:moveTo>
                <a:cubicBezTo>
                  <a:pt x="8493847" y="87685"/>
                  <a:pt x="8763722" y="1129085"/>
                  <a:pt x="8379547" y="1513260"/>
                </a:cubicBezTo>
                <a:cubicBezTo>
                  <a:pt x="7995372" y="1897435"/>
                  <a:pt x="7020647" y="2053010"/>
                  <a:pt x="6626947" y="2332410"/>
                </a:cubicBezTo>
                <a:cubicBezTo>
                  <a:pt x="6233247" y="2611810"/>
                  <a:pt x="6411047" y="2856285"/>
                  <a:pt x="6017347" y="3189660"/>
                </a:cubicBezTo>
                <a:cubicBezTo>
                  <a:pt x="5623647" y="3523035"/>
                  <a:pt x="4620347" y="3831010"/>
                  <a:pt x="4264747" y="4332660"/>
                </a:cubicBezTo>
                <a:cubicBezTo>
                  <a:pt x="3909147" y="4834310"/>
                  <a:pt x="4325072" y="5828085"/>
                  <a:pt x="3883747" y="6199560"/>
                </a:cubicBezTo>
                <a:cubicBezTo>
                  <a:pt x="3442422" y="6571035"/>
                  <a:pt x="2258147" y="6367835"/>
                  <a:pt x="1616797" y="6561510"/>
                </a:cubicBezTo>
                <a:cubicBezTo>
                  <a:pt x="975447" y="6755185"/>
                  <a:pt x="-221528" y="7164760"/>
                  <a:pt x="35647" y="7361610"/>
                </a:cubicBezTo>
                <a:cubicBezTo>
                  <a:pt x="292822" y="7558460"/>
                  <a:pt x="3159847" y="7742610"/>
                  <a:pt x="3159847" y="7742610"/>
                </a:cubicBezTo>
                <a:cubicBezTo>
                  <a:pt x="4877522" y="7783885"/>
                  <a:pt x="9033597" y="8707810"/>
                  <a:pt x="10341697" y="7609260"/>
                </a:cubicBezTo>
                <a:cubicBezTo>
                  <a:pt x="11649797" y="6510710"/>
                  <a:pt x="11246572" y="2408610"/>
                  <a:pt x="11008447" y="1151310"/>
                </a:cubicBezTo>
                <a:cubicBezTo>
                  <a:pt x="10770322" y="-105990"/>
                  <a:pt x="9370147" y="-32965"/>
                  <a:pt x="8931997" y="27360"/>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43483" y="1343247"/>
            <a:ext cx="7290333" cy="1323439"/>
          </a:xfrm>
          <a:prstGeom prst="rect">
            <a:avLst/>
          </a:prstGeom>
          <a:noFill/>
        </p:spPr>
        <p:txBody>
          <a:bodyPr wrap="square" rtlCol="0">
            <a:spAutoFit/>
          </a:bodyPr>
          <a:lstStyle/>
          <a:p>
            <a:pPr algn="just">
              <a:spcAft>
                <a:spcPts val="600"/>
              </a:spcAft>
            </a:pPr>
            <a:r>
              <a:rPr lang="id-ID" sz="1600" dirty="0">
                <a:latin typeface="Bahnschrift" panose="020B0502040204020203" pitchFamily="34" charset="0"/>
              </a:rPr>
              <a:t>Data yang digunakan </a:t>
            </a:r>
            <a:r>
              <a:rPr lang="en-US" sz="1600" dirty="0">
                <a:latin typeface="Bahnschrift" panose="020B0502040204020203" pitchFamily="34" charset="0"/>
              </a:rPr>
              <a:t>merupakan</a:t>
            </a:r>
            <a:r>
              <a:rPr lang="id-ID" sz="1600" dirty="0">
                <a:latin typeface="Bahnschrift" panose="020B0502040204020203" pitchFamily="34" charset="0"/>
              </a:rPr>
              <a:t> data sekunder</a:t>
            </a:r>
            <a:r>
              <a:rPr lang="en-US" sz="1600" dirty="0">
                <a:latin typeface="Bahnschrift" panose="020B0502040204020203" pitchFamily="34" charset="0"/>
              </a:rPr>
              <a:t> yang diperoleh dari website </a:t>
            </a:r>
            <a:r>
              <a:rPr lang="en-US" sz="1600" i="1" dirty="0">
                <a:latin typeface="Bahnschrift" panose="020B0502040204020203" pitchFamily="34" charset="0"/>
              </a:rPr>
              <a:t>turnbackhoax.id. </a:t>
            </a:r>
            <a:r>
              <a:rPr lang="en-US" sz="1600" dirty="0">
                <a:latin typeface="Bahnschrift" panose="020B0502040204020203" pitchFamily="34" charset="0"/>
              </a:rPr>
              <a:t>sebagai sumber berita hoaks dan </a:t>
            </a:r>
            <a:r>
              <a:rPr lang="en-US" sz="1600" i="1" dirty="0">
                <a:latin typeface="Bahnschrift" panose="020B0502040204020203" pitchFamily="34" charset="0"/>
              </a:rPr>
              <a:t>republika.co.id </a:t>
            </a:r>
            <a:r>
              <a:rPr lang="en-US" sz="1600" dirty="0">
                <a:latin typeface="Bahnschrift" panose="020B0502040204020203" pitchFamily="34" charset="0"/>
              </a:rPr>
              <a:t>sebagai sumber berita fakta. Data diambil selama periode publikasi tanggal 1 Januari 2023 hingga 13 Oktober 2023. Waktu pengambilan data dilakukan pada hari Kamis, 13 Oktober 2023 pukul 09.00 secara online.</a:t>
            </a:r>
          </a:p>
        </p:txBody>
      </p:sp>
      <p:sp>
        <p:nvSpPr>
          <p:cNvPr id="8" name="TextBox 7"/>
          <p:cNvSpPr txBox="1"/>
          <p:nvPr/>
        </p:nvSpPr>
        <p:spPr>
          <a:xfrm>
            <a:off x="482101" y="840204"/>
            <a:ext cx="7830356" cy="523220"/>
          </a:xfrm>
          <a:prstGeom prst="rect">
            <a:avLst/>
          </a:prstGeom>
          <a:noFill/>
        </p:spPr>
        <p:txBody>
          <a:bodyPr wrap="square" rtlCol="0">
            <a:spAutoFit/>
          </a:bodyPr>
          <a:lstStyle/>
          <a:p>
            <a:r>
              <a:rPr lang="en-US" sz="2800" dirty="0">
                <a:solidFill>
                  <a:srgbClr val="FF920D"/>
                </a:solidFill>
                <a:effectLst/>
                <a:latin typeface="Bahnschrift SemiBold" panose="020B0502040204020203" pitchFamily="34" charset="0"/>
              </a:rPr>
              <a:t>SUMBER DATA</a:t>
            </a:r>
          </a:p>
        </p:txBody>
      </p:sp>
      <p:pic>
        <p:nvPicPr>
          <p:cNvPr id="10" name="Picture 7">
            <a:extLst>
              <a:ext uri="{FF2B5EF4-FFF2-40B4-BE49-F238E27FC236}">
                <a16:creationId xmlns:a16="http://schemas.microsoft.com/office/drawing/2014/main" id="{9D92A4ED-495B-4FB4-A195-07AE45BFAB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421442" y="2646065"/>
            <a:ext cx="4553443" cy="4211935"/>
          </a:xfrm>
          <a:prstGeom prst="rect">
            <a:avLst/>
          </a:prstGeom>
        </p:spPr>
      </p:pic>
      <p:sp>
        <p:nvSpPr>
          <p:cNvPr id="12" name="TextBox 11">
            <a:extLst>
              <a:ext uri="{FF2B5EF4-FFF2-40B4-BE49-F238E27FC236}">
                <a16:creationId xmlns:a16="http://schemas.microsoft.com/office/drawing/2014/main" id="{CC08BB26-400D-4647-8BE6-114278767EC6}"/>
              </a:ext>
            </a:extLst>
          </p:cNvPr>
          <p:cNvSpPr txBox="1"/>
          <p:nvPr/>
        </p:nvSpPr>
        <p:spPr>
          <a:xfrm>
            <a:off x="579331" y="423573"/>
            <a:ext cx="1805244" cy="369332"/>
          </a:xfrm>
          <a:prstGeom prst="rect">
            <a:avLst/>
          </a:prstGeom>
          <a:solidFill>
            <a:srgbClr val="FF920D"/>
          </a:solidFill>
        </p:spPr>
        <p:txBody>
          <a:bodyPr wrap="square" rtlCol="0">
            <a:spAutoFit/>
          </a:bodyPr>
          <a:lstStyle/>
          <a:p>
            <a:r>
              <a:rPr lang="en-US" dirty="0">
                <a:solidFill>
                  <a:schemeClr val="bg1"/>
                </a:solidFill>
              </a:rPr>
              <a:t>BAB III</a:t>
            </a:r>
          </a:p>
        </p:txBody>
      </p:sp>
      <p:sp>
        <p:nvSpPr>
          <p:cNvPr id="13" name="TextBox 5">
            <a:extLst>
              <a:ext uri="{FF2B5EF4-FFF2-40B4-BE49-F238E27FC236}">
                <a16:creationId xmlns:a16="http://schemas.microsoft.com/office/drawing/2014/main" id="{40F5B74D-A373-4CC5-A034-860FC458FA0B}"/>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8</a:t>
            </a:r>
            <a:endParaRPr lang="en-US" sz="2000" b="1" dirty="0"/>
          </a:p>
        </p:txBody>
      </p:sp>
      <p:graphicFrame>
        <p:nvGraphicFramePr>
          <p:cNvPr id="9" name="Table 8">
            <a:extLst>
              <a:ext uri="{FF2B5EF4-FFF2-40B4-BE49-F238E27FC236}">
                <a16:creationId xmlns:a16="http://schemas.microsoft.com/office/drawing/2014/main" id="{0BA59CA8-7993-D011-5119-637330778664}"/>
              </a:ext>
            </a:extLst>
          </p:cNvPr>
          <p:cNvGraphicFramePr>
            <a:graphicFrameLocks noGrp="1"/>
          </p:cNvGraphicFramePr>
          <p:nvPr>
            <p:extLst>
              <p:ext uri="{D42A27DB-BD31-4B8C-83A1-F6EECF244321}">
                <p14:modId xmlns:p14="http://schemas.microsoft.com/office/powerpoint/2010/main" val="2675792343"/>
              </p:ext>
            </p:extLst>
          </p:nvPr>
        </p:nvGraphicFramePr>
        <p:xfrm>
          <a:off x="611724" y="3737909"/>
          <a:ext cx="7123148" cy="2714235"/>
        </p:xfrm>
        <a:graphic>
          <a:graphicData uri="http://schemas.openxmlformats.org/drawingml/2006/table">
            <a:tbl>
              <a:tblPr/>
              <a:tblGrid>
                <a:gridCol w="864150">
                  <a:extLst>
                    <a:ext uri="{9D8B030D-6E8A-4147-A177-3AD203B41FA5}">
                      <a16:colId xmlns:a16="http://schemas.microsoft.com/office/drawing/2014/main" val="2739788303"/>
                    </a:ext>
                  </a:extLst>
                </a:gridCol>
                <a:gridCol w="3689684">
                  <a:extLst>
                    <a:ext uri="{9D8B030D-6E8A-4147-A177-3AD203B41FA5}">
                      <a16:colId xmlns:a16="http://schemas.microsoft.com/office/drawing/2014/main" val="3398084282"/>
                    </a:ext>
                  </a:extLst>
                </a:gridCol>
                <a:gridCol w="1090863">
                  <a:extLst>
                    <a:ext uri="{9D8B030D-6E8A-4147-A177-3AD203B41FA5}">
                      <a16:colId xmlns:a16="http://schemas.microsoft.com/office/drawing/2014/main" val="2808984884"/>
                    </a:ext>
                  </a:extLst>
                </a:gridCol>
                <a:gridCol w="1478451">
                  <a:extLst>
                    <a:ext uri="{9D8B030D-6E8A-4147-A177-3AD203B41FA5}">
                      <a16:colId xmlns:a16="http://schemas.microsoft.com/office/drawing/2014/main" val="3118029182"/>
                    </a:ext>
                  </a:extLst>
                </a:gridCol>
              </a:tblGrid>
              <a:tr h="584248">
                <a:tc>
                  <a:txBody>
                    <a:bodyPr/>
                    <a:lstStyle/>
                    <a:p>
                      <a:pPr marL="0" indent="0" algn="ctr">
                        <a:lnSpc>
                          <a:spcPct val="107000"/>
                        </a:lnSpc>
                        <a:spcAft>
                          <a:spcPts val="800"/>
                        </a:spcAft>
                      </a:pPr>
                      <a:r>
                        <a:rPr lang="id-ID" sz="1400" dirty="0">
                          <a:effectLst/>
                          <a:latin typeface="Bahnschrift" panose="020B0502040204020203" pitchFamily="34" charset="0"/>
                        </a:rPr>
                        <a:t>Variabel</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nchor="ctr"/>
                </a:tc>
                <a:tc>
                  <a:txBody>
                    <a:bodyPr/>
                    <a:lstStyle/>
                    <a:p>
                      <a:pPr marR="234315" indent="0" algn="ctr">
                        <a:lnSpc>
                          <a:spcPct val="107000"/>
                        </a:lnSpc>
                        <a:spcAft>
                          <a:spcPts val="800"/>
                        </a:spcAft>
                      </a:pPr>
                      <a:r>
                        <a:rPr lang="id-ID" sz="1400" dirty="0">
                          <a:effectLst/>
                          <a:latin typeface="Bahnschrift" panose="020B0502040204020203" pitchFamily="34" charset="0"/>
                        </a:rPr>
                        <a:t>Keterangan</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nchor="ctr"/>
                </a:tc>
                <a:tc>
                  <a:txBody>
                    <a:bodyPr/>
                    <a:lstStyle/>
                    <a:p>
                      <a:pPr marR="234315" indent="0" algn="ctr">
                        <a:lnSpc>
                          <a:spcPct val="107000"/>
                        </a:lnSpc>
                        <a:spcAft>
                          <a:spcPts val="800"/>
                        </a:spcAft>
                      </a:pPr>
                      <a:r>
                        <a:rPr lang="id-ID" sz="1400" dirty="0">
                          <a:effectLst/>
                          <a:latin typeface="Bahnschrift" panose="020B0502040204020203" pitchFamily="34" charset="0"/>
                        </a:rPr>
                        <a:t>Skala</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tc>
                <a:tc>
                  <a:txBody>
                    <a:bodyPr/>
                    <a:lstStyle/>
                    <a:p>
                      <a:pPr marR="234315" indent="0" algn="ctr">
                        <a:lnSpc>
                          <a:spcPct val="107000"/>
                        </a:lnSpc>
                        <a:spcAft>
                          <a:spcPts val="800"/>
                        </a:spcAft>
                      </a:pP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Kategori</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tc>
                <a:extLst>
                  <a:ext uri="{0D108BD9-81ED-4DB2-BD59-A6C34878D82A}">
                    <a16:rowId xmlns:a16="http://schemas.microsoft.com/office/drawing/2014/main" val="3458817510"/>
                  </a:ext>
                </a:extLst>
              </a:tr>
              <a:tr h="484206">
                <a:tc>
                  <a:txBody>
                    <a:bodyPr/>
                    <a:lstStyle/>
                    <a:p>
                      <a:pPr marL="0" indent="0" algn="ctr">
                        <a:lnSpc>
                          <a:spcPct val="107000"/>
                        </a:lnSpc>
                        <a:spcAft>
                          <a:spcPts val="800"/>
                        </a:spcAft>
                      </a:pPr>
                      <a:r>
                        <a:rPr lang="en-US" sz="1400" dirty="0">
                          <a:effectLst/>
                          <a:latin typeface="Bahnschrift" panose="020B0502040204020203" pitchFamily="34" charset="0"/>
                        </a:rPr>
                        <a:t>X</a:t>
                      </a:r>
                      <a:r>
                        <a:rPr lang="id-ID" sz="1400" baseline="-25000" dirty="0">
                          <a:effectLst/>
                          <a:latin typeface="Bahnschrift" panose="020B0502040204020203" pitchFamily="34" charset="0"/>
                        </a:rPr>
                        <a:t>1</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nchor="ctr"/>
                </a:tc>
                <a:tc>
                  <a:txBody>
                    <a:bodyPr/>
                    <a:lstStyle/>
                    <a:p>
                      <a:pPr marL="0" marR="234315" indent="0" algn="ctr" defTabSz="914400" rtl="0" eaLnBrk="1" latinLnBrk="0" hangingPunct="1">
                        <a:lnSpc>
                          <a:spcPct val="107000"/>
                        </a:lnSpc>
                        <a:spcBef>
                          <a:spcPts val="0"/>
                        </a:spcBef>
                        <a:spcAft>
                          <a:spcPts val="800"/>
                        </a:spcAft>
                      </a:pPr>
                      <a:r>
                        <a:rPr lang="en-US" sz="1400" kern="1200" dirty="0">
                          <a:solidFill>
                            <a:schemeClr val="tx1"/>
                          </a:solidFill>
                          <a:effectLst/>
                          <a:latin typeface="Bahnschrift" panose="020B0502040204020203" pitchFamily="34" charset="0"/>
                          <a:ea typeface="+mn-ea"/>
                          <a:cs typeface="+mn-cs"/>
                        </a:rPr>
                        <a:t>News Picture atau gambar berita pada berita yang diterbitkan turnbackhoax.id dan </a:t>
                      </a:r>
                      <a:r>
                        <a:rPr lang="en-ID" sz="1400" kern="1200" dirty="0">
                          <a:solidFill>
                            <a:schemeClr val="tx1"/>
                          </a:solidFill>
                          <a:effectLst/>
                          <a:latin typeface="Bahnschrift" panose="020B0502040204020203" pitchFamily="34" charset="0"/>
                          <a:ea typeface="+mn-ea"/>
                          <a:cs typeface="+mn-cs"/>
                        </a:rPr>
                        <a:t>republika.co.id</a:t>
                      </a:r>
                      <a:endParaRPr lang="en-US" sz="1400" kern="1200" dirty="0">
                        <a:solidFill>
                          <a:schemeClr val="tx1"/>
                        </a:solidFill>
                        <a:effectLst/>
                        <a:latin typeface="Bahnschrift" panose="020B0502040204020203" pitchFamily="34" charset="0"/>
                        <a:ea typeface="+mn-ea"/>
                        <a:cs typeface="+mn-cs"/>
                      </a:endParaRPr>
                    </a:p>
                  </a:txBody>
                  <a:tcPr marL="68580" marR="68580" marT="0" marB="36195" anchor="ctr"/>
                </a:tc>
                <a:tc>
                  <a:txBody>
                    <a:bodyPr/>
                    <a:lstStyle/>
                    <a:p>
                      <a:pPr marR="234315" indent="0" algn="ctr">
                        <a:lnSpc>
                          <a:spcPct val="107000"/>
                        </a:lnSpc>
                        <a:spcAft>
                          <a:spcPts val="800"/>
                        </a:spcAft>
                      </a:pPr>
                      <a:r>
                        <a:rPr lang="en-US" sz="1400" dirty="0">
                          <a:effectLst/>
                          <a:latin typeface="Bahnschrift" panose="020B0502040204020203" pitchFamily="34" charset="0"/>
                        </a:rPr>
                        <a:t>Interval</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tc>
                <a:tc>
                  <a:txBody>
                    <a:bodyPr/>
                    <a:lstStyle/>
                    <a:p>
                      <a:pPr marR="234315" indent="0" algn="ctr">
                        <a:lnSpc>
                          <a:spcPct val="107000"/>
                        </a:lnSpc>
                        <a:spcAft>
                          <a:spcPts val="800"/>
                        </a:spcAft>
                      </a:pP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a:txBody>
                  <a:tcPr marL="66932" marR="66932" marT="0" marB="35325"/>
                </a:tc>
                <a:extLst>
                  <a:ext uri="{0D108BD9-81ED-4DB2-BD59-A6C34878D82A}">
                    <a16:rowId xmlns:a16="http://schemas.microsoft.com/office/drawing/2014/main" val="4140181282"/>
                  </a:ext>
                </a:extLst>
              </a:tr>
              <a:tr h="714664">
                <a:tc>
                  <a:txBody>
                    <a:bodyPr/>
                    <a:lstStyle/>
                    <a:p>
                      <a:pPr marL="0" indent="0" algn="ctr">
                        <a:lnSpc>
                          <a:spcPct val="107000"/>
                        </a:lnSpc>
                        <a:spcAft>
                          <a:spcPts val="800"/>
                        </a:spcAft>
                      </a:pPr>
                      <a:r>
                        <a:rPr lang="en-US" sz="1400" dirty="0">
                          <a:effectLst/>
                          <a:latin typeface="Bahnschrift" panose="020B0502040204020203" pitchFamily="34" charset="0"/>
                        </a:rPr>
                        <a:t>X</a:t>
                      </a:r>
                      <a:r>
                        <a:rPr lang="en-US" sz="1400" baseline="-25000" dirty="0">
                          <a:effectLst/>
                          <a:latin typeface="Bahnschrift" panose="020B0502040204020203" pitchFamily="34" charset="0"/>
                        </a:rPr>
                        <a:t>2</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nchor="ctr"/>
                </a:tc>
                <a:tc>
                  <a:txBody>
                    <a:bodyPr/>
                    <a:lstStyle/>
                    <a:p>
                      <a:pPr marL="0" marR="234315" indent="0" algn="ctr" defTabSz="914400" rtl="0" eaLnBrk="1" latinLnBrk="0" hangingPunct="1">
                        <a:lnSpc>
                          <a:spcPct val="107000"/>
                        </a:lnSpc>
                        <a:spcBef>
                          <a:spcPts val="0"/>
                        </a:spcBef>
                        <a:spcAft>
                          <a:spcPts val="800"/>
                        </a:spcAft>
                      </a:pPr>
                      <a:r>
                        <a:rPr lang="en-US" sz="1400" kern="1200" dirty="0">
                          <a:solidFill>
                            <a:schemeClr val="tx1"/>
                          </a:solidFill>
                          <a:effectLst/>
                          <a:latin typeface="Bahnschrift" panose="020B0502040204020203" pitchFamily="34" charset="0"/>
                          <a:ea typeface="+mn-ea"/>
                          <a:cs typeface="+mn-cs"/>
                        </a:rPr>
                        <a:t>Konten atau teks berita pada berita yang diterbitkan turnbackhoax.id dan </a:t>
                      </a:r>
                      <a:r>
                        <a:rPr lang="en-ID" sz="1400" kern="1200" dirty="0">
                          <a:solidFill>
                            <a:schemeClr val="tx1"/>
                          </a:solidFill>
                          <a:effectLst/>
                          <a:latin typeface="Bahnschrift" panose="020B0502040204020203" pitchFamily="34" charset="0"/>
                          <a:ea typeface="+mn-ea"/>
                          <a:cs typeface="+mn-cs"/>
                        </a:rPr>
                        <a:t>republika.co.id</a:t>
                      </a:r>
                      <a:endParaRPr lang="en-US" sz="1400" kern="1200" dirty="0">
                        <a:solidFill>
                          <a:schemeClr val="tx1"/>
                        </a:solidFill>
                        <a:effectLst/>
                        <a:latin typeface="Bahnschrift" panose="020B0502040204020203" pitchFamily="34" charset="0"/>
                        <a:ea typeface="+mn-ea"/>
                        <a:cs typeface="+mn-cs"/>
                      </a:endParaRPr>
                    </a:p>
                  </a:txBody>
                  <a:tcPr marL="68580" marR="68580" marT="0" marB="36195" anchor="ctr"/>
                </a:tc>
                <a:tc>
                  <a:txBody>
                    <a:bodyPr/>
                    <a:lstStyle/>
                    <a:p>
                      <a:pPr marR="234315" indent="0" algn="ctr">
                        <a:lnSpc>
                          <a:spcPct val="107000"/>
                        </a:lnSpc>
                        <a:spcAft>
                          <a:spcPts val="800"/>
                        </a:spcAft>
                      </a:pPr>
                      <a:r>
                        <a:rPr lang="en-US" sz="1400" dirty="0">
                          <a:effectLst/>
                          <a:latin typeface="Bahnschrift" panose="020B0502040204020203" pitchFamily="34" charset="0"/>
                        </a:rPr>
                        <a:t>Nominal</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tc>
                <a:tc>
                  <a:txBody>
                    <a:bodyPr/>
                    <a:lstStyle/>
                    <a:p>
                      <a:pPr marR="234315" indent="0" algn="ctr">
                        <a:lnSpc>
                          <a:spcPct val="107000"/>
                        </a:lnSpc>
                        <a:spcAft>
                          <a:spcPts val="800"/>
                        </a:spcAft>
                      </a:pP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a:txBody>
                  <a:tcPr marL="66932" marR="66932" marT="0" marB="35325"/>
                </a:tc>
                <a:extLst>
                  <a:ext uri="{0D108BD9-81ED-4DB2-BD59-A6C34878D82A}">
                    <a16:rowId xmlns:a16="http://schemas.microsoft.com/office/drawing/2014/main" val="578233074"/>
                  </a:ext>
                </a:extLst>
              </a:tr>
              <a:tr h="714664">
                <a:tc>
                  <a:txBody>
                    <a:bodyPr/>
                    <a:lstStyle/>
                    <a:p>
                      <a:pPr marL="0" indent="0" algn="ctr">
                        <a:lnSpc>
                          <a:spcPct val="107000"/>
                        </a:lnSpc>
                        <a:spcAft>
                          <a:spcPts val="800"/>
                        </a:spcAft>
                      </a:pPr>
                      <a:r>
                        <a:rPr lang="en-US" sz="1400" dirty="0">
                          <a:effectLst/>
                          <a:latin typeface="Bahnschrift" panose="020B0502040204020203" pitchFamily="34" charset="0"/>
                        </a:rPr>
                        <a:t>Y</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nchor="ctr"/>
                </a:tc>
                <a:tc>
                  <a:txBody>
                    <a:bodyPr/>
                    <a:lstStyle/>
                    <a:p>
                      <a:pPr marL="0" marR="234315" indent="0" algn="ctr" defTabSz="914400" rtl="0" eaLnBrk="1" latinLnBrk="0" hangingPunct="1">
                        <a:lnSpc>
                          <a:spcPct val="107000"/>
                        </a:lnSpc>
                        <a:spcBef>
                          <a:spcPts val="0"/>
                        </a:spcBef>
                        <a:spcAft>
                          <a:spcPts val="800"/>
                        </a:spcAft>
                      </a:pPr>
                      <a:r>
                        <a:rPr lang="en-US" sz="1400" kern="1200" dirty="0">
                          <a:solidFill>
                            <a:schemeClr val="tx1"/>
                          </a:solidFill>
                          <a:effectLst/>
                          <a:latin typeface="Bahnschrift" panose="020B0502040204020203" pitchFamily="34" charset="0"/>
                          <a:ea typeface="+mn-ea"/>
                          <a:cs typeface="+mn-cs"/>
                        </a:rPr>
                        <a:t>Label berita pada berita yang diterbitkan turnbackhoax.id dan </a:t>
                      </a:r>
                      <a:r>
                        <a:rPr lang="en-ID" sz="1400" kern="1200" dirty="0">
                          <a:solidFill>
                            <a:schemeClr val="tx1"/>
                          </a:solidFill>
                          <a:effectLst/>
                          <a:latin typeface="Bahnschrift" panose="020B0502040204020203" pitchFamily="34" charset="0"/>
                          <a:ea typeface="+mn-ea"/>
                          <a:cs typeface="+mn-cs"/>
                        </a:rPr>
                        <a:t>republika.co.id</a:t>
                      </a:r>
                      <a:endParaRPr lang="en-US" sz="1400" kern="1200" dirty="0">
                        <a:solidFill>
                          <a:schemeClr val="tx1"/>
                        </a:solidFill>
                        <a:effectLst/>
                        <a:latin typeface="Bahnschrift" panose="020B0502040204020203" pitchFamily="34" charset="0"/>
                        <a:ea typeface="+mn-ea"/>
                        <a:cs typeface="+mn-cs"/>
                      </a:endParaRPr>
                    </a:p>
                  </a:txBody>
                  <a:tcPr marL="68580" marR="68580" marT="0" marB="36195" anchor="ctr"/>
                </a:tc>
                <a:tc>
                  <a:txBody>
                    <a:bodyPr/>
                    <a:lstStyle/>
                    <a:p>
                      <a:pPr marR="234315" indent="0" algn="ctr">
                        <a:lnSpc>
                          <a:spcPct val="107000"/>
                        </a:lnSpc>
                        <a:spcAft>
                          <a:spcPts val="800"/>
                        </a:spcAft>
                      </a:pPr>
                      <a:r>
                        <a:rPr lang="en-US" sz="1400" dirty="0">
                          <a:effectLst/>
                          <a:latin typeface="Bahnschrift" panose="020B0502040204020203" pitchFamily="34" charset="0"/>
                        </a:rPr>
                        <a:t>Nominal</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tc>
                <a:tc>
                  <a:txBody>
                    <a:bodyPr/>
                    <a:lstStyle/>
                    <a:p>
                      <a:pPr indent="0" algn="ctr"/>
                      <a:r>
                        <a:rPr lang="en-US" sz="1400" kern="1200" dirty="0">
                          <a:solidFill>
                            <a:schemeClr val="tx1"/>
                          </a:solidFill>
                          <a:effectLst/>
                          <a:latin typeface="Bahnschrift" panose="020B0502040204020203" pitchFamily="34" charset="0"/>
                          <a:ea typeface="+mn-ea"/>
                          <a:cs typeface="+mn-cs"/>
                        </a:rPr>
                        <a:t>1: Hoaks</a:t>
                      </a:r>
                    </a:p>
                    <a:p>
                      <a:pPr indent="0" algn="ctr"/>
                      <a:r>
                        <a:rPr lang="en-US" sz="1400" kern="1200" dirty="0">
                          <a:solidFill>
                            <a:schemeClr val="tx1"/>
                          </a:solidFill>
                          <a:effectLst/>
                          <a:latin typeface="Bahnschrift" panose="020B0502040204020203" pitchFamily="34" charset="0"/>
                          <a:ea typeface="+mn-ea"/>
                          <a:cs typeface="+mn-cs"/>
                        </a:rPr>
                        <a:t>0: </a:t>
                      </a:r>
                      <a:r>
                        <a:rPr lang="en-US" sz="1400" kern="1200" dirty="0" err="1">
                          <a:solidFill>
                            <a:schemeClr val="tx1"/>
                          </a:solidFill>
                          <a:effectLst/>
                          <a:latin typeface="Bahnschrift" panose="020B0502040204020203" pitchFamily="34" charset="0"/>
                          <a:ea typeface="+mn-ea"/>
                          <a:cs typeface="+mn-cs"/>
                        </a:rPr>
                        <a:t>Bukan</a:t>
                      </a:r>
                      <a:r>
                        <a:rPr lang="en-US" sz="1400" kern="1200" dirty="0">
                          <a:solidFill>
                            <a:schemeClr val="tx1"/>
                          </a:solidFill>
                          <a:effectLst/>
                          <a:latin typeface="Bahnschrift" panose="020B0502040204020203" pitchFamily="34" charset="0"/>
                          <a:ea typeface="+mn-ea"/>
                          <a:cs typeface="+mn-cs"/>
                        </a:rPr>
                        <a:t> Hoaks</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6932" marR="66932" marT="0" marB="35325"/>
                </a:tc>
                <a:extLst>
                  <a:ext uri="{0D108BD9-81ED-4DB2-BD59-A6C34878D82A}">
                    <a16:rowId xmlns:a16="http://schemas.microsoft.com/office/drawing/2014/main" val="1636809416"/>
                  </a:ext>
                </a:extLst>
              </a:tr>
            </a:tbl>
          </a:graphicData>
        </a:graphic>
      </p:graphicFrame>
      <p:sp>
        <p:nvSpPr>
          <p:cNvPr id="16" name="TextBox 15">
            <a:extLst>
              <a:ext uri="{FF2B5EF4-FFF2-40B4-BE49-F238E27FC236}">
                <a16:creationId xmlns:a16="http://schemas.microsoft.com/office/drawing/2014/main" id="{98EF1EF0-92F2-B6F0-86A2-BEE58E745341}"/>
              </a:ext>
            </a:extLst>
          </p:cNvPr>
          <p:cNvSpPr txBox="1"/>
          <p:nvPr/>
        </p:nvSpPr>
        <p:spPr>
          <a:xfrm>
            <a:off x="543483" y="3167390"/>
            <a:ext cx="7830356" cy="523220"/>
          </a:xfrm>
          <a:prstGeom prst="rect">
            <a:avLst/>
          </a:prstGeom>
          <a:noFill/>
        </p:spPr>
        <p:txBody>
          <a:bodyPr wrap="square" rtlCol="0">
            <a:spAutoFit/>
          </a:bodyPr>
          <a:lstStyle/>
          <a:p>
            <a:r>
              <a:rPr lang="en-US" sz="2800" dirty="0">
                <a:solidFill>
                  <a:srgbClr val="FF920D"/>
                </a:solidFill>
                <a:effectLst/>
                <a:latin typeface="Bahnschrift SemiBold" panose="020B0502040204020203" pitchFamily="34" charset="0"/>
              </a:rPr>
              <a:t>VARIABLE PENELITIAN</a:t>
            </a:r>
          </a:p>
        </p:txBody>
      </p:sp>
      <p:pic>
        <p:nvPicPr>
          <p:cNvPr id="3" name="Picture 2">
            <a:extLst>
              <a:ext uri="{FF2B5EF4-FFF2-40B4-BE49-F238E27FC236}">
                <a16:creationId xmlns:a16="http://schemas.microsoft.com/office/drawing/2014/main" id="{C34B8406-368B-1F0C-44C9-519309CE153B}"/>
              </a:ext>
            </a:extLst>
          </p:cNvPr>
          <p:cNvPicPr>
            <a:picLocks noChangeAspect="1"/>
          </p:cNvPicPr>
          <p:nvPr/>
        </p:nvPicPr>
        <p:blipFill>
          <a:blip r:embed="rId5"/>
          <a:stretch>
            <a:fillRect/>
          </a:stretch>
        </p:blipFill>
        <p:spPr>
          <a:xfrm>
            <a:off x="10575508" y="334546"/>
            <a:ext cx="785211" cy="769507"/>
          </a:xfrm>
          <a:prstGeom prst="rect">
            <a:avLst/>
          </a:prstGeom>
        </p:spPr>
      </p:pic>
      <p:pic>
        <p:nvPicPr>
          <p:cNvPr id="4" name="Picture 3">
            <a:extLst>
              <a:ext uri="{FF2B5EF4-FFF2-40B4-BE49-F238E27FC236}">
                <a16:creationId xmlns:a16="http://schemas.microsoft.com/office/drawing/2014/main" id="{A6919233-5E4D-961B-E81B-66C0731D915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Tree>
    <p:extLst>
      <p:ext uri="{BB962C8B-B14F-4D97-AF65-F5344CB8AC3E}">
        <p14:creationId xmlns:p14="http://schemas.microsoft.com/office/powerpoint/2010/main" val="214164237"/>
      </p:ext>
    </p:extLst>
  </p:cSld>
  <p:clrMapOvr>
    <a:masterClrMapping/>
  </p:clrMapOvr>
  <p:transition spd="slow">
    <p:wipe/>
  </p:transition>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97484A9D-DDC0-A68D-6D6D-B4A6AD83CFC1}"/>
              </a:ext>
            </a:extLst>
          </p:cNvPr>
          <p:cNvSpPr/>
          <p:nvPr/>
        </p:nvSpPr>
        <p:spPr>
          <a:xfrm rot="12559241">
            <a:off x="10539281" y="-671338"/>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5E2FFEB1-5B20-5431-682E-4C2E26D7A4B9}"/>
              </a:ext>
            </a:extLst>
          </p:cNvPr>
          <p:cNvSpPr/>
          <p:nvPr/>
        </p:nvSpPr>
        <p:spPr>
          <a:xfrm rot="12559241">
            <a:off x="11154298" y="-593659"/>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23191E4C-41A0-9423-D2B4-759DA90B8C19}"/>
              </a:ext>
            </a:extLst>
          </p:cNvPr>
          <p:cNvSpPr/>
          <p:nvPr/>
        </p:nvSpPr>
        <p:spPr>
          <a:xfrm rot="12559241">
            <a:off x="11630163" y="-593659"/>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17D67252-D402-D5D6-5A7A-69CB654E21E2}"/>
              </a:ext>
            </a:extLst>
          </p:cNvPr>
          <p:cNvSpPr/>
          <p:nvPr/>
        </p:nvSpPr>
        <p:spPr>
          <a:xfrm rot="12559241">
            <a:off x="11630163" y="5893821"/>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92806B63-19DB-02E0-2F97-5E3E73BA4B36}"/>
              </a:ext>
            </a:extLst>
          </p:cNvPr>
          <p:cNvSpPr/>
          <p:nvPr/>
        </p:nvSpPr>
        <p:spPr>
          <a:xfrm rot="12559241">
            <a:off x="-637510" y="5460402"/>
            <a:ext cx="2154017" cy="1738220"/>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C7A886E6-CD6A-F095-E30A-7FCD3A2BE249}"/>
              </a:ext>
            </a:extLst>
          </p:cNvPr>
          <p:cNvSpPr/>
          <p:nvPr/>
        </p:nvSpPr>
        <p:spPr>
          <a:xfrm rot="20221130">
            <a:off x="-302482" y="3899667"/>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E69D5DC5-F0E8-D70D-A56C-00E6B471A4B9}"/>
              </a:ext>
            </a:extLst>
          </p:cNvPr>
          <p:cNvSpPr/>
          <p:nvPr/>
        </p:nvSpPr>
        <p:spPr>
          <a:xfrm rot="2946540">
            <a:off x="1901123" y="6022701"/>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6400E8FB-F20C-F4BB-FE51-47FECAFA53FF}"/>
              </a:ext>
            </a:extLst>
          </p:cNvPr>
          <p:cNvSpPr/>
          <p:nvPr/>
        </p:nvSpPr>
        <p:spPr>
          <a:xfrm rot="15006705">
            <a:off x="6491320" y="-664382"/>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482101" y="852362"/>
            <a:ext cx="4763667" cy="523220"/>
          </a:xfrm>
          <a:prstGeom prst="rect">
            <a:avLst/>
          </a:prstGeom>
          <a:noFill/>
        </p:spPr>
        <p:txBody>
          <a:bodyPr wrap="square" rtlCol="0">
            <a:spAutoFit/>
          </a:bodyPr>
          <a:lstStyle/>
          <a:p>
            <a:r>
              <a:rPr lang="en-US" sz="2800" dirty="0">
                <a:solidFill>
                  <a:srgbClr val="FF920D"/>
                </a:solidFill>
                <a:latin typeface="Bahnschrift SemiBold" panose="020B0502040204020203" pitchFamily="34" charset="0"/>
              </a:rPr>
              <a:t>STRUKTUR DATA</a:t>
            </a:r>
            <a:endParaRPr lang="en-US" sz="2800" dirty="0">
              <a:solidFill>
                <a:srgbClr val="FF920D"/>
              </a:solidFill>
              <a:effectLst/>
              <a:latin typeface="Bahnschrift SemiBold" panose="020B0502040204020203" pitchFamily="34" charset="0"/>
            </a:endParaRPr>
          </a:p>
        </p:txBody>
      </p:sp>
      <p:sp>
        <p:nvSpPr>
          <p:cNvPr id="13" name="TextBox 5">
            <a:extLst>
              <a:ext uri="{FF2B5EF4-FFF2-40B4-BE49-F238E27FC236}">
                <a16:creationId xmlns:a16="http://schemas.microsoft.com/office/drawing/2014/main" id="{40F5B74D-A373-4CC5-A034-860FC458FA0B}"/>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9</a:t>
            </a:r>
            <a:endParaRPr lang="en-US" sz="2000" b="1" dirty="0"/>
          </a:p>
        </p:txBody>
      </p:sp>
      <p:graphicFrame>
        <p:nvGraphicFramePr>
          <p:cNvPr id="3" name="Table 2">
            <a:extLst>
              <a:ext uri="{FF2B5EF4-FFF2-40B4-BE49-F238E27FC236}">
                <a16:creationId xmlns:a16="http://schemas.microsoft.com/office/drawing/2014/main" id="{8F6968D6-05CA-07B9-CDD8-D34A6E4A8FDB}"/>
              </a:ext>
            </a:extLst>
          </p:cNvPr>
          <p:cNvGraphicFramePr>
            <a:graphicFrameLocks noGrp="1"/>
          </p:cNvGraphicFramePr>
          <p:nvPr>
            <p:extLst>
              <p:ext uri="{D42A27DB-BD31-4B8C-83A1-F6EECF244321}">
                <p14:modId xmlns:p14="http://schemas.microsoft.com/office/powerpoint/2010/main" val="3194682262"/>
              </p:ext>
            </p:extLst>
          </p:nvPr>
        </p:nvGraphicFramePr>
        <p:xfrm>
          <a:off x="482101" y="2057462"/>
          <a:ext cx="5455525" cy="2675954"/>
        </p:xfrm>
        <a:graphic>
          <a:graphicData uri="http://schemas.openxmlformats.org/drawingml/2006/table">
            <a:tbl>
              <a:tblPr>
                <a:tableStyleId>{5940675A-B579-460E-94D1-54222C63F5DA}</a:tableStyleId>
              </a:tblPr>
              <a:tblGrid>
                <a:gridCol w="614282">
                  <a:extLst>
                    <a:ext uri="{9D8B030D-6E8A-4147-A177-3AD203B41FA5}">
                      <a16:colId xmlns:a16="http://schemas.microsoft.com/office/drawing/2014/main" val="1328658929"/>
                    </a:ext>
                  </a:extLst>
                </a:gridCol>
                <a:gridCol w="4841243">
                  <a:extLst>
                    <a:ext uri="{9D8B030D-6E8A-4147-A177-3AD203B41FA5}">
                      <a16:colId xmlns:a16="http://schemas.microsoft.com/office/drawing/2014/main" val="4218456497"/>
                    </a:ext>
                  </a:extLst>
                </a:gridCol>
              </a:tblGrid>
              <a:tr h="0">
                <a:tc>
                  <a:txBody>
                    <a:bodyPr/>
                    <a:lstStyle/>
                    <a:p>
                      <a:pPr indent="0" algn="ctr">
                        <a:lnSpc>
                          <a:spcPct val="107000"/>
                        </a:lnSpc>
                        <a:spcAft>
                          <a:spcPts val="800"/>
                        </a:spcAft>
                      </a:pPr>
                      <a:r>
                        <a:rPr lang="en-US" sz="1400" dirty="0">
                          <a:effectLst/>
                          <a:latin typeface="Bahnschrift" panose="020B0502040204020203" pitchFamily="34" charset="0"/>
                        </a:rPr>
                        <a:t>Index </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R="234315" indent="0" algn="ctr">
                        <a:lnSpc>
                          <a:spcPct val="107000"/>
                        </a:lnSpc>
                        <a:spcAft>
                          <a:spcPts val="800"/>
                        </a:spcAft>
                      </a:pPr>
                      <a:r>
                        <a:rPr lang="en-US" sz="1400" dirty="0" err="1">
                          <a:effectLst/>
                          <a:latin typeface="Bahnschrift" panose="020B0502040204020203" pitchFamily="34" charset="0"/>
                        </a:rPr>
                        <a:t>Berita</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608367914"/>
                  </a:ext>
                </a:extLst>
              </a:tr>
              <a:tr h="0">
                <a:tc>
                  <a:txBody>
                    <a:bodyPr/>
                    <a:lstStyle/>
                    <a:p>
                      <a:pPr indent="0" algn="ctr">
                        <a:lnSpc>
                          <a:spcPct val="107000"/>
                        </a:lnSpc>
                        <a:spcAft>
                          <a:spcPts val="800"/>
                        </a:spcAft>
                      </a:pPr>
                      <a:r>
                        <a:rPr lang="en-ID" sz="1400">
                          <a:effectLst/>
                          <a:latin typeface="Bahnschrift" panose="020B0502040204020203" pitchFamily="34" charset="0"/>
                        </a:rPr>
                        <a:t>1</a:t>
                      </a:r>
                      <a:endParaRPr lang="en-US" sz="14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indent="0" algn="just">
                        <a:lnSpc>
                          <a:spcPct val="107000"/>
                        </a:lnSpc>
                        <a:spcAft>
                          <a:spcPts val="800"/>
                        </a:spcAft>
                      </a:pPr>
                      <a:r>
                        <a:rPr lang="en-ID" sz="1400" dirty="0">
                          <a:effectLst/>
                          <a:latin typeface="Bahnschrift" panose="020B0502040204020203" pitchFamily="34" charset="0"/>
                        </a:rPr>
                        <a:t>['</a:t>
                      </a:r>
                      <a:r>
                        <a:rPr lang="en-ID" sz="1400" dirty="0" err="1">
                          <a:effectLst/>
                          <a:latin typeface="Bahnschrift" panose="020B0502040204020203" pitchFamily="34" charset="0"/>
                        </a:rPr>
                        <a:t>mafindo</a:t>
                      </a:r>
                      <a:r>
                        <a:rPr lang="en-ID" sz="1400" dirty="0">
                          <a:effectLst/>
                          <a:latin typeface="Bahnschrift" panose="020B0502040204020203" pitchFamily="34" charset="0"/>
                        </a:rPr>
                        <a:t>', '</a:t>
                      </a:r>
                      <a:r>
                        <a:rPr lang="en-ID" sz="1400" dirty="0" err="1">
                          <a:effectLst/>
                          <a:latin typeface="Bahnschrift" panose="020B0502040204020203" pitchFamily="34" charset="0"/>
                        </a:rPr>
                        <a:t>perlu</a:t>
                      </a:r>
                      <a:r>
                        <a:rPr lang="en-ID" sz="1400" dirty="0">
                          <a:effectLst/>
                          <a:latin typeface="Bahnschrift" panose="020B0502040204020203" pitchFamily="34" charset="0"/>
                        </a:rPr>
                        <a:t>', '</a:t>
                      </a:r>
                      <a:r>
                        <a:rPr lang="en-ID" sz="1400" dirty="0" err="1">
                          <a:effectLst/>
                          <a:latin typeface="Bahnschrift" panose="020B0502040204020203" pitchFamily="34" charset="0"/>
                        </a:rPr>
                        <a:t>ada</a:t>
                      </a:r>
                      <a:r>
                        <a:rPr lang="en-ID" sz="1400" dirty="0">
                          <a:effectLst/>
                          <a:latin typeface="Bahnschrift" panose="020B0502040204020203" pitchFamily="34" charset="0"/>
                        </a:rPr>
                        <a:t>', '</a:t>
                      </a:r>
                      <a:r>
                        <a:rPr lang="en-ID" sz="1400" dirty="0" err="1">
                          <a:effectLst/>
                          <a:latin typeface="Bahnschrift" panose="020B0502040204020203" pitchFamily="34" charset="0"/>
                        </a:rPr>
                        <a:t>kode</a:t>
                      </a:r>
                      <a:r>
                        <a:rPr lang="en-ID" sz="1400" dirty="0">
                          <a:effectLst/>
                          <a:latin typeface="Bahnschrift" panose="020B0502040204020203" pitchFamily="34" charset="0"/>
                        </a:rPr>
                        <a:t>', '</a:t>
                      </a:r>
                      <a:r>
                        <a:rPr lang="en-ID" sz="1400" dirty="0" err="1">
                          <a:effectLst/>
                          <a:latin typeface="Bahnschrift" panose="020B0502040204020203" pitchFamily="34" charset="0"/>
                        </a:rPr>
                        <a:t>etik</a:t>
                      </a:r>
                      <a:r>
                        <a:rPr lang="en-ID" sz="1400" dirty="0">
                          <a:effectLst/>
                          <a:latin typeface="Bahnschrift" panose="020B0502040204020203" pitchFamily="34" charset="0"/>
                        </a:rPr>
                        <a:t>', '</a:t>
                      </a:r>
                      <a:r>
                        <a:rPr lang="en-ID" sz="1400" dirty="0" err="1">
                          <a:effectLst/>
                          <a:latin typeface="Bahnschrift" panose="020B0502040204020203" pitchFamily="34" charset="0"/>
                        </a:rPr>
                        <a:t>bagi</a:t>
                      </a:r>
                      <a:r>
                        <a:rPr lang="en-ID" sz="1400" dirty="0">
                          <a:effectLst/>
                          <a:latin typeface="Bahnschrift" panose="020B0502040204020203" pitchFamily="34" charset="0"/>
                        </a:rPr>
                        <a:t>', 'influencer', '</a:t>
                      </a:r>
                      <a:r>
                        <a:rPr lang="en-ID" sz="1400" dirty="0" err="1">
                          <a:effectLst/>
                          <a:latin typeface="Bahnschrift" panose="020B0502040204020203" pitchFamily="34" charset="0"/>
                        </a:rPr>
                        <a:t>selamat</a:t>
                      </a:r>
                      <a:r>
                        <a:rPr lang="en-ID" sz="1400" dirty="0">
                          <a:effectLst/>
                          <a:latin typeface="Bahnschrift" panose="020B0502040204020203" pitchFamily="34" charset="0"/>
                        </a:rPr>
                        <a:t>', '</a:t>
                      </a:r>
                      <a:r>
                        <a:rPr lang="en-ID" sz="1400" dirty="0" err="1">
                          <a:effectLst/>
                          <a:latin typeface="Bahnschrift" panose="020B0502040204020203" pitchFamily="34" charset="0"/>
                        </a:rPr>
                        <a:t>pagi</a:t>
                      </a:r>
                      <a:r>
                        <a:rPr lang="en-ID" sz="1400" dirty="0">
                          <a:effectLst/>
                          <a:latin typeface="Bahnschrift" panose="020B0502040204020203" pitchFamily="34" charset="0"/>
                        </a:rPr>
                        <a:t>', '</a:t>
                      </a:r>
                      <a:r>
                        <a:rPr lang="en-ID" sz="1400" dirty="0" err="1">
                          <a:effectLst/>
                          <a:latin typeface="Bahnschrift" panose="020B0502040204020203" pitchFamily="34" charset="0"/>
                        </a:rPr>
                        <a:t>indonesia</a:t>
                      </a:r>
                      <a:r>
                        <a:rPr lang="en-ID" sz="1400" dirty="0">
                          <a:effectLst/>
                          <a:latin typeface="Bahnschrift" panose="020B0502040204020203" pitchFamily="34" charset="0"/>
                        </a:rPr>
                        <a:t>', '</a:t>
                      </a:r>
                      <a:r>
                        <a:rPr lang="en-ID" sz="1400" dirty="0" err="1">
                          <a:effectLst/>
                          <a:latin typeface="Bahnschrift" panose="020B0502040204020203" pitchFamily="34" charset="0"/>
                        </a:rPr>
                        <a:t>beberapa</a:t>
                      </a:r>
                      <a:r>
                        <a:rPr lang="en-ID" sz="1400" dirty="0">
                          <a:effectLst/>
                          <a:latin typeface="Bahnschrift" panose="020B0502040204020203" pitchFamily="34" charset="0"/>
                        </a:rPr>
                        <a:t>', '</a:t>
                      </a:r>
                      <a:r>
                        <a:rPr lang="en-ID" sz="1400" dirty="0" err="1">
                          <a:effectLst/>
                          <a:latin typeface="Bahnschrift" panose="020B0502040204020203" pitchFamily="34" charset="0"/>
                        </a:rPr>
                        <a:t>waktu</a:t>
                      </a:r>
                      <a:r>
                        <a:rPr lang="en-ID" sz="1400" dirty="0">
                          <a:effectLst/>
                          <a:latin typeface="Bahnschrift" panose="020B0502040204020203" pitchFamily="34" charset="0"/>
                        </a:rPr>
                        <a:t>', '</a:t>
                      </a:r>
                      <a:r>
                        <a:rPr lang="en-ID" sz="1400" dirty="0" err="1">
                          <a:effectLst/>
                          <a:latin typeface="Bahnschrift" panose="020B0502040204020203" pitchFamily="34" charset="0"/>
                        </a:rPr>
                        <a:t>lalu</a:t>
                      </a:r>
                      <a:r>
                        <a:rPr lang="en-ID" sz="1400" dirty="0">
                          <a:effectLst/>
                          <a:latin typeface="Bahnschrift" panose="020B0502040204020203" pitchFamily="34" charset="0"/>
                        </a:rPr>
                        <a:t>', '</a:t>
                      </a:r>
                      <a:r>
                        <a:rPr lang="en-ID" sz="1400" dirty="0" err="1">
                          <a:effectLst/>
                          <a:latin typeface="Bahnschrift" panose="020B0502040204020203" pitchFamily="34" charset="0"/>
                        </a:rPr>
                        <a:t>ramai</a:t>
                      </a:r>
                      <a:r>
                        <a:rPr lang="en-ID" sz="1400" dirty="0">
                          <a:effectLst/>
                          <a:latin typeface="Bahnschrift" panose="020B0502040204020203" pitchFamily="34" charset="0"/>
                        </a:rPr>
                        <a:t>', '</a:t>
                      </a:r>
                      <a:r>
                        <a:rPr lang="en-ID" sz="1400" dirty="0" err="1">
                          <a:effectLst/>
                          <a:latin typeface="Bahnschrift" panose="020B0502040204020203" pitchFamily="34" charset="0"/>
                        </a:rPr>
                        <a:t>jadi</a:t>
                      </a:r>
                      <a:r>
                        <a:rPr lang="en-ID" sz="1400" dirty="0">
                          <a:effectLst/>
                          <a:latin typeface="Bahnschrift" panose="020B0502040204020203" pitchFamily="34" charset="0"/>
                        </a:rPr>
                        <a:t>', '</a:t>
                      </a:r>
                      <a:r>
                        <a:rPr lang="en-ID" sz="1400" dirty="0" err="1">
                          <a:effectLst/>
                          <a:latin typeface="Bahnschrift" panose="020B0502040204020203" pitchFamily="34" charset="0"/>
                        </a:rPr>
                        <a:t>bicara</a:t>
                      </a:r>
                      <a:r>
                        <a:rPr lang="en-ID" sz="1400" dirty="0">
                          <a:effectLst/>
                          <a:latin typeface="Bahnschrift" panose="020B0502040204020203" pitchFamily="34" charset="0"/>
                        </a:rPr>
                        <a:t>', '</a:t>
                      </a:r>
                      <a:r>
                        <a:rPr lang="en-ID" sz="1400" dirty="0" err="1">
                          <a:effectLst/>
                          <a:latin typeface="Bahnschrift" panose="020B0502040204020203" pitchFamily="34" charset="0"/>
                        </a:rPr>
                        <a:t>soal</a:t>
                      </a:r>
                      <a:r>
                        <a:rPr lang="en-ID" sz="1400" dirty="0">
                          <a:effectLst/>
                          <a:latin typeface="Bahnschrift" panose="020B0502040204020203" pitchFamily="34" charset="0"/>
                        </a:rPr>
                        <a:t>', '</a:t>
                      </a:r>
                      <a:r>
                        <a:rPr lang="en-ID" sz="1400" dirty="0" err="1">
                          <a:effectLst/>
                          <a:latin typeface="Bahnschrift" panose="020B0502040204020203" pitchFamily="34" charset="0"/>
                        </a:rPr>
                        <a:t>konten</a:t>
                      </a:r>
                      <a:r>
                        <a:rPr lang="en-ID" sz="1400" dirty="0">
                          <a:effectLst/>
                          <a:latin typeface="Bahnschrift" panose="020B0502040204020203" pitchFamily="34" charset="0"/>
                        </a:rPr>
                        <a:t>', 'video', 'yang', 'buat', '</a:t>
                      </a:r>
                      <a:r>
                        <a:rPr lang="en-ID" sz="1400" dirty="0" err="1">
                          <a:effectLst/>
                          <a:latin typeface="Bahnschrift" panose="020B0502040204020203" pitchFamily="34" charset="0"/>
                        </a:rPr>
                        <a:t>musisi</a:t>
                      </a:r>
                      <a:r>
                        <a:rPr lang="en-ID" sz="1400" dirty="0">
                          <a:effectLst/>
                          <a:latin typeface="Bahnschrift" panose="020B0502040204020203" pitchFamily="34" charset="0"/>
                        </a:rPr>
                        <a:t>', ..., '</a:t>
                      </a:r>
                      <a:r>
                        <a:rPr lang="en-ID" sz="1400" dirty="0" err="1">
                          <a:effectLst/>
                          <a:latin typeface="Bahnschrift" panose="020B0502040204020203" pitchFamily="34" charset="0"/>
                        </a:rPr>
                        <a:t>indonesia</a:t>
                      </a:r>
                      <a:r>
                        <a:rPr lang="en-ID" sz="1400" dirty="0">
                          <a:effectLst/>
                          <a:latin typeface="Bahnschrift" panose="020B0502040204020203" pitchFamily="34" charset="0"/>
                        </a:rPr>
                        <a:t>']</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590620138"/>
                  </a:ext>
                </a:extLst>
              </a:tr>
              <a:tr h="0">
                <a:tc>
                  <a:txBody>
                    <a:bodyPr/>
                    <a:lstStyle/>
                    <a:p>
                      <a:pPr indent="0" algn="ctr">
                        <a:lnSpc>
                          <a:spcPct val="107000"/>
                        </a:lnSpc>
                        <a:spcAft>
                          <a:spcPts val="800"/>
                        </a:spcAft>
                      </a:pPr>
                      <a:r>
                        <a:rPr lang="en-ID" sz="1400">
                          <a:effectLst/>
                          <a:latin typeface="Bahnschrift" panose="020B0502040204020203" pitchFamily="34" charset="0"/>
                        </a:rPr>
                        <a:t>2</a:t>
                      </a:r>
                      <a:endParaRPr lang="en-US" sz="14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indent="0" algn="just">
                        <a:lnSpc>
                          <a:spcPct val="107000"/>
                        </a:lnSpc>
                        <a:spcAft>
                          <a:spcPts val="800"/>
                        </a:spcAft>
                      </a:pPr>
                      <a:r>
                        <a:rPr lang="en-ID" sz="1400" dirty="0">
                          <a:effectLst/>
                          <a:latin typeface="Bahnschrift" panose="020B0502040204020203" pitchFamily="34" charset="0"/>
                        </a:rPr>
                        <a:t>['</a:t>
                      </a:r>
                      <a:r>
                        <a:rPr lang="en-ID" sz="1400" dirty="0" err="1">
                          <a:effectLst/>
                          <a:latin typeface="Bahnschrift" panose="020B0502040204020203" pitchFamily="34" charset="0"/>
                        </a:rPr>
                        <a:t>kutip</a:t>
                      </a:r>
                      <a:r>
                        <a:rPr lang="en-ID" sz="1400" dirty="0">
                          <a:effectLst/>
                          <a:latin typeface="Bahnschrift" panose="020B0502040204020203" pitchFamily="34" charset="0"/>
                        </a:rPr>
                        <a:t>', '</a:t>
                      </a:r>
                      <a:r>
                        <a:rPr lang="en-ID" sz="1400" dirty="0" err="1">
                          <a:effectLst/>
                          <a:latin typeface="Bahnschrift" panose="020B0502040204020203" pitchFamily="34" charset="0"/>
                        </a:rPr>
                        <a:t>sebut</a:t>
                      </a:r>
                      <a:r>
                        <a:rPr lang="en-ID" sz="1400" dirty="0">
                          <a:effectLst/>
                          <a:latin typeface="Bahnschrift" panose="020B0502040204020203" pitchFamily="34" charset="0"/>
                        </a:rPr>
                        <a:t>', '</a:t>
                      </a:r>
                      <a:r>
                        <a:rPr lang="en-ID" sz="1400" dirty="0" err="1">
                          <a:effectLst/>
                          <a:latin typeface="Bahnschrift" panose="020B0502040204020203" pitchFamily="34" charset="0"/>
                        </a:rPr>
                        <a:t>palsu</a:t>
                      </a:r>
                      <a:r>
                        <a:rPr lang="en-ID" sz="1400" dirty="0">
                          <a:effectLst/>
                          <a:latin typeface="Bahnschrift" panose="020B0502040204020203" pitchFamily="34" charset="0"/>
                        </a:rPr>
                        <a:t>', '</a:t>
                      </a:r>
                      <a:r>
                        <a:rPr lang="en-ID" sz="1400" dirty="0" err="1">
                          <a:effectLst/>
                          <a:latin typeface="Bahnschrift" panose="020B0502040204020203" pitchFamily="34" charset="0"/>
                        </a:rPr>
                        <a:t>jelas</a:t>
                      </a:r>
                      <a:r>
                        <a:rPr lang="en-ID" sz="1400" dirty="0">
                          <a:effectLst/>
                          <a:latin typeface="Bahnschrift" panose="020B0502040204020203" pitchFamily="34" charset="0"/>
                        </a:rPr>
                        <a:t>', '</a:t>
                      </a:r>
                      <a:r>
                        <a:rPr lang="en-ID" sz="1400" dirty="0" err="1">
                          <a:effectLst/>
                          <a:latin typeface="Bahnschrift" panose="020B0502040204020203" pitchFamily="34" charset="0"/>
                        </a:rPr>
                        <a:t>bahwa</a:t>
                      </a:r>
                      <a:r>
                        <a:rPr lang="en-ID" sz="1400" dirty="0">
                          <a:effectLst/>
                          <a:latin typeface="Bahnschrift" panose="020B0502040204020203" pitchFamily="34" charset="0"/>
                        </a:rPr>
                        <a:t>', '</a:t>
                      </a:r>
                      <a:r>
                        <a:rPr lang="en-ID" sz="1400" dirty="0" err="1">
                          <a:effectLst/>
                          <a:latin typeface="Bahnschrift" panose="020B0502040204020203" pitchFamily="34" charset="0"/>
                        </a:rPr>
                        <a:t>haedar</a:t>
                      </a:r>
                      <a:r>
                        <a:rPr lang="en-ID" sz="1400" dirty="0">
                          <a:effectLst/>
                          <a:latin typeface="Bahnschrift" panose="020B0502040204020203" pitchFamily="34" charset="0"/>
                        </a:rPr>
                        <a:t>', '</a:t>
                      </a:r>
                      <a:r>
                        <a:rPr lang="en-ID" sz="1400" dirty="0" err="1">
                          <a:effectLst/>
                          <a:latin typeface="Bahnschrift" panose="020B0502040204020203" pitchFamily="34" charset="0"/>
                        </a:rPr>
                        <a:t>nashir</a:t>
                      </a:r>
                      <a:r>
                        <a:rPr lang="en-ID" sz="1400" dirty="0">
                          <a:effectLst/>
                          <a:latin typeface="Bahnschrift" panose="020B0502040204020203" pitchFamily="34" charset="0"/>
                        </a:rPr>
                        <a:t>', '</a:t>
                      </a:r>
                      <a:r>
                        <a:rPr lang="en-ID" sz="1400" dirty="0" err="1">
                          <a:effectLst/>
                          <a:latin typeface="Bahnschrift" panose="020B0502040204020203" pitchFamily="34" charset="0"/>
                        </a:rPr>
                        <a:t>selaku</a:t>
                      </a:r>
                      <a:r>
                        <a:rPr lang="en-ID" sz="1400" dirty="0">
                          <a:effectLst/>
                          <a:latin typeface="Bahnschrift" panose="020B0502040204020203" pitchFamily="34" charset="0"/>
                        </a:rPr>
                        <a:t>', '</a:t>
                      </a:r>
                      <a:r>
                        <a:rPr lang="en-ID" sz="1400" dirty="0" err="1">
                          <a:effectLst/>
                          <a:latin typeface="Bahnschrift" panose="020B0502040204020203" pitchFamily="34" charset="0"/>
                        </a:rPr>
                        <a:t>ketua</a:t>
                      </a:r>
                      <a:r>
                        <a:rPr lang="en-ID" sz="1400" dirty="0">
                          <a:effectLst/>
                          <a:latin typeface="Bahnschrift" panose="020B0502040204020203" pitchFamily="34" charset="0"/>
                        </a:rPr>
                        <a:t>', '</a:t>
                      </a:r>
                      <a:r>
                        <a:rPr lang="en-ID" sz="1400" dirty="0" err="1">
                          <a:effectLst/>
                          <a:latin typeface="Bahnschrift" panose="020B0502040204020203" pitchFamily="34" charset="0"/>
                        </a:rPr>
                        <a:t>umum</a:t>
                      </a:r>
                      <a:r>
                        <a:rPr lang="en-ID" sz="1400" dirty="0">
                          <a:effectLst/>
                          <a:latin typeface="Bahnschrift" panose="020B0502040204020203" pitchFamily="34" charset="0"/>
                        </a:rPr>
                        <a:t>', 'pp', '</a:t>
                      </a:r>
                      <a:r>
                        <a:rPr lang="en-ID" sz="1400" dirty="0" err="1">
                          <a:effectLst/>
                          <a:latin typeface="Bahnschrift" panose="020B0502040204020203" pitchFamily="34" charset="0"/>
                        </a:rPr>
                        <a:t>muhammadiyah</a:t>
                      </a:r>
                      <a:r>
                        <a:rPr lang="en-ID" sz="1400" dirty="0">
                          <a:effectLst/>
                          <a:latin typeface="Bahnschrift" panose="020B0502040204020203" pitchFamily="34" charset="0"/>
                        </a:rPr>
                        <a:t>', '</a:t>
                      </a:r>
                      <a:r>
                        <a:rPr lang="en-ID" sz="1400" dirty="0" err="1">
                          <a:effectLst/>
                          <a:latin typeface="Bahnschrift" panose="020B0502040204020203" pitchFamily="34" charset="0"/>
                        </a:rPr>
                        <a:t>tidak</a:t>
                      </a:r>
                      <a:r>
                        <a:rPr lang="en-ID" sz="1400" dirty="0">
                          <a:effectLst/>
                          <a:latin typeface="Bahnschrift" panose="020B0502040204020203" pitchFamily="34" charset="0"/>
                        </a:rPr>
                        <a:t>', '</a:t>
                      </a:r>
                      <a:r>
                        <a:rPr lang="en-ID" sz="1400" dirty="0" err="1">
                          <a:effectLst/>
                          <a:latin typeface="Bahnschrift" panose="020B0502040204020203" pitchFamily="34" charset="0"/>
                        </a:rPr>
                        <a:t>pernah</a:t>
                      </a:r>
                      <a:r>
                        <a:rPr lang="en-ID" sz="1400" dirty="0">
                          <a:effectLst/>
                          <a:latin typeface="Bahnschrift" panose="020B0502040204020203" pitchFamily="34" charset="0"/>
                        </a:rPr>
                        <a:t>', '</a:t>
                      </a:r>
                      <a:r>
                        <a:rPr lang="en-ID" sz="1400" dirty="0" err="1">
                          <a:effectLst/>
                          <a:latin typeface="Bahnschrift" panose="020B0502040204020203" pitchFamily="34" charset="0"/>
                        </a:rPr>
                        <a:t>keluar</a:t>
                      </a:r>
                      <a:r>
                        <a:rPr lang="en-ID" sz="1400" dirty="0">
                          <a:effectLst/>
                          <a:latin typeface="Bahnschrift" panose="020B0502040204020203" pitchFamily="34" charset="0"/>
                        </a:rPr>
                        <a:t>', '</a:t>
                      </a:r>
                      <a:r>
                        <a:rPr lang="en-ID" sz="1400" dirty="0" err="1">
                          <a:effectLst/>
                          <a:latin typeface="Bahnschrift" panose="020B0502040204020203" pitchFamily="34" charset="0"/>
                        </a:rPr>
                        <a:t>nyata</a:t>
                      </a:r>
                      <a:r>
                        <a:rPr lang="en-ID" sz="1400" dirty="0">
                          <a:effectLst/>
                          <a:latin typeface="Bahnschrift" panose="020B0502040204020203" pitchFamily="34" charset="0"/>
                        </a:rPr>
                        <a:t>', '</a:t>
                      </a:r>
                      <a:r>
                        <a:rPr lang="en-ID" sz="1400" dirty="0" err="1">
                          <a:effectLst/>
                          <a:latin typeface="Bahnschrift" panose="020B0502040204020203" pitchFamily="34" charset="0"/>
                        </a:rPr>
                        <a:t>bagaimana</a:t>
                      </a:r>
                      <a:r>
                        <a:rPr lang="en-ID" sz="1400" dirty="0">
                          <a:effectLst/>
                          <a:latin typeface="Bahnschrift" panose="020B0502040204020203" pitchFamily="34" charset="0"/>
                        </a:rPr>
                        <a:t>', 'yang', '</a:t>
                      </a:r>
                      <a:r>
                        <a:rPr lang="en-ID" sz="1400" dirty="0" err="1">
                          <a:effectLst/>
                          <a:latin typeface="Bahnschrift" panose="020B0502040204020203" pitchFamily="34" charset="0"/>
                        </a:rPr>
                        <a:t>sekarang</a:t>
                      </a:r>
                      <a:r>
                        <a:rPr lang="en-ID" sz="1400" dirty="0">
                          <a:effectLst/>
                          <a:latin typeface="Bahnschrift" panose="020B0502040204020203" pitchFamily="34" charset="0"/>
                        </a:rPr>
                        <a:t>', '</a:t>
                      </a:r>
                      <a:r>
                        <a:rPr lang="en-ID" sz="1400" dirty="0" err="1">
                          <a:effectLst/>
                          <a:latin typeface="Bahnschrift" panose="020B0502040204020203" pitchFamily="34" charset="0"/>
                        </a:rPr>
                        <a:t>jadi</a:t>
                      </a:r>
                      <a:r>
                        <a:rPr lang="en-ID" sz="1400" dirty="0">
                          <a:effectLst/>
                          <a:latin typeface="Bahnschrift" panose="020B0502040204020203" pitchFamily="34" charset="0"/>
                        </a:rPr>
                        <a:t>', '</a:t>
                      </a:r>
                      <a:r>
                        <a:rPr lang="en-ID" sz="1400" dirty="0" err="1">
                          <a:effectLst/>
                          <a:latin typeface="Bahnschrift" panose="020B0502040204020203" pitchFamily="34" charset="0"/>
                        </a:rPr>
                        <a:t>cengeng</a:t>
                      </a:r>
                      <a:r>
                        <a:rPr lang="en-ID" sz="1400" dirty="0">
                          <a:effectLst/>
                          <a:latin typeface="Bahnschrift" panose="020B0502040204020203" pitchFamily="34" charset="0"/>
                        </a:rPr>
                        <a:t>', ..., '</a:t>
                      </a:r>
                      <a:r>
                        <a:rPr lang="en-ID" sz="1400" dirty="0" err="1">
                          <a:effectLst/>
                          <a:latin typeface="Bahnschrift" panose="020B0502040204020203" pitchFamily="34" charset="0"/>
                        </a:rPr>
                        <a:t>berani</a:t>
                      </a:r>
                      <a:r>
                        <a:rPr lang="en-ID" sz="1400" dirty="0">
                          <a:effectLst/>
                          <a:latin typeface="Bahnschrift" panose="020B0502040204020203" pitchFamily="34" charset="0"/>
                        </a:rPr>
                        <a:t>']</a:t>
                      </a:r>
                      <a:endParaRPr lang="en-US" sz="1400" dirty="0">
                        <a:effectLst/>
                        <a:latin typeface="Bahnschrift" panose="020B0502040204020203" pitchFamily="34" charset="0"/>
                      </a:endParaRPr>
                    </a:p>
                    <a:p>
                      <a:pPr marR="234315" indent="0" algn="just">
                        <a:lnSpc>
                          <a:spcPct val="107000"/>
                        </a:lnSpc>
                        <a:spcAft>
                          <a:spcPts val="800"/>
                        </a:spcAft>
                      </a:pPr>
                      <a:r>
                        <a:rPr lang="en-ID" sz="1400" dirty="0">
                          <a:effectLst/>
                          <a:latin typeface="Bahnschrift" panose="020B0502040204020203" pitchFamily="34" charset="0"/>
                        </a:rPr>
                        <a:t> </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628499317"/>
                  </a:ext>
                </a:extLst>
              </a:tr>
              <a:tr h="0">
                <a:tc>
                  <a:txBody>
                    <a:bodyPr/>
                    <a:lstStyle/>
                    <a:p>
                      <a:pPr indent="0" algn="ctr">
                        <a:lnSpc>
                          <a:spcPct val="107000"/>
                        </a:lnSpc>
                        <a:spcAft>
                          <a:spcPts val="800"/>
                        </a:spcAft>
                      </a:pPr>
                      <a:r>
                        <a:rPr lang="en-ID" sz="1400">
                          <a:effectLst/>
                          <a:latin typeface="Bahnschrift" panose="020B0502040204020203" pitchFamily="34" charset="0"/>
                        </a:rPr>
                        <a:t>…</a:t>
                      </a:r>
                      <a:endParaRPr lang="en-US" sz="14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R="234315" indent="0" algn="just">
                        <a:lnSpc>
                          <a:spcPct val="107000"/>
                        </a:lnSpc>
                        <a:spcAft>
                          <a:spcPts val="800"/>
                        </a:spcAft>
                      </a:pPr>
                      <a:r>
                        <a:rPr lang="en-ID" sz="1400" dirty="0">
                          <a:effectLst/>
                          <a:latin typeface="Bahnschrift" panose="020B0502040204020203" pitchFamily="34" charset="0"/>
                        </a:rPr>
                        <a:t>…</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466797844"/>
                  </a:ext>
                </a:extLst>
              </a:tr>
            </a:tbl>
          </a:graphicData>
        </a:graphic>
      </p:graphicFrame>
      <p:pic>
        <p:nvPicPr>
          <p:cNvPr id="6" name="Picture 5">
            <a:extLst>
              <a:ext uri="{FF2B5EF4-FFF2-40B4-BE49-F238E27FC236}">
                <a16:creationId xmlns:a16="http://schemas.microsoft.com/office/drawing/2014/main" id="{E4E5013D-91E8-68A4-C259-33F73BE2F1CF}"/>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9" name="Picture 8">
            <a:extLst>
              <a:ext uri="{FF2B5EF4-FFF2-40B4-BE49-F238E27FC236}">
                <a16:creationId xmlns:a16="http://schemas.microsoft.com/office/drawing/2014/main" id="{79767A02-CA4A-F3AE-5E43-A24C403A7B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2" name="TextBox 1">
            <a:extLst>
              <a:ext uri="{FF2B5EF4-FFF2-40B4-BE49-F238E27FC236}">
                <a16:creationId xmlns:a16="http://schemas.microsoft.com/office/drawing/2014/main" id="{53C04281-EFE3-56D8-0B16-8A3D545D09D3}"/>
              </a:ext>
            </a:extLst>
          </p:cNvPr>
          <p:cNvSpPr txBox="1"/>
          <p:nvPr/>
        </p:nvSpPr>
        <p:spPr>
          <a:xfrm>
            <a:off x="2862906" y="4765918"/>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(1)</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4" name="TextBox 3">
            <a:extLst>
              <a:ext uri="{FF2B5EF4-FFF2-40B4-BE49-F238E27FC236}">
                <a16:creationId xmlns:a16="http://schemas.microsoft.com/office/drawing/2014/main" id="{4978FFF3-10A2-1CDE-5114-CBD1C7E81D2F}"/>
              </a:ext>
            </a:extLst>
          </p:cNvPr>
          <p:cNvSpPr txBox="1"/>
          <p:nvPr/>
        </p:nvSpPr>
        <p:spPr>
          <a:xfrm>
            <a:off x="8682068" y="3971907"/>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(2)</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14" name="TextBox 13">
            <a:extLst>
              <a:ext uri="{FF2B5EF4-FFF2-40B4-BE49-F238E27FC236}">
                <a16:creationId xmlns:a16="http://schemas.microsoft.com/office/drawing/2014/main" id="{F093243A-EF07-E0C7-8408-960459E33EA5}"/>
              </a:ext>
            </a:extLst>
          </p:cNvPr>
          <p:cNvSpPr txBox="1"/>
          <p:nvPr/>
        </p:nvSpPr>
        <p:spPr>
          <a:xfrm>
            <a:off x="579331" y="423573"/>
            <a:ext cx="1805244" cy="369332"/>
          </a:xfrm>
          <a:prstGeom prst="rect">
            <a:avLst/>
          </a:prstGeom>
          <a:solidFill>
            <a:srgbClr val="FF920D"/>
          </a:solidFill>
        </p:spPr>
        <p:txBody>
          <a:bodyPr wrap="square" rtlCol="0">
            <a:spAutoFit/>
          </a:bodyPr>
          <a:lstStyle/>
          <a:p>
            <a:r>
              <a:rPr lang="en-US" dirty="0">
                <a:solidFill>
                  <a:schemeClr val="bg1"/>
                </a:solidFill>
              </a:rPr>
              <a:t>BAB III</a:t>
            </a:r>
          </a:p>
        </p:txBody>
      </p:sp>
      <p:sp>
        <p:nvSpPr>
          <p:cNvPr id="5" name="Title 1">
            <a:extLst>
              <a:ext uri="{FF2B5EF4-FFF2-40B4-BE49-F238E27FC236}">
                <a16:creationId xmlns:a16="http://schemas.microsoft.com/office/drawing/2014/main" id="{BEBFF7FE-9208-2890-4A88-3794062F114F}"/>
              </a:ext>
            </a:extLst>
          </p:cNvPr>
          <p:cNvSpPr txBox="1">
            <a:spLocks/>
          </p:cNvSpPr>
          <p:nvPr/>
        </p:nvSpPr>
        <p:spPr>
          <a:xfrm>
            <a:off x="482101" y="1340159"/>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rgbClr val="FF920D"/>
                </a:solidFill>
                <a:latin typeface="Bahnschrift SemiBold" panose="020B0502040204020203" pitchFamily="34" charset="0"/>
              </a:rPr>
              <a:t>Struktur Data Teks</a:t>
            </a:r>
          </a:p>
        </p:txBody>
      </p:sp>
      <p:graphicFrame>
        <p:nvGraphicFramePr>
          <p:cNvPr id="11" name="Table 10">
            <a:extLst>
              <a:ext uri="{FF2B5EF4-FFF2-40B4-BE49-F238E27FC236}">
                <a16:creationId xmlns:a16="http://schemas.microsoft.com/office/drawing/2014/main" id="{3141EF45-CAE3-9183-825F-E09342345A3B}"/>
              </a:ext>
            </a:extLst>
          </p:cNvPr>
          <p:cNvGraphicFramePr>
            <a:graphicFrameLocks noGrp="1"/>
          </p:cNvGraphicFramePr>
          <p:nvPr>
            <p:extLst>
              <p:ext uri="{D42A27DB-BD31-4B8C-83A1-F6EECF244321}">
                <p14:modId xmlns:p14="http://schemas.microsoft.com/office/powerpoint/2010/main" val="1259499345"/>
              </p:ext>
            </p:extLst>
          </p:nvPr>
        </p:nvGraphicFramePr>
        <p:xfrm>
          <a:off x="6498972" y="2057462"/>
          <a:ext cx="4670286" cy="1914445"/>
        </p:xfrm>
        <a:graphic>
          <a:graphicData uri="http://schemas.openxmlformats.org/drawingml/2006/table">
            <a:tbl>
              <a:tblPr/>
              <a:tblGrid>
                <a:gridCol w="778381">
                  <a:extLst>
                    <a:ext uri="{9D8B030D-6E8A-4147-A177-3AD203B41FA5}">
                      <a16:colId xmlns:a16="http://schemas.microsoft.com/office/drawing/2014/main" val="2811245764"/>
                    </a:ext>
                  </a:extLst>
                </a:gridCol>
                <a:gridCol w="778381">
                  <a:extLst>
                    <a:ext uri="{9D8B030D-6E8A-4147-A177-3AD203B41FA5}">
                      <a16:colId xmlns:a16="http://schemas.microsoft.com/office/drawing/2014/main" val="2640500483"/>
                    </a:ext>
                  </a:extLst>
                </a:gridCol>
                <a:gridCol w="778381">
                  <a:extLst>
                    <a:ext uri="{9D8B030D-6E8A-4147-A177-3AD203B41FA5}">
                      <a16:colId xmlns:a16="http://schemas.microsoft.com/office/drawing/2014/main" val="4261197914"/>
                    </a:ext>
                  </a:extLst>
                </a:gridCol>
                <a:gridCol w="778381">
                  <a:extLst>
                    <a:ext uri="{9D8B030D-6E8A-4147-A177-3AD203B41FA5}">
                      <a16:colId xmlns:a16="http://schemas.microsoft.com/office/drawing/2014/main" val="1097237966"/>
                    </a:ext>
                  </a:extLst>
                </a:gridCol>
                <a:gridCol w="778381">
                  <a:extLst>
                    <a:ext uri="{9D8B030D-6E8A-4147-A177-3AD203B41FA5}">
                      <a16:colId xmlns:a16="http://schemas.microsoft.com/office/drawing/2014/main" val="3712517882"/>
                    </a:ext>
                  </a:extLst>
                </a:gridCol>
                <a:gridCol w="778381">
                  <a:extLst>
                    <a:ext uri="{9D8B030D-6E8A-4147-A177-3AD203B41FA5}">
                      <a16:colId xmlns:a16="http://schemas.microsoft.com/office/drawing/2014/main" val="1300277281"/>
                    </a:ext>
                  </a:extLst>
                </a:gridCol>
              </a:tblGrid>
              <a:tr h="295375">
                <a:tc>
                  <a:txBody>
                    <a:bodyPr/>
                    <a:lstStyle/>
                    <a:p>
                      <a:pPr marL="0" marR="0" indent="0" algn="ctr">
                        <a:lnSpc>
                          <a:spcPct val="107000"/>
                        </a:lnSpc>
                        <a:spcBef>
                          <a:spcPts val="0"/>
                        </a:spcBef>
                        <a:spcAft>
                          <a:spcPts val="0"/>
                        </a:spcAft>
                      </a:pPr>
                      <a:r>
                        <a:rPr lang="en-US" sz="1800">
                          <a:effectLst/>
                        </a:rPr>
                        <a:t>Index </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gridSpan="5">
                  <a:txBody>
                    <a:bodyPr/>
                    <a:lstStyle/>
                    <a:p>
                      <a:pPr marL="0" marR="234315" indent="0" algn="ctr">
                        <a:lnSpc>
                          <a:spcPct val="107000"/>
                        </a:lnSpc>
                        <a:spcBef>
                          <a:spcPts val="0"/>
                        </a:spcBef>
                        <a:spcAft>
                          <a:spcPts val="0"/>
                        </a:spcAft>
                      </a:pPr>
                      <a:r>
                        <a:rPr lang="en-US" sz="1800">
                          <a:effectLst/>
                        </a:rPr>
                        <a:t>TF-IDF</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7294851"/>
                  </a:ext>
                </a:extLst>
              </a:tr>
              <a:tr h="295375">
                <a:tc>
                  <a:txBody>
                    <a:bodyPr/>
                    <a:lstStyle/>
                    <a:p>
                      <a:pPr marL="0" marR="0" indent="0" algn="ctr">
                        <a:lnSpc>
                          <a:spcPct val="107000"/>
                        </a:lnSpc>
                        <a:spcBef>
                          <a:spcPts val="0"/>
                        </a:spcBef>
                        <a:spcAft>
                          <a:spcPts val="0"/>
                        </a:spcAft>
                      </a:pPr>
                      <a:r>
                        <a:rPr lang="en-ID" sz="1800">
                          <a:effectLst/>
                        </a:rPr>
                        <a:t>1</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X</a:t>
                      </a:r>
                      <a:r>
                        <a:rPr lang="en-ID" sz="1800" baseline="-25000">
                          <a:effectLst/>
                        </a:rPr>
                        <a:t>211</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X</a:t>
                      </a:r>
                      <a:r>
                        <a:rPr lang="en-ID" sz="1800" baseline="-25000">
                          <a:effectLst/>
                        </a:rPr>
                        <a:t>212</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X</a:t>
                      </a:r>
                      <a:r>
                        <a:rPr lang="en-ID" sz="1800" baseline="-25000">
                          <a:effectLst/>
                        </a:rPr>
                        <a:t>213</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X</a:t>
                      </a:r>
                      <a:r>
                        <a:rPr lang="en-ID" sz="1800" baseline="-25000">
                          <a:effectLst/>
                        </a:rPr>
                        <a:t>21k</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extLst>
                  <a:ext uri="{0D108BD9-81ED-4DB2-BD59-A6C34878D82A}">
                    <a16:rowId xmlns:a16="http://schemas.microsoft.com/office/drawing/2014/main" val="120729861"/>
                  </a:ext>
                </a:extLst>
              </a:tr>
              <a:tr h="338375">
                <a:tc>
                  <a:txBody>
                    <a:bodyPr/>
                    <a:lstStyle/>
                    <a:p>
                      <a:pPr marL="0" marR="0" indent="0" algn="ctr">
                        <a:lnSpc>
                          <a:spcPct val="107000"/>
                        </a:lnSpc>
                        <a:spcBef>
                          <a:spcPts val="0"/>
                        </a:spcBef>
                        <a:spcAft>
                          <a:spcPts val="0"/>
                        </a:spcAft>
                      </a:pPr>
                      <a:r>
                        <a:rPr lang="en-ID" sz="1800">
                          <a:effectLst/>
                        </a:rPr>
                        <a:t>2</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221</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X</a:t>
                      </a:r>
                      <a:r>
                        <a:rPr lang="en-ID" sz="1800" baseline="-25000">
                          <a:effectLst/>
                        </a:rPr>
                        <a:t>222</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X</a:t>
                      </a:r>
                      <a:r>
                        <a:rPr lang="en-ID" sz="1800" baseline="-25000">
                          <a:effectLst/>
                        </a:rPr>
                        <a:t>223</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X</a:t>
                      </a:r>
                      <a:r>
                        <a:rPr lang="en-ID" sz="1800" baseline="-25000">
                          <a:effectLst/>
                        </a:rPr>
                        <a:t>22k</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extLst>
                  <a:ext uri="{0D108BD9-81ED-4DB2-BD59-A6C34878D82A}">
                    <a16:rowId xmlns:a16="http://schemas.microsoft.com/office/drawing/2014/main" val="3581394925"/>
                  </a:ext>
                </a:extLst>
              </a:tr>
              <a:tr h="295375">
                <a:tc>
                  <a:txBody>
                    <a:bodyPr/>
                    <a:lstStyle/>
                    <a:p>
                      <a:pPr marL="0" marR="0" indent="0" algn="ctr">
                        <a:lnSpc>
                          <a:spcPct val="107000"/>
                        </a:lnSpc>
                        <a:spcBef>
                          <a:spcPts val="0"/>
                        </a:spcBef>
                        <a:spcAft>
                          <a:spcPts val="0"/>
                        </a:spcAft>
                      </a:pPr>
                      <a:r>
                        <a:rPr lang="en-ID" sz="1800">
                          <a:effectLst/>
                        </a:rPr>
                        <a:t>3</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231</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X</a:t>
                      </a:r>
                      <a:r>
                        <a:rPr lang="en-ID" sz="1800" baseline="-25000">
                          <a:effectLst/>
                        </a:rPr>
                        <a:t>232</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X</a:t>
                      </a:r>
                      <a:r>
                        <a:rPr lang="en-ID" sz="1800" baseline="-25000">
                          <a:effectLst/>
                        </a:rPr>
                        <a:t>233</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0" indent="0" algn="just">
                        <a:lnSpc>
                          <a:spcPct val="107000"/>
                        </a:lnSpc>
                        <a:spcBef>
                          <a:spcPts val="0"/>
                        </a:spcBef>
                        <a:spcAft>
                          <a:spcPts val="0"/>
                        </a:spcAft>
                      </a:pPr>
                      <a:r>
                        <a:rPr lang="en-ID" sz="1800">
                          <a:effectLst/>
                        </a:rPr>
                        <a:t>X</a:t>
                      </a:r>
                      <a:r>
                        <a:rPr lang="en-ID" sz="1800" baseline="-25000">
                          <a:effectLst/>
                        </a:rPr>
                        <a:t>23k</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extLst>
                  <a:ext uri="{0D108BD9-81ED-4DB2-BD59-A6C34878D82A}">
                    <a16:rowId xmlns:a16="http://schemas.microsoft.com/office/drawing/2014/main" val="4161280497"/>
                  </a:ext>
                </a:extLst>
              </a:tr>
              <a:tr h="295375">
                <a:tc>
                  <a:txBody>
                    <a:bodyPr/>
                    <a:lstStyle/>
                    <a:p>
                      <a:pPr marL="0" marR="0" indent="0" algn="ctr">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0"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1481400092"/>
                  </a:ext>
                </a:extLst>
              </a:tr>
              <a:tr h="295375">
                <a:tc>
                  <a:txBody>
                    <a:bodyPr/>
                    <a:lstStyle/>
                    <a:p>
                      <a:pPr marL="0" marR="0" indent="0" algn="ctr">
                        <a:lnSpc>
                          <a:spcPct val="107000"/>
                        </a:lnSpc>
                        <a:spcBef>
                          <a:spcPts val="0"/>
                        </a:spcBef>
                        <a:spcAft>
                          <a:spcPts val="0"/>
                        </a:spcAft>
                      </a:pPr>
                      <a:r>
                        <a:rPr lang="en-ID" sz="1800">
                          <a:effectLst/>
                        </a:rPr>
                        <a:t>d</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2d1</a:t>
                      </a:r>
                      <a:endParaRPr lang="en-US" sz="20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2d2</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2d3</a:t>
                      </a:r>
                      <a:endParaRPr lang="en-US" sz="20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234315" indent="0" algn="just">
                        <a:lnSpc>
                          <a:spcPct val="107000"/>
                        </a:lnSpc>
                        <a:spcBef>
                          <a:spcPts val="0"/>
                        </a:spcBef>
                        <a:spcAft>
                          <a:spcPts val="0"/>
                        </a:spcAft>
                      </a:pPr>
                      <a:r>
                        <a:rPr lang="en-ID" sz="1800">
                          <a:effectLst/>
                        </a:rPr>
                        <a:t>…</a:t>
                      </a:r>
                      <a:endParaRPr lang="en-US" sz="20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2dk</a:t>
                      </a:r>
                      <a:endParaRPr lang="en-US" sz="20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extLst>
                  <a:ext uri="{0D108BD9-81ED-4DB2-BD59-A6C34878D82A}">
                    <a16:rowId xmlns:a16="http://schemas.microsoft.com/office/drawing/2014/main" val="2078300525"/>
                  </a:ext>
                </a:extLst>
              </a:tr>
            </a:tbl>
          </a:graphicData>
        </a:graphic>
      </p:graphicFrame>
    </p:spTree>
    <p:extLst>
      <p:ext uri="{BB962C8B-B14F-4D97-AF65-F5344CB8AC3E}">
        <p14:creationId xmlns:p14="http://schemas.microsoft.com/office/powerpoint/2010/main" val="379546729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6F22E56-5ABE-EE46-8B05-FE2C3FAB3BCD}"/>
              </a:ext>
            </a:extLst>
          </p:cNvPr>
          <p:cNvSpPr/>
          <p:nvPr/>
        </p:nvSpPr>
        <p:spPr>
          <a:xfrm rot="12559241">
            <a:off x="10539281" y="-671338"/>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484166C-39EF-4BDA-D21E-5B0039FD68C7}"/>
              </a:ext>
            </a:extLst>
          </p:cNvPr>
          <p:cNvSpPr/>
          <p:nvPr/>
        </p:nvSpPr>
        <p:spPr>
          <a:xfrm rot="12559241">
            <a:off x="11154298" y="-593659"/>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54183ADC-21F0-1457-47BE-C0460CBA2E77}"/>
              </a:ext>
            </a:extLst>
          </p:cNvPr>
          <p:cNvSpPr/>
          <p:nvPr/>
        </p:nvSpPr>
        <p:spPr>
          <a:xfrm rot="12559241">
            <a:off x="11630163" y="-593659"/>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D8558BE0-9642-B878-CCA7-433780F58AB2}"/>
              </a:ext>
            </a:extLst>
          </p:cNvPr>
          <p:cNvSpPr/>
          <p:nvPr/>
        </p:nvSpPr>
        <p:spPr>
          <a:xfrm rot="12559241">
            <a:off x="11630163" y="5893821"/>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482101" y="852362"/>
            <a:ext cx="4763667" cy="523220"/>
          </a:xfrm>
          <a:prstGeom prst="rect">
            <a:avLst/>
          </a:prstGeom>
          <a:noFill/>
        </p:spPr>
        <p:txBody>
          <a:bodyPr wrap="square" rtlCol="0">
            <a:spAutoFit/>
          </a:bodyPr>
          <a:lstStyle/>
          <a:p>
            <a:r>
              <a:rPr lang="en-US" sz="2800" dirty="0">
                <a:solidFill>
                  <a:srgbClr val="FF920D"/>
                </a:solidFill>
                <a:latin typeface="Bahnschrift SemiBold" panose="020B0502040204020203" pitchFamily="34" charset="0"/>
              </a:rPr>
              <a:t>STRUKTUR DATA</a:t>
            </a:r>
            <a:endParaRPr lang="en-US" sz="2800" dirty="0">
              <a:solidFill>
                <a:srgbClr val="FF920D"/>
              </a:solidFill>
              <a:effectLst/>
              <a:latin typeface="Bahnschrift SemiBold" panose="020B0502040204020203" pitchFamily="34" charset="0"/>
            </a:endParaRPr>
          </a:p>
        </p:txBody>
      </p:sp>
      <p:sp>
        <p:nvSpPr>
          <p:cNvPr id="13" name="TextBox 5">
            <a:extLst>
              <a:ext uri="{FF2B5EF4-FFF2-40B4-BE49-F238E27FC236}">
                <a16:creationId xmlns:a16="http://schemas.microsoft.com/office/drawing/2014/main" id="{40F5B74D-A373-4CC5-A034-860FC458FA0B}"/>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9</a:t>
            </a:r>
            <a:endParaRPr lang="en-US" sz="2000" b="1" dirty="0"/>
          </a:p>
        </p:txBody>
      </p:sp>
      <p:graphicFrame>
        <p:nvGraphicFramePr>
          <p:cNvPr id="20" name="Table 19">
            <a:extLst>
              <a:ext uri="{FF2B5EF4-FFF2-40B4-BE49-F238E27FC236}">
                <a16:creationId xmlns:a16="http://schemas.microsoft.com/office/drawing/2014/main" id="{48C27AAA-650C-AB9A-836C-6E4EB1E99C7E}"/>
              </a:ext>
            </a:extLst>
          </p:cNvPr>
          <p:cNvGraphicFramePr>
            <a:graphicFrameLocks noGrp="1"/>
          </p:cNvGraphicFramePr>
          <p:nvPr>
            <p:extLst>
              <p:ext uri="{D42A27DB-BD31-4B8C-83A1-F6EECF244321}">
                <p14:modId xmlns:p14="http://schemas.microsoft.com/office/powerpoint/2010/main" val="100444765"/>
              </p:ext>
            </p:extLst>
          </p:nvPr>
        </p:nvGraphicFramePr>
        <p:xfrm>
          <a:off x="557637" y="1930745"/>
          <a:ext cx="5455526" cy="3172524"/>
        </p:xfrm>
        <a:graphic>
          <a:graphicData uri="http://schemas.openxmlformats.org/drawingml/2006/table">
            <a:tbl>
              <a:tblPr>
                <a:tableStyleId>{5940675A-B579-460E-94D1-54222C63F5DA}</a:tableStyleId>
              </a:tblPr>
              <a:tblGrid>
                <a:gridCol w="600034">
                  <a:extLst>
                    <a:ext uri="{9D8B030D-6E8A-4147-A177-3AD203B41FA5}">
                      <a16:colId xmlns:a16="http://schemas.microsoft.com/office/drawing/2014/main" val="1328658929"/>
                    </a:ext>
                  </a:extLst>
                </a:gridCol>
                <a:gridCol w="1592682">
                  <a:extLst>
                    <a:ext uri="{9D8B030D-6E8A-4147-A177-3AD203B41FA5}">
                      <a16:colId xmlns:a16="http://schemas.microsoft.com/office/drawing/2014/main" val="1539038555"/>
                    </a:ext>
                  </a:extLst>
                </a:gridCol>
                <a:gridCol w="3262810">
                  <a:extLst>
                    <a:ext uri="{9D8B030D-6E8A-4147-A177-3AD203B41FA5}">
                      <a16:colId xmlns:a16="http://schemas.microsoft.com/office/drawing/2014/main" val="4218456497"/>
                    </a:ext>
                  </a:extLst>
                </a:gridCol>
              </a:tblGrid>
              <a:tr h="0">
                <a:tc>
                  <a:txBody>
                    <a:bodyPr/>
                    <a:lstStyle/>
                    <a:p>
                      <a:pPr indent="0" algn="ctr">
                        <a:lnSpc>
                          <a:spcPct val="107000"/>
                        </a:lnSpc>
                        <a:spcAft>
                          <a:spcPts val="800"/>
                        </a:spcAft>
                      </a:pPr>
                      <a:r>
                        <a:rPr lang="en-US" sz="1400">
                          <a:effectLst/>
                          <a:latin typeface="Bahnschrift" panose="020B0502040204020203" pitchFamily="34" charset="0"/>
                        </a:rPr>
                        <a:t>Index </a:t>
                      </a:r>
                      <a:endParaRPr lang="en-US" sz="14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indent="0" algn="ctr">
                        <a:lnSpc>
                          <a:spcPct val="107000"/>
                        </a:lnSpc>
                        <a:spcAft>
                          <a:spcPts val="800"/>
                        </a:spcAft>
                      </a:pPr>
                      <a:endParaRPr lang="en-US" sz="14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R="234315" indent="252095" algn="ctr">
                        <a:lnSpc>
                          <a:spcPct val="107000"/>
                        </a:lnSpc>
                        <a:spcAft>
                          <a:spcPts val="800"/>
                        </a:spcAft>
                      </a:pPr>
                      <a:r>
                        <a:rPr lang="en-US" sz="1400" b="1" dirty="0">
                          <a:effectLst/>
                          <a:latin typeface="Bahnschrift" panose="020B0502040204020203" pitchFamily="34" charset="0"/>
                          <a:ea typeface="Times New Roman" panose="02020603050405020304" pitchFamily="18" charset="0"/>
                          <a:cs typeface="Times New Roman" panose="02020603050405020304" pitchFamily="18" charset="0"/>
                        </a:rPr>
                        <a:t>Gambar</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608367914"/>
                  </a:ext>
                </a:extLst>
              </a:tr>
              <a:tr h="0">
                <a:tc>
                  <a:txBody>
                    <a:bodyPr/>
                    <a:lstStyle/>
                    <a:p>
                      <a:pPr indent="0" algn="ctr">
                        <a:lnSpc>
                          <a:spcPct val="107000"/>
                        </a:lnSpc>
                        <a:spcAft>
                          <a:spcPts val="800"/>
                        </a:spcAft>
                      </a:pPr>
                      <a:r>
                        <a:rPr lang="en-ID" sz="1400" dirty="0">
                          <a:effectLst/>
                          <a:latin typeface="Bahnschrift" panose="020B0502040204020203" pitchFamily="34" charset="0"/>
                        </a:rPr>
                        <a:t>1</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indent="0" algn="ctr">
                        <a:lnSpc>
                          <a:spcPct val="107000"/>
                        </a:lnSpc>
                        <a:spcAft>
                          <a:spcPts val="800"/>
                        </a:spcAft>
                      </a:pP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l">
                        <a:lnSpc>
                          <a:spcPct val="100000"/>
                        </a:lnSpc>
                        <a:spcAft>
                          <a:spcPts val="800"/>
                        </a:spcAft>
                      </a:pP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[[225,0,0], [0,225,0], [0,0,225],</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[225,225,225], [225,225,225], [225,225,225],</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p>
                    <a:p>
                      <a:pPr marL="0" marR="234315" indent="0" algn="l">
                        <a:lnSpc>
                          <a:spcPct val="100000"/>
                        </a:lnSpc>
                        <a:spcAft>
                          <a:spcPts val="800"/>
                        </a:spcAft>
                      </a:pP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[0,0,0], [0,0,0], [0,0,0]]</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p>
                      <a:pPr marR="234315" indent="252095" algn="l">
                        <a:lnSpc>
                          <a:spcPct val="100000"/>
                        </a:lnSpc>
                        <a:spcAft>
                          <a:spcPts val="800"/>
                        </a:spcAft>
                      </a:pP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 </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590620138"/>
                  </a:ext>
                </a:extLst>
              </a:tr>
              <a:tr h="0">
                <a:tc>
                  <a:txBody>
                    <a:bodyPr/>
                    <a:lstStyle/>
                    <a:p>
                      <a:pPr indent="0" algn="ctr">
                        <a:lnSpc>
                          <a:spcPct val="107000"/>
                        </a:lnSpc>
                        <a:spcAft>
                          <a:spcPts val="800"/>
                        </a:spcAft>
                      </a:pPr>
                      <a:r>
                        <a:rPr lang="en-ID" sz="1400">
                          <a:effectLst/>
                          <a:latin typeface="Bahnschrift" panose="020B0502040204020203" pitchFamily="34" charset="0"/>
                        </a:rPr>
                        <a:t>2</a:t>
                      </a:r>
                      <a:endParaRPr lang="en-US" sz="14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indent="0" algn="ctr">
                        <a:lnSpc>
                          <a:spcPct val="107000"/>
                        </a:lnSpc>
                        <a:spcAft>
                          <a:spcPts val="800"/>
                        </a:spcAft>
                      </a:pP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l">
                        <a:lnSpc>
                          <a:spcPct val="100000"/>
                        </a:lnSpc>
                        <a:spcAft>
                          <a:spcPts val="800"/>
                        </a:spcAft>
                      </a:pP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[[225,0,0], [0,225,0], [0,0,225],</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p>
                      <a:pPr marL="0" marR="234315" indent="0" algn="l">
                        <a:lnSpc>
                          <a:spcPct val="100000"/>
                        </a:lnSpc>
                        <a:spcAft>
                          <a:spcPts val="800"/>
                        </a:spcAft>
                      </a:pP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[0,0,0], [0,0,0], [0,0,0]</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p>
                      <a:pPr marL="0" marR="234315" indent="0" algn="l">
                        <a:lnSpc>
                          <a:spcPct val="100000"/>
                        </a:lnSpc>
                        <a:spcAft>
                          <a:spcPts val="800"/>
                        </a:spcAft>
                      </a:pPr>
                      <a:r>
                        <a:rPr lang="en-ID" sz="1400" dirty="0">
                          <a:effectLst/>
                          <a:latin typeface="Bahnschrift" panose="020B0502040204020203" pitchFamily="34" charset="0"/>
                          <a:ea typeface="Times New Roman" panose="02020603050405020304" pitchFamily="18" charset="0"/>
                          <a:cs typeface="Times New Roman" panose="02020603050405020304" pitchFamily="18" charset="0"/>
                        </a:rPr>
                        <a:t>[225,225,225], [225,225,225], [225,225,225]]</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p>
                      <a:pPr marR="234315" indent="252095" algn="l">
                        <a:lnSpc>
                          <a:spcPct val="100000"/>
                        </a:lnSpc>
                        <a:spcAft>
                          <a:spcPts val="800"/>
                        </a:spcAft>
                      </a:pPr>
                      <a:r>
                        <a:rPr lang="en-ID" sz="1400" i="1" dirty="0">
                          <a:effectLst/>
                          <a:latin typeface="Bahnschrift" panose="020B0502040204020203" pitchFamily="34" charset="0"/>
                          <a:ea typeface="Times New Roman" panose="02020603050405020304" pitchFamily="18" charset="0"/>
                          <a:cs typeface="Times New Roman" panose="02020603050405020304" pitchFamily="18" charset="0"/>
                        </a:rPr>
                        <a:t> </a:t>
                      </a:r>
                      <a:endParaRPr lang="en-US" sz="14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628499317"/>
                  </a:ext>
                </a:extLst>
              </a:tr>
              <a:tr h="0">
                <a:tc>
                  <a:txBody>
                    <a:bodyPr/>
                    <a:lstStyle/>
                    <a:p>
                      <a:pPr indent="0" algn="ctr">
                        <a:lnSpc>
                          <a:spcPct val="107000"/>
                        </a:lnSpc>
                        <a:spcAft>
                          <a:spcPts val="800"/>
                        </a:spcAft>
                      </a:pPr>
                      <a:r>
                        <a:rPr lang="en-ID" sz="1200">
                          <a:effectLst/>
                          <a:latin typeface="Bahnschrift" panose="020B0502040204020203" pitchFamily="34" charset="0"/>
                        </a:rPr>
                        <a:t>…</a:t>
                      </a:r>
                      <a:endParaRPr lang="en-US" sz="120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indent="0" algn="ctr">
                        <a:lnSpc>
                          <a:spcPct val="107000"/>
                        </a:lnSpc>
                        <a:spcAft>
                          <a:spcPts val="800"/>
                        </a:spcAft>
                      </a:pPr>
                      <a:endParaRPr lang="en-US" sz="12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R="234315" indent="252095" algn="just">
                        <a:lnSpc>
                          <a:spcPct val="107000"/>
                        </a:lnSpc>
                        <a:spcAft>
                          <a:spcPts val="800"/>
                        </a:spcAft>
                      </a:pPr>
                      <a:r>
                        <a:rPr lang="en-ID" sz="1200" dirty="0">
                          <a:effectLst/>
                          <a:latin typeface="Bahnschrift" panose="020B0502040204020203" pitchFamily="34" charset="0"/>
                          <a:ea typeface="Calibri" panose="020F0502020204030204" pitchFamily="34" charset="0"/>
                          <a:cs typeface="Times New Roman" panose="02020603050405020304" pitchFamily="18" charset="0"/>
                        </a:rPr>
                        <a:t>…</a:t>
                      </a:r>
                      <a:endParaRPr lang="en-US" sz="1200" dirty="0">
                        <a:effectLst/>
                        <a:latin typeface="Bahnschrift" panose="020B0502040204020203" pitchFamily="34"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466797844"/>
                  </a:ext>
                </a:extLst>
              </a:tr>
            </a:tbl>
          </a:graphicData>
        </a:graphic>
      </p:graphicFrame>
      <p:pic>
        <p:nvPicPr>
          <p:cNvPr id="24" name="Picture 23">
            <a:extLst>
              <a:ext uri="{FF2B5EF4-FFF2-40B4-BE49-F238E27FC236}">
                <a16:creationId xmlns:a16="http://schemas.microsoft.com/office/drawing/2014/main" id="{B91C29B2-BE60-D6F5-1D17-F295E7FBEC4C}"/>
              </a:ext>
            </a:extLst>
          </p:cNvPr>
          <p:cNvPicPr>
            <a:picLocks noChangeAspect="1"/>
          </p:cNvPicPr>
          <p:nvPr/>
        </p:nvPicPr>
        <p:blipFill>
          <a:blip r:embed="rId2"/>
          <a:stretch>
            <a:fillRect/>
          </a:stretch>
        </p:blipFill>
        <p:spPr>
          <a:xfrm>
            <a:off x="1346205" y="2411412"/>
            <a:ext cx="1028844" cy="838317"/>
          </a:xfrm>
          <a:prstGeom prst="rect">
            <a:avLst/>
          </a:prstGeom>
        </p:spPr>
      </p:pic>
      <p:pic>
        <p:nvPicPr>
          <p:cNvPr id="25" name="Picture 24">
            <a:extLst>
              <a:ext uri="{FF2B5EF4-FFF2-40B4-BE49-F238E27FC236}">
                <a16:creationId xmlns:a16="http://schemas.microsoft.com/office/drawing/2014/main" id="{835A1859-9C04-4128-8499-654162D2FDC0}"/>
              </a:ext>
            </a:extLst>
          </p:cNvPr>
          <p:cNvPicPr>
            <a:picLocks noChangeAspect="1"/>
          </p:cNvPicPr>
          <p:nvPr/>
        </p:nvPicPr>
        <p:blipFill>
          <a:blip r:embed="rId3"/>
          <a:stretch>
            <a:fillRect/>
          </a:stretch>
        </p:blipFill>
        <p:spPr>
          <a:xfrm>
            <a:off x="1346205" y="3784917"/>
            <a:ext cx="1047896" cy="847843"/>
          </a:xfrm>
          <a:prstGeom prst="rect">
            <a:avLst/>
          </a:prstGeom>
        </p:spPr>
      </p:pic>
      <p:pic>
        <p:nvPicPr>
          <p:cNvPr id="6" name="Picture 5">
            <a:extLst>
              <a:ext uri="{FF2B5EF4-FFF2-40B4-BE49-F238E27FC236}">
                <a16:creationId xmlns:a16="http://schemas.microsoft.com/office/drawing/2014/main" id="{E4E5013D-91E8-68A4-C259-33F73BE2F1CF}"/>
              </a:ext>
            </a:extLst>
          </p:cNvPr>
          <p:cNvPicPr>
            <a:picLocks noChangeAspect="1"/>
          </p:cNvPicPr>
          <p:nvPr/>
        </p:nvPicPr>
        <p:blipFill>
          <a:blip r:embed="rId4"/>
          <a:stretch>
            <a:fillRect/>
          </a:stretch>
        </p:blipFill>
        <p:spPr>
          <a:xfrm>
            <a:off x="10575508" y="334546"/>
            <a:ext cx="785211" cy="769507"/>
          </a:xfrm>
          <a:prstGeom prst="rect">
            <a:avLst/>
          </a:prstGeom>
        </p:spPr>
      </p:pic>
      <p:pic>
        <p:nvPicPr>
          <p:cNvPr id="9" name="Picture 8">
            <a:extLst>
              <a:ext uri="{FF2B5EF4-FFF2-40B4-BE49-F238E27FC236}">
                <a16:creationId xmlns:a16="http://schemas.microsoft.com/office/drawing/2014/main" id="{79767A02-CA4A-F3AE-5E43-A24C403A7BC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2" name="TextBox 1">
            <a:extLst>
              <a:ext uri="{FF2B5EF4-FFF2-40B4-BE49-F238E27FC236}">
                <a16:creationId xmlns:a16="http://schemas.microsoft.com/office/drawing/2014/main" id="{53C04281-EFE3-56D8-0B16-8A3D545D09D3}"/>
              </a:ext>
            </a:extLst>
          </p:cNvPr>
          <p:cNvSpPr txBox="1"/>
          <p:nvPr/>
        </p:nvSpPr>
        <p:spPr>
          <a:xfrm>
            <a:off x="2676217" y="5060181"/>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(1)</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4" name="TextBox 3">
            <a:extLst>
              <a:ext uri="{FF2B5EF4-FFF2-40B4-BE49-F238E27FC236}">
                <a16:creationId xmlns:a16="http://schemas.microsoft.com/office/drawing/2014/main" id="{4978FFF3-10A2-1CDE-5114-CBD1C7E81D2F}"/>
              </a:ext>
            </a:extLst>
          </p:cNvPr>
          <p:cNvSpPr txBox="1"/>
          <p:nvPr/>
        </p:nvSpPr>
        <p:spPr>
          <a:xfrm>
            <a:off x="9141253" y="5590712"/>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(2)</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14" name="TextBox 13">
            <a:extLst>
              <a:ext uri="{FF2B5EF4-FFF2-40B4-BE49-F238E27FC236}">
                <a16:creationId xmlns:a16="http://schemas.microsoft.com/office/drawing/2014/main" id="{F093243A-EF07-E0C7-8408-960459E33EA5}"/>
              </a:ext>
            </a:extLst>
          </p:cNvPr>
          <p:cNvSpPr txBox="1"/>
          <p:nvPr/>
        </p:nvSpPr>
        <p:spPr>
          <a:xfrm>
            <a:off x="579331" y="423573"/>
            <a:ext cx="1805244" cy="369332"/>
          </a:xfrm>
          <a:prstGeom prst="rect">
            <a:avLst/>
          </a:prstGeom>
          <a:solidFill>
            <a:srgbClr val="FF920D"/>
          </a:solidFill>
        </p:spPr>
        <p:txBody>
          <a:bodyPr wrap="square" rtlCol="0">
            <a:spAutoFit/>
          </a:bodyPr>
          <a:lstStyle/>
          <a:p>
            <a:r>
              <a:rPr lang="en-US" dirty="0">
                <a:solidFill>
                  <a:schemeClr val="bg1"/>
                </a:solidFill>
              </a:rPr>
              <a:t>BAB III</a:t>
            </a:r>
          </a:p>
        </p:txBody>
      </p:sp>
      <p:graphicFrame>
        <p:nvGraphicFramePr>
          <p:cNvPr id="10" name="Table 9">
            <a:extLst>
              <a:ext uri="{FF2B5EF4-FFF2-40B4-BE49-F238E27FC236}">
                <a16:creationId xmlns:a16="http://schemas.microsoft.com/office/drawing/2014/main" id="{3F7ED6E0-8CA1-BA18-1214-346845A6EC14}"/>
              </a:ext>
            </a:extLst>
          </p:cNvPr>
          <p:cNvGraphicFramePr>
            <a:graphicFrameLocks noGrp="1"/>
          </p:cNvGraphicFramePr>
          <p:nvPr>
            <p:extLst>
              <p:ext uri="{D42A27DB-BD31-4B8C-83A1-F6EECF244321}">
                <p14:modId xmlns:p14="http://schemas.microsoft.com/office/powerpoint/2010/main" val="4221228227"/>
              </p:ext>
            </p:extLst>
          </p:nvPr>
        </p:nvGraphicFramePr>
        <p:xfrm>
          <a:off x="6369311" y="1938446"/>
          <a:ext cx="5500960" cy="3652266"/>
        </p:xfrm>
        <a:graphic>
          <a:graphicData uri="http://schemas.openxmlformats.org/drawingml/2006/table">
            <a:tbl>
              <a:tblPr/>
              <a:tblGrid>
                <a:gridCol w="1375240">
                  <a:extLst>
                    <a:ext uri="{9D8B030D-6E8A-4147-A177-3AD203B41FA5}">
                      <a16:colId xmlns:a16="http://schemas.microsoft.com/office/drawing/2014/main" val="1986598982"/>
                    </a:ext>
                  </a:extLst>
                </a:gridCol>
                <a:gridCol w="1375240">
                  <a:extLst>
                    <a:ext uri="{9D8B030D-6E8A-4147-A177-3AD203B41FA5}">
                      <a16:colId xmlns:a16="http://schemas.microsoft.com/office/drawing/2014/main" val="2868961206"/>
                    </a:ext>
                  </a:extLst>
                </a:gridCol>
                <a:gridCol w="1375240">
                  <a:extLst>
                    <a:ext uri="{9D8B030D-6E8A-4147-A177-3AD203B41FA5}">
                      <a16:colId xmlns:a16="http://schemas.microsoft.com/office/drawing/2014/main" val="3550867020"/>
                    </a:ext>
                  </a:extLst>
                </a:gridCol>
                <a:gridCol w="1375240">
                  <a:extLst>
                    <a:ext uri="{9D8B030D-6E8A-4147-A177-3AD203B41FA5}">
                      <a16:colId xmlns:a16="http://schemas.microsoft.com/office/drawing/2014/main" val="1495487585"/>
                    </a:ext>
                  </a:extLst>
                </a:gridCol>
              </a:tblGrid>
              <a:tr h="292461">
                <a:tc>
                  <a:txBody>
                    <a:bodyPr/>
                    <a:lstStyle/>
                    <a:p>
                      <a:pPr marL="0" marR="0" indent="0" algn="ctr">
                        <a:lnSpc>
                          <a:spcPct val="107000"/>
                        </a:lnSpc>
                        <a:spcBef>
                          <a:spcPts val="0"/>
                        </a:spcBef>
                        <a:spcAft>
                          <a:spcPts val="0"/>
                        </a:spcAft>
                      </a:pPr>
                      <a:r>
                        <a:rPr lang="en-US" sz="1800" dirty="0">
                          <a:effectLst/>
                        </a:rPr>
                        <a:t>Index </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gridSpan="3">
                  <a:txBody>
                    <a:bodyPr/>
                    <a:lstStyle/>
                    <a:p>
                      <a:pPr marL="0" marR="234315" indent="0" algn="ctr">
                        <a:lnSpc>
                          <a:spcPct val="107000"/>
                        </a:lnSpc>
                        <a:spcBef>
                          <a:spcPts val="0"/>
                        </a:spcBef>
                        <a:spcAft>
                          <a:spcPts val="0"/>
                        </a:spcAft>
                      </a:pPr>
                      <a:r>
                        <a:rPr lang="en-ID" sz="1800" dirty="0">
                          <a:effectLst/>
                        </a:rPr>
                        <a:t>Filter (Kanal)</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96007790"/>
                  </a:ext>
                </a:extLst>
              </a:tr>
              <a:tr h="292461">
                <a:tc>
                  <a:txBody>
                    <a:bodyPr/>
                    <a:lstStyle/>
                    <a:p>
                      <a:pPr marL="0" marR="0" indent="0" algn="ctr">
                        <a:lnSpc>
                          <a:spcPct val="107000"/>
                        </a:lnSpc>
                        <a:spcBef>
                          <a:spcPts val="0"/>
                        </a:spcBef>
                        <a:spcAft>
                          <a:spcPts val="0"/>
                        </a:spcAft>
                      </a:pPr>
                      <a:r>
                        <a:rPr lang="en-ID" sz="1800" dirty="0">
                          <a:effectLst/>
                        </a:rPr>
                        <a:t> </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ctr">
                        <a:lnSpc>
                          <a:spcPct val="107000"/>
                        </a:lnSpc>
                        <a:spcBef>
                          <a:spcPts val="0"/>
                        </a:spcBef>
                        <a:spcAft>
                          <a:spcPts val="0"/>
                        </a:spcAft>
                      </a:pPr>
                      <a:r>
                        <a:rPr lang="en-ID" sz="1800" dirty="0">
                          <a:effectLst/>
                        </a:rPr>
                        <a:t>X</a:t>
                      </a:r>
                      <a:r>
                        <a:rPr lang="en-ID" sz="1800" baseline="-25000" dirty="0">
                          <a:effectLst/>
                        </a:rPr>
                        <a:t>1dR</a:t>
                      </a:r>
                      <a:r>
                        <a:rPr lang="en-ID" sz="1800" dirty="0">
                          <a:effectLst/>
                        </a:rPr>
                        <a:t>(0)</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ctr">
                        <a:lnSpc>
                          <a:spcPct val="107000"/>
                        </a:lnSpc>
                        <a:spcBef>
                          <a:spcPts val="0"/>
                        </a:spcBef>
                        <a:spcAft>
                          <a:spcPts val="0"/>
                        </a:spcAft>
                      </a:pPr>
                      <a:r>
                        <a:rPr lang="en-ID" sz="1800">
                          <a:effectLst/>
                        </a:rPr>
                        <a:t>X</a:t>
                      </a:r>
                      <a:r>
                        <a:rPr lang="en-ID" sz="1800" baseline="-25000">
                          <a:effectLst/>
                        </a:rPr>
                        <a:t>1dG</a:t>
                      </a:r>
                      <a:r>
                        <a:rPr lang="en-ID" sz="1800">
                          <a:effectLst/>
                        </a:rPr>
                        <a:t>(1)</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234315" indent="0" algn="ctr">
                        <a:lnSpc>
                          <a:spcPct val="107000"/>
                        </a:lnSpc>
                        <a:spcBef>
                          <a:spcPts val="0"/>
                        </a:spcBef>
                        <a:spcAft>
                          <a:spcPts val="0"/>
                        </a:spcAft>
                      </a:pPr>
                      <a:r>
                        <a:rPr lang="en-ID" sz="1800">
                          <a:effectLst/>
                        </a:rPr>
                        <a:t>X</a:t>
                      </a:r>
                      <a:r>
                        <a:rPr lang="en-ID" sz="1800" baseline="-25000">
                          <a:effectLst/>
                        </a:rPr>
                        <a:t>1dB</a:t>
                      </a:r>
                      <a:r>
                        <a:rPr lang="en-ID" sz="1800">
                          <a:effectLst/>
                        </a:rPr>
                        <a:t>(2)</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extLst>
                  <a:ext uri="{0D108BD9-81ED-4DB2-BD59-A6C34878D82A}">
                    <a16:rowId xmlns:a16="http://schemas.microsoft.com/office/drawing/2014/main" val="1709782025"/>
                  </a:ext>
                </a:extLst>
              </a:tr>
              <a:tr h="698932">
                <a:tc>
                  <a:txBody>
                    <a:bodyPr/>
                    <a:lstStyle/>
                    <a:p>
                      <a:pPr marL="0" marR="0" indent="0" algn="ctr">
                        <a:lnSpc>
                          <a:spcPct val="107000"/>
                        </a:lnSpc>
                        <a:spcBef>
                          <a:spcPts val="0"/>
                        </a:spcBef>
                        <a:spcAft>
                          <a:spcPts val="0"/>
                        </a:spcAft>
                      </a:pPr>
                      <a:r>
                        <a:rPr lang="en-ID" sz="1800">
                          <a:effectLst/>
                        </a:rPr>
                        <a:t>1</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11R11</a:t>
                      </a:r>
                      <a:r>
                        <a:rPr lang="en-ID" sz="1800" dirty="0">
                          <a:effectLst/>
                        </a:rPr>
                        <a:t>, X</a:t>
                      </a:r>
                      <a:r>
                        <a:rPr lang="en-ID" sz="1800" baseline="-25000" dirty="0">
                          <a:effectLst/>
                        </a:rPr>
                        <a:t>11R12</a:t>
                      </a:r>
                      <a:r>
                        <a:rPr lang="en-ID" sz="1800" dirty="0">
                          <a:effectLst/>
                        </a:rPr>
                        <a:t>, …, X</a:t>
                      </a:r>
                      <a:r>
                        <a:rPr lang="en-ID" sz="1800" baseline="-25000" dirty="0">
                          <a:effectLst/>
                        </a:rPr>
                        <a:t>11RPL</a:t>
                      </a:r>
                      <a:r>
                        <a:rPr lang="en-ID" sz="1800" dirty="0">
                          <a:effectLst/>
                        </a:rPr>
                        <a:t>, …, X</a:t>
                      </a:r>
                      <a:r>
                        <a:rPr lang="en-ID" sz="1800" baseline="-25000" dirty="0">
                          <a:effectLst/>
                        </a:rPr>
                        <a:t>11R 224 224</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11G11</a:t>
                      </a:r>
                      <a:r>
                        <a:rPr lang="en-ID" sz="1800">
                          <a:effectLst/>
                        </a:rPr>
                        <a:t>, X</a:t>
                      </a:r>
                      <a:r>
                        <a:rPr lang="en-ID" sz="1800" baseline="-25000">
                          <a:effectLst/>
                        </a:rPr>
                        <a:t>11G12</a:t>
                      </a:r>
                      <a:r>
                        <a:rPr lang="en-ID" sz="1800">
                          <a:effectLst/>
                        </a:rPr>
                        <a:t>, …, X</a:t>
                      </a:r>
                      <a:r>
                        <a:rPr lang="en-ID" sz="1800" baseline="-25000">
                          <a:effectLst/>
                        </a:rPr>
                        <a:t>11GPL</a:t>
                      </a:r>
                      <a:r>
                        <a:rPr lang="en-ID" sz="1800">
                          <a:effectLst/>
                        </a:rPr>
                        <a:t>, …, X</a:t>
                      </a:r>
                      <a:r>
                        <a:rPr lang="en-ID" sz="1800" baseline="-25000">
                          <a:effectLst/>
                        </a:rPr>
                        <a:t>11G 224 224</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11B11</a:t>
                      </a:r>
                      <a:r>
                        <a:rPr lang="en-ID" sz="1800">
                          <a:effectLst/>
                        </a:rPr>
                        <a:t>, X</a:t>
                      </a:r>
                      <a:r>
                        <a:rPr lang="en-ID" sz="1800" baseline="-25000">
                          <a:effectLst/>
                        </a:rPr>
                        <a:t>11B12</a:t>
                      </a:r>
                      <a:r>
                        <a:rPr lang="en-ID" sz="1800">
                          <a:effectLst/>
                        </a:rPr>
                        <a:t>, …, X</a:t>
                      </a:r>
                      <a:r>
                        <a:rPr lang="en-ID" sz="1800" baseline="-25000">
                          <a:effectLst/>
                        </a:rPr>
                        <a:t>11BPL</a:t>
                      </a:r>
                      <a:r>
                        <a:rPr lang="en-ID" sz="1800">
                          <a:effectLst/>
                        </a:rPr>
                        <a:t>, …, X</a:t>
                      </a:r>
                      <a:r>
                        <a:rPr lang="en-ID" sz="1800" baseline="-25000">
                          <a:effectLst/>
                        </a:rPr>
                        <a:t>11B 224 224</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3651216107"/>
                  </a:ext>
                </a:extLst>
              </a:tr>
              <a:tr h="698932">
                <a:tc>
                  <a:txBody>
                    <a:bodyPr/>
                    <a:lstStyle/>
                    <a:p>
                      <a:pPr marL="0" marR="0" indent="0" algn="ctr">
                        <a:lnSpc>
                          <a:spcPct val="107000"/>
                        </a:lnSpc>
                        <a:spcBef>
                          <a:spcPts val="0"/>
                        </a:spcBef>
                        <a:spcAft>
                          <a:spcPts val="0"/>
                        </a:spcAft>
                      </a:pPr>
                      <a:r>
                        <a:rPr lang="en-ID" sz="1800" dirty="0">
                          <a:effectLst/>
                        </a:rPr>
                        <a:t>2</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12R11</a:t>
                      </a:r>
                      <a:r>
                        <a:rPr lang="en-ID" sz="1800">
                          <a:effectLst/>
                        </a:rPr>
                        <a:t>, X</a:t>
                      </a:r>
                      <a:r>
                        <a:rPr lang="en-ID" sz="1800" baseline="-25000">
                          <a:effectLst/>
                        </a:rPr>
                        <a:t>12R12</a:t>
                      </a:r>
                      <a:r>
                        <a:rPr lang="en-ID" sz="1800">
                          <a:effectLst/>
                        </a:rPr>
                        <a:t>, …, X</a:t>
                      </a:r>
                      <a:r>
                        <a:rPr lang="en-ID" sz="1800" baseline="-25000">
                          <a:effectLst/>
                        </a:rPr>
                        <a:t>12RPL</a:t>
                      </a:r>
                      <a:r>
                        <a:rPr lang="en-ID" sz="1800">
                          <a:effectLst/>
                        </a:rPr>
                        <a:t>, …, X</a:t>
                      </a:r>
                      <a:r>
                        <a:rPr lang="en-ID" sz="1800" baseline="-25000">
                          <a:effectLst/>
                        </a:rPr>
                        <a:t>12R 224 224</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12G11</a:t>
                      </a:r>
                      <a:r>
                        <a:rPr lang="en-ID" sz="1800" dirty="0">
                          <a:effectLst/>
                        </a:rPr>
                        <a:t>, X</a:t>
                      </a:r>
                      <a:r>
                        <a:rPr lang="en-ID" sz="1800" baseline="-25000" dirty="0">
                          <a:effectLst/>
                        </a:rPr>
                        <a:t>12G12</a:t>
                      </a:r>
                      <a:r>
                        <a:rPr lang="en-ID" sz="1800" dirty="0">
                          <a:effectLst/>
                        </a:rPr>
                        <a:t>, …, X</a:t>
                      </a:r>
                      <a:r>
                        <a:rPr lang="en-ID" sz="1800" baseline="-25000" dirty="0">
                          <a:effectLst/>
                        </a:rPr>
                        <a:t>12GPL</a:t>
                      </a:r>
                      <a:r>
                        <a:rPr lang="en-ID" sz="1800" dirty="0">
                          <a:effectLst/>
                        </a:rPr>
                        <a:t>, …, X</a:t>
                      </a:r>
                      <a:r>
                        <a:rPr lang="en-ID" sz="1800" baseline="-25000" dirty="0">
                          <a:effectLst/>
                        </a:rPr>
                        <a:t>12G 224 224</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12B11</a:t>
                      </a:r>
                      <a:r>
                        <a:rPr lang="en-ID" sz="1800" dirty="0">
                          <a:effectLst/>
                        </a:rPr>
                        <a:t>, X</a:t>
                      </a:r>
                      <a:r>
                        <a:rPr lang="en-ID" sz="1800" baseline="-25000" dirty="0">
                          <a:effectLst/>
                        </a:rPr>
                        <a:t>12B12</a:t>
                      </a:r>
                      <a:r>
                        <a:rPr lang="en-ID" sz="1800" dirty="0">
                          <a:effectLst/>
                        </a:rPr>
                        <a:t>, …, X</a:t>
                      </a:r>
                      <a:r>
                        <a:rPr lang="en-ID" sz="1800" baseline="-25000" dirty="0">
                          <a:effectLst/>
                        </a:rPr>
                        <a:t>12BPL</a:t>
                      </a:r>
                      <a:r>
                        <a:rPr lang="en-ID" sz="1800" dirty="0">
                          <a:effectLst/>
                        </a:rPr>
                        <a:t>, …, X</a:t>
                      </a:r>
                      <a:r>
                        <a:rPr lang="en-ID" sz="1800" baseline="-25000" dirty="0">
                          <a:effectLst/>
                        </a:rPr>
                        <a:t>12B 224 224</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2392021880"/>
                  </a:ext>
                </a:extLst>
              </a:tr>
              <a:tr h="292461">
                <a:tc>
                  <a:txBody>
                    <a:bodyPr/>
                    <a:lstStyle/>
                    <a:p>
                      <a:pPr marL="0" marR="0" indent="0" algn="ctr">
                        <a:lnSpc>
                          <a:spcPct val="107000"/>
                        </a:lnSpc>
                        <a:spcBef>
                          <a:spcPts val="0"/>
                        </a:spcBef>
                        <a:spcAft>
                          <a:spcPts val="0"/>
                        </a:spcAft>
                      </a:pPr>
                      <a:r>
                        <a:rPr lang="en-ID" sz="1800">
                          <a:effectLst/>
                        </a:rPr>
                        <a:t>…</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dirty="0">
                          <a:effectLst/>
                        </a:rPr>
                        <a:t>…</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extLst>
                  <a:ext uri="{0D108BD9-81ED-4DB2-BD59-A6C34878D82A}">
                    <a16:rowId xmlns:a16="http://schemas.microsoft.com/office/drawing/2014/main" val="927293944"/>
                  </a:ext>
                </a:extLst>
              </a:tr>
              <a:tr h="292461">
                <a:tc>
                  <a:txBody>
                    <a:bodyPr/>
                    <a:lstStyle/>
                    <a:p>
                      <a:pPr marL="0" marR="0" indent="0" algn="ctr">
                        <a:lnSpc>
                          <a:spcPct val="107000"/>
                        </a:lnSpc>
                        <a:spcBef>
                          <a:spcPts val="0"/>
                        </a:spcBef>
                        <a:spcAft>
                          <a:spcPts val="0"/>
                        </a:spcAft>
                      </a:pPr>
                      <a:r>
                        <a:rPr lang="en-ID" sz="1800" dirty="0">
                          <a:effectLst/>
                        </a:rPr>
                        <a:t>d</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1dR 224 224</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nchor="ctr"/>
                </a:tc>
                <a:tc>
                  <a:txBody>
                    <a:bodyPr/>
                    <a:lstStyle/>
                    <a:p>
                      <a:pPr marL="0" marR="234315" indent="0" algn="just">
                        <a:lnSpc>
                          <a:spcPct val="107000"/>
                        </a:lnSpc>
                        <a:spcBef>
                          <a:spcPts val="0"/>
                        </a:spcBef>
                        <a:spcAft>
                          <a:spcPts val="0"/>
                        </a:spcAft>
                      </a:pPr>
                      <a:r>
                        <a:rPr lang="en-ID" sz="1800">
                          <a:effectLst/>
                        </a:rPr>
                        <a:t>X</a:t>
                      </a:r>
                      <a:r>
                        <a:rPr lang="en-ID" sz="1800" baseline="-25000">
                          <a:effectLst/>
                        </a:rPr>
                        <a:t>1dG 224 224</a:t>
                      </a:r>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tc>
                  <a:txBody>
                    <a:bodyPr/>
                    <a:lstStyle/>
                    <a:p>
                      <a:pPr marL="0" marR="234315" indent="0" algn="just">
                        <a:lnSpc>
                          <a:spcPct val="107000"/>
                        </a:lnSpc>
                        <a:spcBef>
                          <a:spcPts val="0"/>
                        </a:spcBef>
                        <a:spcAft>
                          <a:spcPts val="0"/>
                        </a:spcAft>
                      </a:pPr>
                      <a:r>
                        <a:rPr lang="en-ID" sz="1800" dirty="0">
                          <a:effectLst/>
                        </a:rPr>
                        <a:t>X</a:t>
                      </a:r>
                      <a:r>
                        <a:rPr lang="en-ID" sz="1800" baseline="-25000" dirty="0">
                          <a:effectLst/>
                        </a:rPr>
                        <a:t>1dB 224 224</a:t>
                      </a:r>
                      <a:endParaRPr lang="en-US" sz="1800" dirty="0">
                        <a:effectLst/>
                        <a:latin typeface="Times New Roman" panose="02020603050405020304" pitchFamily="18" charset="0"/>
                        <a:ea typeface="Yu Mincho" panose="02020400000000000000" pitchFamily="18" charset="-128"/>
                        <a:cs typeface="Times New Roman" panose="02020603050405020304" pitchFamily="18" charset="0"/>
                      </a:endParaRPr>
                    </a:p>
                  </a:txBody>
                  <a:tcPr marL="68580" marR="68580" marT="0" marB="36195"/>
                </a:tc>
                <a:extLst>
                  <a:ext uri="{0D108BD9-81ED-4DB2-BD59-A6C34878D82A}">
                    <a16:rowId xmlns:a16="http://schemas.microsoft.com/office/drawing/2014/main" val="3033582134"/>
                  </a:ext>
                </a:extLst>
              </a:tr>
            </a:tbl>
          </a:graphicData>
        </a:graphic>
      </p:graphicFrame>
      <p:sp>
        <p:nvSpPr>
          <p:cNvPr id="12" name="Freeform: Shape 11">
            <a:extLst>
              <a:ext uri="{FF2B5EF4-FFF2-40B4-BE49-F238E27FC236}">
                <a16:creationId xmlns:a16="http://schemas.microsoft.com/office/drawing/2014/main" id="{DF9FC587-6767-3597-2A59-0D1B2AE3B16A}"/>
              </a:ext>
            </a:extLst>
          </p:cNvPr>
          <p:cNvSpPr/>
          <p:nvPr/>
        </p:nvSpPr>
        <p:spPr>
          <a:xfrm rot="12559241">
            <a:off x="-637510" y="5460402"/>
            <a:ext cx="2154017" cy="1738220"/>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21A18BD9-120C-1185-A440-DC57597F22DC}"/>
              </a:ext>
            </a:extLst>
          </p:cNvPr>
          <p:cNvSpPr/>
          <p:nvPr/>
        </p:nvSpPr>
        <p:spPr>
          <a:xfrm rot="20221130">
            <a:off x="-302482" y="3899667"/>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37D3CB5-24C2-8816-43C4-CC138AA5B554}"/>
              </a:ext>
            </a:extLst>
          </p:cNvPr>
          <p:cNvSpPr/>
          <p:nvPr/>
        </p:nvSpPr>
        <p:spPr>
          <a:xfrm rot="2946540">
            <a:off x="1901123" y="6022701"/>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009A7109-BF97-09A5-F21F-E7CB99C504B0}"/>
              </a:ext>
            </a:extLst>
          </p:cNvPr>
          <p:cNvSpPr/>
          <p:nvPr/>
        </p:nvSpPr>
        <p:spPr>
          <a:xfrm rot="15006705">
            <a:off x="6491320" y="-664382"/>
            <a:ext cx="719102" cy="1394603"/>
          </a:xfrm>
          <a:custGeom>
            <a:avLst/>
            <a:gdLst>
              <a:gd name="connsiteX0" fmla="*/ 1947728 w 2676291"/>
              <a:gd name="connsiteY0" fmla="*/ 49497 h 2546837"/>
              <a:gd name="connsiteX1" fmla="*/ 2595428 w 2676291"/>
              <a:gd name="connsiteY1" fmla="*/ 2030697 h 2546837"/>
              <a:gd name="connsiteX2" fmla="*/ 195128 w 2676291"/>
              <a:gd name="connsiteY2" fmla="*/ 2468847 h 2546837"/>
              <a:gd name="connsiteX3" fmla="*/ 347528 w 2676291"/>
              <a:gd name="connsiteY3" fmla="*/ 754347 h 2546837"/>
              <a:gd name="connsiteX4" fmla="*/ 1947728 w 2676291"/>
              <a:gd name="connsiteY4" fmla="*/ 49497 h 254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291" h="2546837">
                <a:moveTo>
                  <a:pt x="1947728" y="49497"/>
                </a:moveTo>
                <a:cubicBezTo>
                  <a:pt x="2322378" y="262222"/>
                  <a:pt x="2887528" y="1627472"/>
                  <a:pt x="2595428" y="2030697"/>
                </a:cubicBezTo>
                <a:cubicBezTo>
                  <a:pt x="2303328" y="2433922"/>
                  <a:pt x="569778" y="2681572"/>
                  <a:pt x="195128" y="2468847"/>
                </a:cubicBezTo>
                <a:cubicBezTo>
                  <a:pt x="-179522" y="2256122"/>
                  <a:pt x="49078" y="1154397"/>
                  <a:pt x="347528" y="754347"/>
                </a:cubicBezTo>
                <a:cubicBezTo>
                  <a:pt x="645978" y="354297"/>
                  <a:pt x="1573078" y="-163228"/>
                  <a:pt x="1947728" y="4949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itle 1">
            <a:extLst>
              <a:ext uri="{FF2B5EF4-FFF2-40B4-BE49-F238E27FC236}">
                <a16:creationId xmlns:a16="http://schemas.microsoft.com/office/drawing/2014/main" id="{81C3514A-B30C-EAC5-B5F5-BAE03716DC25}"/>
              </a:ext>
            </a:extLst>
          </p:cNvPr>
          <p:cNvSpPr txBox="1">
            <a:spLocks/>
          </p:cNvSpPr>
          <p:nvPr/>
        </p:nvSpPr>
        <p:spPr>
          <a:xfrm>
            <a:off x="482101" y="1340159"/>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rgbClr val="FF920D"/>
                </a:solidFill>
                <a:latin typeface="Bahnschrift SemiBold" panose="020B0502040204020203" pitchFamily="34" charset="0"/>
              </a:rPr>
              <a:t>Struktur Data Gambar</a:t>
            </a:r>
          </a:p>
        </p:txBody>
      </p:sp>
    </p:spTree>
    <p:extLst>
      <p:ext uri="{BB962C8B-B14F-4D97-AF65-F5344CB8AC3E}">
        <p14:creationId xmlns:p14="http://schemas.microsoft.com/office/powerpoint/2010/main" val="401757005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40475" y="1452080"/>
            <a:ext cx="7830356" cy="523220"/>
          </a:xfrm>
          <a:prstGeom prst="rect">
            <a:avLst/>
          </a:prstGeom>
          <a:noFill/>
        </p:spPr>
        <p:txBody>
          <a:bodyPr wrap="square" rtlCol="0">
            <a:spAutoFit/>
          </a:bodyPr>
          <a:lstStyle/>
          <a:p>
            <a:r>
              <a:rPr lang="en-US" sz="2800" dirty="0">
                <a:solidFill>
                  <a:srgbClr val="FF920D"/>
                </a:solidFill>
                <a:latin typeface="Bahnschrift SemiBold" panose="020B0502040204020203" pitchFamily="34" charset="0"/>
              </a:rPr>
              <a:t>TEKNIK PENGUMPULAN DATA</a:t>
            </a:r>
            <a:endParaRPr lang="en-US" sz="2800" dirty="0">
              <a:solidFill>
                <a:srgbClr val="FF920D"/>
              </a:solidFill>
              <a:effectLst/>
              <a:latin typeface="Bahnschrift SemiBold" panose="020B0502040204020203" pitchFamily="34" charset="0"/>
            </a:endParaRPr>
          </a:p>
        </p:txBody>
      </p:sp>
      <p:sp>
        <p:nvSpPr>
          <p:cNvPr id="12" name="TextBox 11">
            <a:extLst>
              <a:ext uri="{FF2B5EF4-FFF2-40B4-BE49-F238E27FC236}">
                <a16:creationId xmlns:a16="http://schemas.microsoft.com/office/drawing/2014/main" id="{CC08BB26-400D-4647-8BE6-114278767EC6}"/>
              </a:ext>
            </a:extLst>
          </p:cNvPr>
          <p:cNvSpPr txBox="1"/>
          <p:nvPr/>
        </p:nvSpPr>
        <p:spPr>
          <a:xfrm>
            <a:off x="788425" y="1118694"/>
            <a:ext cx="1805244" cy="369332"/>
          </a:xfrm>
          <a:prstGeom prst="rect">
            <a:avLst/>
          </a:prstGeom>
          <a:solidFill>
            <a:srgbClr val="FF920D"/>
          </a:solidFill>
        </p:spPr>
        <p:txBody>
          <a:bodyPr wrap="square" rtlCol="0">
            <a:spAutoFit/>
          </a:bodyPr>
          <a:lstStyle/>
          <a:p>
            <a:r>
              <a:rPr lang="en-US" dirty="0">
                <a:solidFill>
                  <a:schemeClr val="bg1"/>
                </a:solidFill>
              </a:rPr>
              <a:t>BAB III</a:t>
            </a:r>
          </a:p>
        </p:txBody>
      </p:sp>
      <p:sp>
        <p:nvSpPr>
          <p:cNvPr id="13" name="TextBox 5">
            <a:extLst>
              <a:ext uri="{FF2B5EF4-FFF2-40B4-BE49-F238E27FC236}">
                <a16:creationId xmlns:a16="http://schemas.microsoft.com/office/drawing/2014/main" id="{40F5B74D-A373-4CC5-A034-860FC458FA0B}"/>
              </a:ext>
            </a:extLst>
          </p:cNvPr>
          <p:cNvSpPr txBox="1"/>
          <p:nvPr/>
        </p:nvSpPr>
        <p:spPr>
          <a:xfrm>
            <a:off x="11641985" y="6329512"/>
            <a:ext cx="550015"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10</a:t>
            </a:r>
            <a:endParaRPr lang="en-US" sz="2000" b="1" dirty="0"/>
          </a:p>
        </p:txBody>
      </p:sp>
      <p:sp>
        <p:nvSpPr>
          <p:cNvPr id="10" name="TextBox 9">
            <a:extLst>
              <a:ext uri="{FF2B5EF4-FFF2-40B4-BE49-F238E27FC236}">
                <a16:creationId xmlns:a16="http://schemas.microsoft.com/office/drawing/2014/main" id="{AA8535F0-E981-5359-75A8-5AC378F4DC81}"/>
              </a:ext>
            </a:extLst>
          </p:cNvPr>
          <p:cNvSpPr txBox="1"/>
          <p:nvPr/>
        </p:nvSpPr>
        <p:spPr>
          <a:xfrm>
            <a:off x="6481447" y="2049473"/>
            <a:ext cx="4707759" cy="2198294"/>
          </a:xfrm>
          <a:prstGeom prst="rect">
            <a:avLst/>
          </a:prstGeom>
          <a:noFill/>
        </p:spPr>
        <p:txBody>
          <a:bodyPr wrap="square">
            <a:spAutoFit/>
          </a:bodyPr>
          <a:lstStyle/>
          <a:p>
            <a:pPr algn="just">
              <a:lnSpc>
                <a:spcPct val="107000"/>
              </a:lnSpc>
              <a:spcAft>
                <a:spcPts val="800"/>
              </a:spcAft>
            </a:pPr>
            <a:r>
              <a:rPr lang="en-US" sz="1400" b="1" dirty="0">
                <a:effectLst/>
                <a:latin typeface="Bahnschrift" panose="020B0502040204020203" pitchFamily="34" charset="0"/>
                <a:ea typeface="Yu Mincho" panose="02020400000000000000" pitchFamily="18" charset="-128"/>
                <a:cs typeface="Times New Roman" panose="02020603050405020304" pitchFamily="18" charset="0"/>
              </a:rPr>
              <a:t>Labeling </a:t>
            </a:r>
            <a:r>
              <a:rPr lang="en-US" sz="1400" b="1" dirty="0" err="1">
                <a:effectLst/>
                <a:latin typeface="Bahnschrift" panose="020B0502040204020203" pitchFamily="34" charset="0"/>
                <a:ea typeface="Yu Mincho" panose="02020400000000000000" pitchFamily="18" charset="-128"/>
                <a:cs typeface="Times New Roman" panose="02020603050405020304" pitchFamily="18" charset="0"/>
              </a:rPr>
              <a:t>Otomatis</a:t>
            </a:r>
            <a:r>
              <a:rPr lang="en-US" sz="1400" b="1" dirty="0">
                <a:effectLst/>
                <a:latin typeface="Bahnschrift" panose="020B0502040204020203" pitchFamily="34" charset="0"/>
                <a:ea typeface="Yu Mincho" panose="02020400000000000000" pitchFamily="18" charset="-128"/>
                <a:cs typeface="Times New Roman" panose="02020603050405020304" pitchFamily="18" charset="0"/>
              </a:rPr>
              <a:t>:</a:t>
            </a:r>
          </a:p>
          <a:p>
            <a:pPr marL="285750" indent="-285750" algn="just">
              <a:lnSpc>
                <a:spcPct val="107000"/>
              </a:lnSpc>
              <a:spcAft>
                <a:spcPts val="800"/>
              </a:spcAft>
              <a:buFont typeface="Arial" panose="020B0604020202020204" pitchFamily="34" charset="0"/>
              <a:buChar char="•"/>
            </a:pP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Identifikasi</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judul</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berita</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berdasarkan</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kata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kunci</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a:p>
            <a:pPr marL="285750" indent="-285750" algn="just">
              <a:lnSpc>
                <a:spcPct val="107000"/>
              </a:lnSpc>
              <a:spcAft>
                <a:spcPts val="800"/>
              </a:spcAft>
              <a:buFont typeface="Arial" panose="020B0604020202020204" pitchFamily="34" charset="0"/>
              <a:buChar char="•"/>
            </a:pP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Pemberian</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label: 1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hoaks</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atau</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0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fakta</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a:p>
            <a:pPr algn="just">
              <a:lnSpc>
                <a:spcPct val="107000"/>
              </a:lnSpc>
              <a:spcAft>
                <a:spcPts val="800"/>
              </a:spcAft>
            </a:pPr>
            <a:r>
              <a:rPr lang="en-US" sz="1400" b="1" dirty="0">
                <a:effectLst/>
                <a:latin typeface="Bahnschrift" panose="020B0502040204020203" pitchFamily="34" charset="0"/>
                <a:ea typeface="Yu Mincho" panose="02020400000000000000" pitchFamily="18" charset="-128"/>
                <a:cs typeface="Times New Roman" panose="02020603050405020304" pitchFamily="18" charset="0"/>
              </a:rPr>
              <a:t>Penyimpanan Data:</a:t>
            </a:r>
          </a:p>
          <a:p>
            <a:pPr marL="285750" indent="-285750" algn="just">
              <a:lnSpc>
                <a:spcPct val="107000"/>
              </a:lnSpc>
              <a:spcAft>
                <a:spcPts val="800"/>
              </a:spcAft>
              <a:buFont typeface="Arial" panose="020B0604020202020204" pitchFamily="34" charset="0"/>
              <a:buChar char="•"/>
            </a:pP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Data dengan label disimpan dalam Excel.</a:t>
            </a:r>
          </a:p>
          <a:p>
            <a:pPr marL="285750" indent="-285750" algn="just">
              <a:lnSpc>
                <a:spcPct val="107000"/>
              </a:lnSpc>
              <a:spcAft>
                <a:spcPts val="800"/>
              </a:spcAft>
              <a:buFont typeface="Arial" panose="020B0604020202020204" pitchFamily="34" charset="0"/>
              <a:buChar char="•"/>
            </a:pPr>
            <a:r>
              <a:rPr lang="en-US" sz="1400" dirty="0">
                <a:latin typeface="Bahnschrift" panose="020B0502040204020203" pitchFamily="34" charset="0"/>
                <a:ea typeface="Yu Mincho" panose="02020400000000000000" pitchFamily="18" charset="-128"/>
                <a:cs typeface="Times New Roman" panose="02020603050405020304" pitchFamily="18" charset="0"/>
              </a:rPr>
              <a:t>Indeks dimulai dari publikasi terbaru pada </a:t>
            </a:r>
            <a:r>
              <a:rPr lang="en-US" sz="1400" i="1" dirty="0">
                <a:latin typeface="Bahnschrift" panose="020B0502040204020203" pitchFamily="34" charset="0"/>
                <a:ea typeface="Yu Mincho" panose="02020400000000000000" pitchFamily="18" charset="-128"/>
                <a:cs typeface="Times New Roman" panose="02020603050405020304" pitchFamily="18" charset="0"/>
              </a:rPr>
              <a:t>turnbackhokas.id</a:t>
            </a:r>
            <a:endParaRPr lang="en-US" sz="1400" i="1"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2" name="TextBox 1">
            <a:extLst>
              <a:ext uri="{FF2B5EF4-FFF2-40B4-BE49-F238E27FC236}">
                <a16:creationId xmlns:a16="http://schemas.microsoft.com/office/drawing/2014/main" id="{574B3191-B0D6-6320-7B7D-1BC1426CBD8E}"/>
              </a:ext>
            </a:extLst>
          </p:cNvPr>
          <p:cNvSpPr txBox="1"/>
          <p:nvPr/>
        </p:nvSpPr>
        <p:spPr>
          <a:xfrm>
            <a:off x="640475" y="2080394"/>
            <a:ext cx="4707759" cy="1660006"/>
          </a:xfrm>
          <a:prstGeom prst="rect">
            <a:avLst/>
          </a:prstGeom>
          <a:noFill/>
        </p:spPr>
        <p:txBody>
          <a:bodyPr wrap="square">
            <a:spAutoFit/>
          </a:bodyPr>
          <a:lstStyle/>
          <a:p>
            <a:pPr algn="just">
              <a:lnSpc>
                <a:spcPct val="107000"/>
              </a:lnSpc>
              <a:spcAft>
                <a:spcPts val="800"/>
              </a:spcAft>
            </a:pPr>
            <a:r>
              <a:rPr lang="en-US" sz="1400" b="1" dirty="0" err="1">
                <a:effectLst/>
                <a:latin typeface="Bahnschrift" panose="020B0502040204020203" pitchFamily="34" charset="0"/>
                <a:ea typeface="Yu Mincho" panose="02020400000000000000" pitchFamily="18" charset="-128"/>
                <a:cs typeface="Times New Roman" panose="02020603050405020304" pitchFamily="18" charset="0"/>
              </a:rPr>
              <a:t>Pengumpulan</a:t>
            </a:r>
            <a:r>
              <a:rPr lang="en-US" sz="1400" b="1" dirty="0">
                <a:effectLst/>
                <a:latin typeface="Bahnschrift" panose="020B0502040204020203" pitchFamily="34" charset="0"/>
                <a:ea typeface="Yu Mincho" panose="02020400000000000000" pitchFamily="18" charset="-128"/>
                <a:cs typeface="Times New Roman" panose="02020603050405020304" pitchFamily="18" charset="0"/>
              </a:rPr>
              <a:t> Data:</a:t>
            </a:r>
          </a:p>
          <a:p>
            <a:pPr marL="285750" indent="-285750" algn="just">
              <a:lnSpc>
                <a:spcPct val="107000"/>
              </a:lnSpc>
              <a:spcAft>
                <a:spcPts val="800"/>
              </a:spcAft>
              <a:buFont typeface="Arial" panose="020B0604020202020204" pitchFamily="34" charset="0"/>
              <a:buChar char="•"/>
            </a:pP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Web scraping laman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turnbackhoax.id dan Republika.co.id </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menggunakan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library python</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requests </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dan </a:t>
            </a:r>
            <a:r>
              <a:rPr lang="en-US" sz="1400" i="1" dirty="0">
                <a:effectLst/>
                <a:latin typeface="Bahnschrift" panose="020B0502040204020203" pitchFamily="34" charset="0"/>
                <a:ea typeface="Yu Mincho" panose="02020400000000000000" pitchFamily="18" charset="-128"/>
                <a:cs typeface="Times New Roman" panose="02020603050405020304" pitchFamily="18" charset="0"/>
              </a:rPr>
              <a:t>Beautiful Soup</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a:p>
            <a:pPr marL="285750" indent="-285750" algn="just">
              <a:lnSpc>
                <a:spcPct val="107000"/>
              </a:lnSpc>
              <a:spcAft>
                <a:spcPts val="800"/>
              </a:spcAft>
              <a:buFont typeface="Arial" panose="020B0604020202020204" pitchFamily="34" charset="0"/>
              <a:buChar char="•"/>
            </a:pP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Ekstraksi</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tanggal</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terbit</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judul</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gambar</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dan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konten</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 </a:t>
            </a:r>
            <a:r>
              <a:rPr lang="en-US" sz="1400" dirty="0" err="1">
                <a:effectLst/>
                <a:latin typeface="Bahnschrift" panose="020B0502040204020203" pitchFamily="34" charset="0"/>
                <a:ea typeface="Yu Mincho" panose="02020400000000000000" pitchFamily="18" charset="-128"/>
                <a:cs typeface="Times New Roman" panose="02020603050405020304" pitchFamily="18" charset="0"/>
              </a:rPr>
              <a:t>berita</a:t>
            </a:r>
            <a:r>
              <a:rPr lang="en-US" sz="1400" dirty="0">
                <a:effectLst/>
                <a:latin typeface="Bahnschrift" panose="020B0502040204020203" pitchFamily="34" charset="0"/>
                <a:ea typeface="Yu Mincho" panose="02020400000000000000" pitchFamily="18" charset="-128"/>
                <a:cs typeface="Times New Roman" panose="02020603050405020304" pitchFamily="18" charset="0"/>
              </a:rPr>
              <a:t>.</a:t>
            </a:r>
          </a:p>
        </p:txBody>
      </p:sp>
      <p:pic>
        <p:nvPicPr>
          <p:cNvPr id="3" name="Picture 2">
            <a:extLst>
              <a:ext uri="{FF2B5EF4-FFF2-40B4-BE49-F238E27FC236}">
                <a16:creationId xmlns:a16="http://schemas.microsoft.com/office/drawing/2014/main" id="{E0A8F2E8-FAB9-7703-DF5F-F25A95452DAB}"/>
              </a:ext>
            </a:extLst>
          </p:cNvPr>
          <p:cNvPicPr>
            <a:picLocks noChangeAspect="1"/>
          </p:cNvPicPr>
          <p:nvPr/>
        </p:nvPicPr>
        <p:blipFill rotWithShape="1">
          <a:blip r:embed="rId2"/>
          <a:srcRect b="33220"/>
          <a:stretch/>
        </p:blipFill>
        <p:spPr>
          <a:xfrm>
            <a:off x="640475" y="4413724"/>
            <a:ext cx="3040087" cy="1749539"/>
          </a:xfrm>
          <a:prstGeom prst="rect">
            <a:avLst/>
          </a:prstGeom>
        </p:spPr>
      </p:pic>
      <p:pic>
        <p:nvPicPr>
          <p:cNvPr id="9" name="Picture 8">
            <a:extLst>
              <a:ext uri="{FF2B5EF4-FFF2-40B4-BE49-F238E27FC236}">
                <a16:creationId xmlns:a16="http://schemas.microsoft.com/office/drawing/2014/main" id="{C41FFA64-4EB3-33DB-8DE7-A45D0E2EF24D}"/>
              </a:ext>
            </a:extLst>
          </p:cNvPr>
          <p:cNvPicPr>
            <a:picLocks noChangeAspect="1"/>
          </p:cNvPicPr>
          <p:nvPr/>
        </p:nvPicPr>
        <p:blipFill>
          <a:blip r:embed="rId3"/>
          <a:stretch>
            <a:fillRect/>
          </a:stretch>
        </p:blipFill>
        <p:spPr>
          <a:xfrm>
            <a:off x="8093123" y="4376606"/>
            <a:ext cx="2373240" cy="1786657"/>
          </a:xfrm>
          <a:prstGeom prst="rect">
            <a:avLst/>
          </a:prstGeom>
        </p:spPr>
      </p:pic>
      <p:sp>
        <p:nvSpPr>
          <p:cNvPr id="4" name="TextBox 3">
            <a:extLst>
              <a:ext uri="{FF2B5EF4-FFF2-40B4-BE49-F238E27FC236}">
                <a16:creationId xmlns:a16="http://schemas.microsoft.com/office/drawing/2014/main" id="{510A2C88-78F4-1042-9669-3F8DFF7A7A16}"/>
              </a:ext>
            </a:extLst>
          </p:cNvPr>
          <p:cNvSpPr txBox="1"/>
          <p:nvPr/>
        </p:nvSpPr>
        <p:spPr>
          <a:xfrm>
            <a:off x="1542675" y="6131109"/>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(1)</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11" name="TextBox 10">
            <a:extLst>
              <a:ext uri="{FF2B5EF4-FFF2-40B4-BE49-F238E27FC236}">
                <a16:creationId xmlns:a16="http://schemas.microsoft.com/office/drawing/2014/main" id="{B9697606-6568-E361-1AB8-3281D82479B0}"/>
              </a:ext>
            </a:extLst>
          </p:cNvPr>
          <p:cNvSpPr txBox="1"/>
          <p:nvPr/>
        </p:nvSpPr>
        <p:spPr>
          <a:xfrm>
            <a:off x="5348234" y="6210698"/>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(2)</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sp>
        <p:nvSpPr>
          <p:cNvPr id="14" name="TextBox 13">
            <a:extLst>
              <a:ext uri="{FF2B5EF4-FFF2-40B4-BE49-F238E27FC236}">
                <a16:creationId xmlns:a16="http://schemas.microsoft.com/office/drawing/2014/main" id="{17978DD7-3E65-959D-0918-9602CBEBE9E0}"/>
              </a:ext>
            </a:extLst>
          </p:cNvPr>
          <p:cNvSpPr txBox="1"/>
          <p:nvPr/>
        </p:nvSpPr>
        <p:spPr>
          <a:xfrm>
            <a:off x="9167100" y="6210698"/>
            <a:ext cx="693914" cy="362215"/>
          </a:xfrm>
          <a:prstGeom prst="rect">
            <a:avLst/>
          </a:prstGeom>
          <a:noFill/>
        </p:spPr>
        <p:txBody>
          <a:bodyPr wrap="square">
            <a:spAutoFit/>
          </a:bodyPr>
          <a:lstStyle/>
          <a:p>
            <a:pPr algn="ctr">
              <a:lnSpc>
                <a:spcPct val="107000"/>
              </a:lnSpc>
              <a:spcAft>
                <a:spcPts val="800"/>
              </a:spcAft>
            </a:pPr>
            <a:r>
              <a:rPr lang="en-US" b="1" dirty="0">
                <a:effectLst/>
                <a:latin typeface="Bahnschrift" panose="020B0502040204020203" pitchFamily="34" charset="0"/>
                <a:ea typeface="Yu Mincho" panose="02020400000000000000" pitchFamily="18" charset="-128"/>
                <a:cs typeface="Times New Roman" panose="02020603050405020304" pitchFamily="18" charset="0"/>
              </a:rPr>
              <a:t>(3)</a:t>
            </a:r>
            <a:endParaRPr lang="en-US" dirty="0">
              <a:effectLst/>
              <a:latin typeface="Bahnschrift" panose="020B0502040204020203" pitchFamily="34" charset="0"/>
              <a:ea typeface="Yu Mincho" panose="02020400000000000000" pitchFamily="18" charset="-128"/>
              <a:cs typeface="Times New Roman" panose="02020603050405020304" pitchFamily="18" charset="0"/>
            </a:endParaRPr>
          </a:p>
        </p:txBody>
      </p:sp>
      <p:pic>
        <p:nvPicPr>
          <p:cNvPr id="15" name="Picture 14">
            <a:extLst>
              <a:ext uri="{FF2B5EF4-FFF2-40B4-BE49-F238E27FC236}">
                <a16:creationId xmlns:a16="http://schemas.microsoft.com/office/drawing/2014/main" id="{D42F82A9-DE74-CC38-9554-F232523F6732}"/>
              </a:ext>
            </a:extLst>
          </p:cNvPr>
          <p:cNvPicPr>
            <a:picLocks noChangeAspect="1"/>
          </p:cNvPicPr>
          <p:nvPr/>
        </p:nvPicPr>
        <p:blipFill>
          <a:blip r:embed="rId4"/>
          <a:stretch>
            <a:fillRect/>
          </a:stretch>
        </p:blipFill>
        <p:spPr>
          <a:xfrm>
            <a:off x="10575508" y="334546"/>
            <a:ext cx="785211" cy="769507"/>
          </a:xfrm>
          <a:prstGeom prst="rect">
            <a:avLst/>
          </a:prstGeom>
        </p:spPr>
      </p:pic>
      <p:pic>
        <p:nvPicPr>
          <p:cNvPr id="16" name="Picture 15">
            <a:extLst>
              <a:ext uri="{FF2B5EF4-FFF2-40B4-BE49-F238E27FC236}">
                <a16:creationId xmlns:a16="http://schemas.microsoft.com/office/drawing/2014/main" id="{A31416DE-5B00-05DA-DDA2-B194BC4B94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pic>
        <p:nvPicPr>
          <p:cNvPr id="5" name="Picture 4">
            <a:extLst>
              <a:ext uri="{FF2B5EF4-FFF2-40B4-BE49-F238E27FC236}">
                <a16:creationId xmlns:a16="http://schemas.microsoft.com/office/drawing/2014/main" id="{6980BEC7-7653-38BB-6403-18B76565EF7C}"/>
              </a:ext>
            </a:extLst>
          </p:cNvPr>
          <p:cNvPicPr>
            <a:picLocks noChangeAspect="1"/>
          </p:cNvPicPr>
          <p:nvPr/>
        </p:nvPicPr>
        <p:blipFill>
          <a:blip r:embed="rId6"/>
          <a:stretch>
            <a:fillRect/>
          </a:stretch>
        </p:blipFill>
        <p:spPr>
          <a:xfrm>
            <a:off x="4337250" y="4413723"/>
            <a:ext cx="3099185" cy="1749540"/>
          </a:xfrm>
          <a:prstGeom prst="rect">
            <a:avLst/>
          </a:prstGeom>
        </p:spPr>
      </p:pic>
    </p:spTree>
    <p:extLst>
      <p:ext uri="{BB962C8B-B14F-4D97-AF65-F5344CB8AC3E}">
        <p14:creationId xmlns:p14="http://schemas.microsoft.com/office/powerpoint/2010/main" val="357713928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B9438B62-BBFF-875E-50F9-F8E101B907A0}"/>
              </a:ext>
            </a:extLst>
          </p:cNvPr>
          <p:cNvSpPr/>
          <p:nvPr/>
        </p:nvSpPr>
        <p:spPr>
          <a:xfrm>
            <a:off x="-1714576" y="3682092"/>
            <a:ext cx="15621151" cy="4478960"/>
          </a:xfrm>
          <a:custGeom>
            <a:avLst/>
            <a:gdLst>
              <a:gd name="connsiteX0" fmla="*/ 14805926 w 14936488"/>
              <a:gd name="connsiteY0" fmla="*/ 315195 h 4392868"/>
              <a:gd name="connsiteX1" fmla="*/ 14691626 w 14936488"/>
              <a:gd name="connsiteY1" fmla="*/ 277095 h 4392868"/>
              <a:gd name="connsiteX2" fmla="*/ 12939026 w 14936488"/>
              <a:gd name="connsiteY2" fmla="*/ 1020045 h 4392868"/>
              <a:gd name="connsiteX3" fmla="*/ 12558026 w 14936488"/>
              <a:gd name="connsiteY3" fmla="*/ 2848845 h 4392868"/>
              <a:gd name="connsiteX4" fmla="*/ 10405376 w 14936488"/>
              <a:gd name="connsiteY4" fmla="*/ 3344145 h 4392868"/>
              <a:gd name="connsiteX5" fmla="*/ 7852676 w 14936488"/>
              <a:gd name="connsiteY5" fmla="*/ 2925045 h 4392868"/>
              <a:gd name="connsiteX6" fmla="*/ 5585726 w 14936488"/>
              <a:gd name="connsiteY6" fmla="*/ 3020295 h 4392868"/>
              <a:gd name="connsiteX7" fmla="*/ 4023626 w 14936488"/>
              <a:gd name="connsiteY7" fmla="*/ 3534645 h 4392868"/>
              <a:gd name="connsiteX8" fmla="*/ 2175776 w 14936488"/>
              <a:gd name="connsiteY8" fmla="*/ 3039345 h 4392868"/>
              <a:gd name="connsiteX9" fmla="*/ 118376 w 14936488"/>
              <a:gd name="connsiteY9" fmla="*/ 2524995 h 4392868"/>
              <a:gd name="connsiteX10" fmla="*/ 727976 w 14936488"/>
              <a:gd name="connsiteY10" fmla="*/ 3534645 h 4392868"/>
              <a:gd name="connsiteX11" fmla="*/ 4671326 w 14936488"/>
              <a:gd name="connsiteY11" fmla="*/ 4239495 h 4392868"/>
              <a:gd name="connsiteX12" fmla="*/ 13586726 w 14936488"/>
              <a:gd name="connsiteY12" fmla="*/ 3991845 h 4392868"/>
              <a:gd name="connsiteX13" fmla="*/ 14805926 w 14936488"/>
              <a:gd name="connsiteY13" fmla="*/ 315195 h 4392868"/>
              <a:gd name="connsiteX0" fmla="*/ 14805926 w 14936488"/>
              <a:gd name="connsiteY0" fmla="*/ 315195 h 4392868"/>
              <a:gd name="connsiteX1" fmla="*/ 14691626 w 14936488"/>
              <a:gd name="connsiteY1" fmla="*/ 277095 h 4392868"/>
              <a:gd name="connsiteX2" fmla="*/ 12939026 w 14936488"/>
              <a:gd name="connsiteY2" fmla="*/ 1020045 h 4392868"/>
              <a:gd name="connsiteX3" fmla="*/ 12558026 w 14936488"/>
              <a:gd name="connsiteY3" fmla="*/ 2848845 h 4392868"/>
              <a:gd name="connsiteX4" fmla="*/ 10405376 w 14936488"/>
              <a:gd name="connsiteY4" fmla="*/ 3344145 h 4392868"/>
              <a:gd name="connsiteX5" fmla="*/ 7852676 w 14936488"/>
              <a:gd name="connsiteY5" fmla="*/ 2925045 h 4392868"/>
              <a:gd name="connsiteX6" fmla="*/ 5585726 w 14936488"/>
              <a:gd name="connsiteY6" fmla="*/ 3020295 h 4392868"/>
              <a:gd name="connsiteX7" fmla="*/ 3833126 w 14936488"/>
              <a:gd name="connsiteY7" fmla="*/ 3153645 h 4392868"/>
              <a:gd name="connsiteX8" fmla="*/ 2175776 w 14936488"/>
              <a:gd name="connsiteY8" fmla="*/ 3039345 h 4392868"/>
              <a:gd name="connsiteX9" fmla="*/ 118376 w 14936488"/>
              <a:gd name="connsiteY9" fmla="*/ 2524995 h 4392868"/>
              <a:gd name="connsiteX10" fmla="*/ 727976 w 14936488"/>
              <a:gd name="connsiteY10" fmla="*/ 3534645 h 4392868"/>
              <a:gd name="connsiteX11" fmla="*/ 4671326 w 14936488"/>
              <a:gd name="connsiteY11" fmla="*/ 4239495 h 4392868"/>
              <a:gd name="connsiteX12" fmla="*/ 13586726 w 14936488"/>
              <a:gd name="connsiteY12" fmla="*/ 3991845 h 4392868"/>
              <a:gd name="connsiteX13" fmla="*/ 14805926 w 14936488"/>
              <a:gd name="connsiteY13" fmla="*/ 315195 h 4392868"/>
              <a:gd name="connsiteX0" fmla="*/ 14777800 w 14908362"/>
              <a:gd name="connsiteY0" fmla="*/ 315195 h 4392868"/>
              <a:gd name="connsiteX1" fmla="*/ 14663500 w 14908362"/>
              <a:gd name="connsiteY1" fmla="*/ 277095 h 4392868"/>
              <a:gd name="connsiteX2" fmla="*/ 12910900 w 14908362"/>
              <a:gd name="connsiteY2" fmla="*/ 1020045 h 4392868"/>
              <a:gd name="connsiteX3" fmla="*/ 12529900 w 14908362"/>
              <a:gd name="connsiteY3" fmla="*/ 2848845 h 4392868"/>
              <a:gd name="connsiteX4" fmla="*/ 10377250 w 14908362"/>
              <a:gd name="connsiteY4" fmla="*/ 3344145 h 4392868"/>
              <a:gd name="connsiteX5" fmla="*/ 7824550 w 14908362"/>
              <a:gd name="connsiteY5" fmla="*/ 2925045 h 4392868"/>
              <a:gd name="connsiteX6" fmla="*/ 5557600 w 14908362"/>
              <a:gd name="connsiteY6" fmla="*/ 3020295 h 4392868"/>
              <a:gd name="connsiteX7" fmla="*/ 3805000 w 14908362"/>
              <a:gd name="connsiteY7" fmla="*/ 3153645 h 4392868"/>
              <a:gd name="connsiteX8" fmla="*/ 1766650 w 14908362"/>
              <a:gd name="connsiteY8" fmla="*/ 2620245 h 4392868"/>
              <a:gd name="connsiteX9" fmla="*/ 90250 w 14908362"/>
              <a:gd name="connsiteY9" fmla="*/ 2524995 h 4392868"/>
              <a:gd name="connsiteX10" fmla="*/ 699850 w 14908362"/>
              <a:gd name="connsiteY10" fmla="*/ 3534645 h 4392868"/>
              <a:gd name="connsiteX11" fmla="*/ 4643200 w 14908362"/>
              <a:gd name="connsiteY11" fmla="*/ 4239495 h 4392868"/>
              <a:gd name="connsiteX12" fmla="*/ 13558600 w 14908362"/>
              <a:gd name="connsiteY12" fmla="*/ 3991845 h 4392868"/>
              <a:gd name="connsiteX13" fmla="*/ 14777800 w 14908362"/>
              <a:gd name="connsiteY13" fmla="*/ 315195 h 4392868"/>
              <a:gd name="connsiteX0" fmla="*/ 14777800 w 14908362"/>
              <a:gd name="connsiteY0" fmla="*/ 315195 h 4392868"/>
              <a:gd name="connsiteX1" fmla="*/ 14663500 w 14908362"/>
              <a:gd name="connsiteY1" fmla="*/ 277095 h 4392868"/>
              <a:gd name="connsiteX2" fmla="*/ 12910900 w 14908362"/>
              <a:gd name="connsiteY2" fmla="*/ 1020045 h 4392868"/>
              <a:gd name="connsiteX3" fmla="*/ 12529900 w 14908362"/>
              <a:gd name="connsiteY3" fmla="*/ 2848845 h 4392868"/>
              <a:gd name="connsiteX4" fmla="*/ 10377250 w 14908362"/>
              <a:gd name="connsiteY4" fmla="*/ 3344145 h 4392868"/>
              <a:gd name="connsiteX5" fmla="*/ 7824550 w 14908362"/>
              <a:gd name="connsiteY5" fmla="*/ 2925045 h 4392868"/>
              <a:gd name="connsiteX6" fmla="*/ 5557600 w 14908362"/>
              <a:gd name="connsiteY6" fmla="*/ 3020295 h 4392868"/>
              <a:gd name="connsiteX7" fmla="*/ 3805000 w 14908362"/>
              <a:gd name="connsiteY7" fmla="*/ 3153645 h 4392868"/>
              <a:gd name="connsiteX8" fmla="*/ 1766650 w 14908362"/>
              <a:gd name="connsiteY8" fmla="*/ 2620245 h 4392868"/>
              <a:gd name="connsiteX9" fmla="*/ 90250 w 14908362"/>
              <a:gd name="connsiteY9" fmla="*/ 2524995 h 4392868"/>
              <a:gd name="connsiteX10" fmla="*/ 699850 w 14908362"/>
              <a:gd name="connsiteY10" fmla="*/ 3534645 h 4392868"/>
              <a:gd name="connsiteX11" fmla="*/ 4643200 w 14908362"/>
              <a:gd name="connsiteY11" fmla="*/ 4239495 h 4392868"/>
              <a:gd name="connsiteX12" fmla="*/ 13558600 w 14908362"/>
              <a:gd name="connsiteY12" fmla="*/ 3991845 h 4392868"/>
              <a:gd name="connsiteX13" fmla="*/ 14777800 w 14908362"/>
              <a:gd name="connsiteY13" fmla="*/ 315195 h 4392868"/>
              <a:gd name="connsiteX0" fmla="*/ 14675910 w 14806472"/>
              <a:gd name="connsiteY0" fmla="*/ 315195 h 4392868"/>
              <a:gd name="connsiteX1" fmla="*/ 14561610 w 14806472"/>
              <a:gd name="connsiteY1" fmla="*/ 277095 h 4392868"/>
              <a:gd name="connsiteX2" fmla="*/ 12809010 w 14806472"/>
              <a:gd name="connsiteY2" fmla="*/ 1020045 h 4392868"/>
              <a:gd name="connsiteX3" fmla="*/ 12428010 w 14806472"/>
              <a:gd name="connsiteY3" fmla="*/ 2848845 h 4392868"/>
              <a:gd name="connsiteX4" fmla="*/ 10275360 w 14806472"/>
              <a:gd name="connsiteY4" fmla="*/ 3344145 h 4392868"/>
              <a:gd name="connsiteX5" fmla="*/ 7722660 w 14806472"/>
              <a:gd name="connsiteY5" fmla="*/ 2925045 h 4392868"/>
              <a:gd name="connsiteX6" fmla="*/ 5455710 w 14806472"/>
              <a:gd name="connsiteY6" fmla="*/ 3020295 h 4392868"/>
              <a:gd name="connsiteX7" fmla="*/ 3703110 w 14806472"/>
              <a:gd name="connsiteY7" fmla="*/ 3153645 h 4392868"/>
              <a:gd name="connsiteX8" fmla="*/ 1664760 w 14806472"/>
              <a:gd name="connsiteY8" fmla="*/ 2620245 h 4392868"/>
              <a:gd name="connsiteX9" fmla="*/ 121710 w 14806472"/>
              <a:gd name="connsiteY9" fmla="*/ 1439145 h 4392868"/>
              <a:gd name="connsiteX10" fmla="*/ 597960 w 14806472"/>
              <a:gd name="connsiteY10" fmla="*/ 3534645 h 4392868"/>
              <a:gd name="connsiteX11" fmla="*/ 4541310 w 14806472"/>
              <a:gd name="connsiteY11" fmla="*/ 4239495 h 4392868"/>
              <a:gd name="connsiteX12" fmla="*/ 13456710 w 14806472"/>
              <a:gd name="connsiteY12" fmla="*/ 3991845 h 4392868"/>
              <a:gd name="connsiteX13" fmla="*/ 14675910 w 14806472"/>
              <a:gd name="connsiteY13" fmla="*/ 315195 h 4392868"/>
              <a:gd name="connsiteX0" fmla="*/ 14721932 w 14852494"/>
              <a:gd name="connsiteY0" fmla="*/ 315195 h 4392868"/>
              <a:gd name="connsiteX1" fmla="*/ 14607632 w 14852494"/>
              <a:gd name="connsiteY1" fmla="*/ 277095 h 4392868"/>
              <a:gd name="connsiteX2" fmla="*/ 12855032 w 14852494"/>
              <a:gd name="connsiteY2" fmla="*/ 1020045 h 4392868"/>
              <a:gd name="connsiteX3" fmla="*/ 12474032 w 14852494"/>
              <a:gd name="connsiteY3" fmla="*/ 2848845 h 4392868"/>
              <a:gd name="connsiteX4" fmla="*/ 10321382 w 14852494"/>
              <a:gd name="connsiteY4" fmla="*/ 3344145 h 4392868"/>
              <a:gd name="connsiteX5" fmla="*/ 7768682 w 14852494"/>
              <a:gd name="connsiteY5" fmla="*/ 2925045 h 4392868"/>
              <a:gd name="connsiteX6" fmla="*/ 5501732 w 14852494"/>
              <a:gd name="connsiteY6" fmla="*/ 3020295 h 4392868"/>
              <a:gd name="connsiteX7" fmla="*/ 3749132 w 14852494"/>
              <a:gd name="connsiteY7" fmla="*/ 3153645 h 4392868"/>
              <a:gd name="connsiteX8" fmla="*/ 2339432 w 14852494"/>
              <a:gd name="connsiteY8" fmla="*/ 1915395 h 4392868"/>
              <a:gd name="connsiteX9" fmla="*/ 167732 w 14852494"/>
              <a:gd name="connsiteY9" fmla="*/ 1439145 h 4392868"/>
              <a:gd name="connsiteX10" fmla="*/ 643982 w 14852494"/>
              <a:gd name="connsiteY10" fmla="*/ 3534645 h 4392868"/>
              <a:gd name="connsiteX11" fmla="*/ 4587332 w 14852494"/>
              <a:gd name="connsiteY11" fmla="*/ 4239495 h 4392868"/>
              <a:gd name="connsiteX12" fmla="*/ 13502732 w 14852494"/>
              <a:gd name="connsiteY12" fmla="*/ 3991845 h 4392868"/>
              <a:gd name="connsiteX13" fmla="*/ 14721932 w 14852494"/>
              <a:gd name="connsiteY13" fmla="*/ 315195 h 4392868"/>
              <a:gd name="connsiteX0" fmla="*/ 14721932 w 14852494"/>
              <a:gd name="connsiteY0" fmla="*/ 315195 h 4392868"/>
              <a:gd name="connsiteX1" fmla="*/ 14607632 w 14852494"/>
              <a:gd name="connsiteY1" fmla="*/ 277095 h 4392868"/>
              <a:gd name="connsiteX2" fmla="*/ 12855032 w 14852494"/>
              <a:gd name="connsiteY2" fmla="*/ 1020045 h 4392868"/>
              <a:gd name="connsiteX3" fmla="*/ 12474032 w 14852494"/>
              <a:gd name="connsiteY3" fmla="*/ 2848845 h 4392868"/>
              <a:gd name="connsiteX4" fmla="*/ 10797632 w 14852494"/>
              <a:gd name="connsiteY4" fmla="*/ 2963145 h 4392868"/>
              <a:gd name="connsiteX5" fmla="*/ 7768682 w 14852494"/>
              <a:gd name="connsiteY5" fmla="*/ 2925045 h 4392868"/>
              <a:gd name="connsiteX6" fmla="*/ 5501732 w 14852494"/>
              <a:gd name="connsiteY6" fmla="*/ 3020295 h 4392868"/>
              <a:gd name="connsiteX7" fmla="*/ 3749132 w 14852494"/>
              <a:gd name="connsiteY7" fmla="*/ 3153645 h 4392868"/>
              <a:gd name="connsiteX8" fmla="*/ 2339432 w 14852494"/>
              <a:gd name="connsiteY8" fmla="*/ 1915395 h 4392868"/>
              <a:gd name="connsiteX9" fmla="*/ 167732 w 14852494"/>
              <a:gd name="connsiteY9" fmla="*/ 1439145 h 4392868"/>
              <a:gd name="connsiteX10" fmla="*/ 643982 w 14852494"/>
              <a:gd name="connsiteY10" fmla="*/ 3534645 h 4392868"/>
              <a:gd name="connsiteX11" fmla="*/ 4587332 w 14852494"/>
              <a:gd name="connsiteY11" fmla="*/ 4239495 h 4392868"/>
              <a:gd name="connsiteX12" fmla="*/ 13502732 w 14852494"/>
              <a:gd name="connsiteY12" fmla="*/ 3991845 h 4392868"/>
              <a:gd name="connsiteX13" fmla="*/ 14721932 w 14852494"/>
              <a:gd name="connsiteY13" fmla="*/ 315195 h 4392868"/>
              <a:gd name="connsiteX0" fmla="*/ 14721932 w 14852494"/>
              <a:gd name="connsiteY0" fmla="*/ 315195 h 4392868"/>
              <a:gd name="connsiteX1" fmla="*/ 14607632 w 14852494"/>
              <a:gd name="connsiteY1" fmla="*/ 277095 h 4392868"/>
              <a:gd name="connsiteX2" fmla="*/ 12855032 w 14852494"/>
              <a:gd name="connsiteY2" fmla="*/ 1020045 h 4392868"/>
              <a:gd name="connsiteX3" fmla="*/ 12474032 w 14852494"/>
              <a:gd name="connsiteY3" fmla="*/ 2848845 h 4392868"/>
              <a:gd name="connsiteX4" fmla="*/ 10797632 w 14852494"/>
              <a:gd name="connsiteY4" fmla="*/ 2963145 h 4392868"/>
              <a:gd name="connsiteX5" fmla="*/ 7635332 w 14852494"/>
              <a:gd name="connsiteY5" fmla="*/ 2391645 h 4392868"/>
              <a:gd name="connsiteX6" fmla="*/ 5501732 w 14852494"/>
              <a:gd name="connsiteY6" fmla="*/ 3020295 h 4392868"/>
              <a:gd name="connsiteX7" fmla="*/ 3749132 w 14852494"/>
              <a:gd name="connsiteY7" fmla="*/ 3153645 h 4392868"/>
              <a:gd name="connsiteX8" fmla="*/ 2339432 w 14852494"/>
              <a:gd name="connsiteY8" fmla="*/ 1915395 h 4392868"/>
              <a:gd name="connsiteX9" fmla="*/ 167732 w 14852494"/>
              <a:gd name="connsiteY9" fmla="*/ 1439145 h 4392868"/>
              <a:gd name="connsiteX10" fmla="*/ 643982 w 14852494"/>
              <a:gd name="connsiteY10" fmla="*/ 3534645 h 4392868"/>
              <a:gd name="connsiteX11" fmla="*/ 4587332 w 14852494"/>
              <a:gd name="connsiteY11" fmla="*/ 4239495 h 4392868"/>
              <a:gd name="connsiteX12" fmla="*/ 13502732 w 14852494"/>
              <a:gd name="connsiteY12" fmla="*/ 3991845 h 4392868"/>
              <a:gd name="connsiteX13" fmla="*/ 14721932 w 14852494"/>
              <a:gd name="connsiteY13" fmla="*/ 315195 h 4392868"/>
              <a:gd name="connsiteX0" fmla="*/ 14721932 w 14799635"/>
              <a:gd name="connsiteY0" fmla="*/ 364959 h 4442632"/>
              <a:gd name="connsiteX1" fmla="*/ 13274132 w 14799635"/>
              <a:gd name="connsiteY1" fmla="*/ 212559 h 4442632"/>
              <a:gd name="connsiteX2" fmla="*/ 12855032 w 14799635"/>
              <a:gd name="connsiteY2" fmla="*/ 1069809 h 4442632"/>
              <a:gd name="connsiteX3" fmla="*/ 12474032 w 14799635"/>
              <a:gd name="connsiteY3" fmla="*/ 2898609 h 4442632"/>
              <a:gd name="connsiteX4" fmla="*/ 10797632 w 14799635"/>
              <a:gd name="connsiteY4" fmla="*/ 3012909 h 4442632"/>
              <a:gd name="connsiteX5" fmla="*/ 7635332 w 14799635"/>
              <a:gd name="connsiteY5" fmla="*/ 2441409 h 4442632"/>
              <a:gd name="connsiteX6" fmla="*/ 5501732 w 14799635"/>
              <a:gd name="connsiteY6" fmla="*/ 3070059 h 4442632"/>
              <a:gd name="connsiteX7" fmla="*/ 3749132 w 14799635"/>
              <a:gd name="connsiteY7" fmla="*/ 3203409 h 4442632"/>
              <a:gd name="connsiteX8" fmla="*/ 2339432 w 14799635"/>
              <a:gd name="connsiteY8" fmla="*/ 1965159 h 4442632"/>
              <a:gd name="connsiteX9" fmla="*/ 167732 w 14799635"/>
              <a:gd name="connsiteY9" fmla="*/ 1488909 h 4442632"/>
              <a:gd name="connsiteX10" fmla="*/ 643982 w 14799635"/>
              <a:gd name="connsiteY10" fmla="*/ 3584409 h 4442632"/>
              <a:gd name="connsiteX11" fmla="*/ 4587332 w 14799635"/>
              <a:gd name="connsiteY11" fmla="*/ 4289259 h 4442632"/>
              <a:gd name="connsiteX12" fmla="*/ 13502732 w 14799635"/>
              <a:gd name="connsiteY12" fmla="*/ 4041609 h 4442632"/>
              <a:gd name="connsiteX13" fmla="*/ 14721932 w 14799635"/>
              <a:gd name="connsiteY13" fmla="*/ 364959 h 4442632"/>
              <a:gd name="connsiteX0" fmla="*/ 14721932 w 14799635"/>
              <a:gd name="connsiteY0" fmla="*/ 401287 h 4478960"/>
              <a:gd name="connsiteX1" fmla="*/ 13274132 w 14799635"/>
              <a:gd name="connsiteY1" fmla="*/ 248887 h 4478960"/>
              <a:gd name="connsiteX2" fmla="*/ 12969332 w 14799635"/>
              <a:gd name="connsiteY2" fmla="*/ 1753837 h 4478960"/>
              <a:gd name="connsiteX3" fmla="*/ 12474032 w 14799635"/>
              <a:gd name="connsiteY3" fmla="*/ 2934937 h 4478960"/>
              <a:gd name="connsiteX4" fmla="*/ 10797632 w 14799635"/>
              <a:gd name="connsiteY4" fmla="*/ 3049237 h 4478960"/>
              <a:gd name="connsiteX5" fmla="*/ 7635332 w 14799635"/>
              <a:gd name="connsiteY5" fmla="*/ 2477737 h 4478960"/>
              <a:gd name="connsiteX6" fmla="*/ 5501732 w 14799635"/>
              <a:gd name="connsiteY6" fmla="*/ 3106387 h 4478960"/>
              <a:gd name="connsiteX7" fmla="*/ 3749132 w 14799635"/>
              <a:gd name="connsiteY7" fmla="*/ 3239737 h 4478960"/>
              <a:gd name="connsiteX8" fmla="*/ 2339432 w 14799635"/>
              <a:gd name="connsiteY8" fmla="*/ 2001487 h 4478960"/>
              <a:gd name="connsiteX9" fmla="*/ 167732 w 14799635"/>
              <a:gd name="connsiteY9" fmla="*/ 1525237 h 4478960"/>
              <a:gd name="connsiteX10" fmla="*/ 643982 w 14799635"/>
              <a:gd name="connsiteY10" fmla="*/ 3620737 h 4478960"/>
              <a:gd name="connsiteX11" fmla="*/ 4587332 w 14799635"/>
              <a:gd name="connsiteY11" fmla="*/ 4325587 h 4478960"/>
              <a:gd name="connsiteX12" fmla="*/ 13502732 w 14799635"/>
              <a:gd name="connsiteY12" fmla="*/ 4077937 h 4478960"/>
              <a:gd name="connsiteX13" fmla="*/ 14721932 w 14799635"/>
              <a:gd name="connsiteY13" fmla="*/ 401287 h 4478960"/>
              <a:gd name="connsiteX0" fmla="*/ 14721932 w 14799635"/>
              <a:gd name="connsiteY0" fmla="*/ 401287 h 4478960"/>
              <a:gd name="connsiteX1" fmla="*/ 13274132 w 14799635"/>
              <a:gd name="connsiteY1" fmla="*/ 248887 h 4478960"/>
              <a:gd name="connsiteX2" fmla="*/ 12969332 w 14799635"/>
              <a:gd name="connsiteY2" fmla="*/ 1753837 h 4478960"/>
              <a:gd name="connsiteX3" fmla="*/ 12474032 w 14799635"/>
              <a:gd name="connsiteY3" fmla="*/ 2934937 h 4478960"/>
              <a:gd name="connsiteX4" fmla="*/ 10797632 w 14799635"/>
              <a:gd name="connsiteY4" fmla="*/ 3049237 h 4478960"/>
              <a:gd name="connsiteX5" fmla="*/ 7635332 w 14799635"/>
              <a:gd name="connsiteY5" fmla="*/ 2477737 h 4478960"/>
              <a:gd name="connsiteX6" fmla="*/ 5501732 w 14799635"/>
              <a:gd name="connsiteY6" fmla="*/ 3106387 h 4478960"/>
              <a:gd name="connsiteX7" fmla="*/ 4043046 w 14799635"/>
              <a:gd name="connsiteY7" fmla="*/ 2945822 h 4478960"/>
              <a:gd name="connsiteX8" fmla="*/ 2339432 w 14799635"/>
              <a:gd name="connsiteY8" fmla="*/ 2001487 h 4478960"/>
              <a:gd name="connsiteX9" fmla="*/ 167732 w 14799635"/>
              <a:gd name="connsiteY9" fmla="*/ 1525237 h 4478960"/>
              <a:gd name="connsiteX10" fmla="*/ 643982 w 14799635"/>
              <a:gd name="connsiteY10" fmla="*/ 3620737 h 4478960"/>
              <a:gd name="connsiteX11" fmla="*/ 4587332 w 14799635"/>
              <a:gd name="connsiteY11" fmla="*/ 4325587 h 4478960"/>
              <a:gd name="connsiteX12" fmla="*/ 13502732 w 14799635"/>
              <a:gd name="connsiteY12" fmla="*/ 4077937 h 4478960"/>
              <a:gd name="connsiteX13" fmla="*/ 14721932 w 14799635"/>
              <a:gd name="connsiteY13" fmla="*/ 401287 h 4478960"/>
              <a:gd name="connsiteX0" fmla="*/ 14721932 w 14799635"/>
              <a:gd name="connsiteY0" fmla="*/ 401287 h 4478960"/>
              <a:gd name="connsiteX1" fmla="*/ 13274132 w 14799635"/>
              <a:gd name="connsiteY1" fmla="*/ 248887 h 4478960"/>
              <a:gd name="connsiteX2" fmla="*/ 12969332 w 14799635"/>
              <a:gd name="connsiteY2" fmla="*/ 1753837 h 4478960"/>
              <a:gd name="connsiteX3" fmla="*/ 12474032 w 14799635"/>
              <a:gd name="connsiteY3" fmla="*/ 2934937 h 4478960"/>
              <a:gd name="connsiteX4" fmla="*/ 10797632 w 14799635"/>
              <a:gd name="connsiteY4" fmla="*/ 3049237 h 4478960"/>
              <a:gd name="connsiteX5" fmla="*/ 7635332 w 14799635"/>
              <a:gd name="connsiteY5" fmla="*/ 2477737 h 4478960"/>
              <a:gd name="connsiteX6" fmla="*/ 5501732 w 14799635"/>
              <a:gd name="connsiteY6" fmla="*/ 3106387 h 4478960"/>
              <a:gd name="connsiteX7" fmla="*/ 4043046 w 14799635"/>
              <a:gd name="connsiteY7" fmla="*/ 2945822 h 4478960"/>
              <a:gd name="connsiteX8" fmla="*/ 2339432 w 14799635"/>
              <a:gd name="connsiteY8" fmla="*/ 2001487 h 4478960"/>
              <a:gd name="connsiteX9" fmla="*/ 167732 w 14799635"/>
              <a:gd name="connsiteY9" fmla="*/ 1525237 h 4478960"/>
              <a:gd name="connsiteX10" fmla="*/ 643982 w 14799635"/>
              <a:gd name="connsiteY10" fmla="*/ 3620737 h 4478960"/>
              <a:gd name="connsiteX11" fmla="*/ 4587332 w 14799635"/>
              <a:gd name="connsiteY11" fmla="*/ 4325587 h 4478960"/>
              <a:gd name="connsiteX12" fmla="*/ 13502732 w 14799635"/>
              <a:gd name="connsiteY12" fmla="*/ 4077937 h 4478960"/>
              <a:gd name="connsiteX13" fmla="*/ 14721932 w 14799635"/>
              <a:gd name="connsiteY13" fmla="*/ 401287 h 44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799635" h="4478960">
                <a:moveTo>
                  <a:pt x="14721932" y="401287"/>
                </a:moveTo>
                <a:cubicBezTo>
                  <a:pt x="14683832" y="-236888"/>
                  <a:pt x="13566232" y="23462"/>
                  <a:pt x="13274132" y="248887"/>
                </a:cubicBezTo>
                <a:cubicBezTo>
                  <a:pt x="12982032" y="474312"/>
                  <a:pt x="13102682" y="1306162"/>
                  <a:pt x="12969332" y="1753837"/>
                </a:cubicBezTo>
                <a:cubicBezTo>
                  <a:pt x="12835982" y="2201512"/>
                  <a:pt x="12835982" y="2719037"/>
                  <a:pt x="12474032" y="2934937"/>
                </a:cubicBezTo>
                <a:cubicBezTo>
                  <a:pt x="12112082" y="3150837"/>
                  <a:pt x="11604082" y="3125437"/>
                  <a:pt x="10797632" y="3049237"/>
                </a:cubicBezTo>
                <a:cubicBezTo>
                  <a:pt x="9991182" y="2973037"/>
                  <a:pt x="8689432" y="2668237"/>
                  <a:pt x="7635332" y="2477737"/>
                </a:cubicBezTo>
                <a:cubicBezTo>
                  <a:pt x="6752682" y="2487262"/>
                  <a:pt x="6100446" y="3028373"/>
                  <a:pt x="5501732" y="3106387"/>
                </a:cubicBezTo>
                <a:cubicBezTo>
                  <a:pt x="4903018" y="3184401"/>
                  <a:pt x="5582468" y="2640115"/>
                  <a:pt x="4043046" y="2945822"/>
                </a:cubicBezTo>
                <a:cubicBezTo>
                  <a:pt x="2503624" y="3251529"/>
                  <a:pt x="2985318" y="2238251"/>
                  <a:pt x="2339432" y="2001487"/>
                </a:cubicBezTo>
                <a:cubicBezTo>
                  <a:pt x="1693546" y="1764723"/>
                  <a:pt x="450307" y="1255362"/>
                  <a:pt x="167732" y="1525237"/>
                </a:cubicBezTo>
                <a:cubicBezTo>
                  <a:pt x="-114843" y="1795112"/>
                  <a:pt x="-92618" y="3154012"/>
                  <a:pt x="643982" y="3620737"/>
                </a:cubicBezTo>
                <a:cubicBezTo>
                  <a:pt x="1380582" y="4087462"/>
                  <a:pt x="2444207" y="4249387"/>
                  <a:pt x="4587332" y="4325587"/>
                </a:cubicBezTo>
                <a:cubicBezTo>
                  <a:pt x="6730457" y="4401787"/>
                  <a:pt x="11810457" y="4738337"/>
                  <a:pt x="13502732" y="4077937"/>
                </a:cubicBezTo>
                <a:cubicBezTo>
                  <a:pt x="15195007" y="3417537"/>
                  <a:pt x="14760032" y="1039462"/>
                  <a:pt x="14721932" y="401287"/>
                </a:cubicBezTo>
                <a:close/>
              </a:path>
            </a:pathLst>
          </a:custGeom>
          <a:solidFill>
            <a:srgbClr val="FF92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9">
            <a:extLst>
              <a:ext uri="{FF2B5EF4-FFF2-40B4-BE49-F238E27FC236}">
                <a16:creationId xmlns:a16="http://schemas.microsoft.com/office/drawing/2014/main" id="{5B922953-5CC4-4BE0-9FE4-63C5791F34F3}"/>
              </a:ext>
            </a:extLst>
          </p:cNvPr>
          <p:cNvSpPr>
            <a:spLocks noChangeArrowheads="1"/>
          </p:cNvSpPr>
          <p:nvPr/>
        </p:nvSpPr>
        <p:spPr bwMode="auto">
          <a:xfrm>
            <a:off x="1939806" y="14373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9D1A3B87-60D7-1264-9A9C-113C6A4F10DE}"/>
              </a:ext>
            </a:extLst>
          </p:cNvPr>
          <p:cNvSpPr txBox="1"/>
          <p:nvPr/>
        </p:nvSpPr>
        <p:spPr>
          <a:xfrm>
            <a:off x="390294" y="914116"/>
            <a:ext cx="7830356" cy="523220"/>
          </a:xfrm>
          <a:prstGeom prst="rect">
            <a:avLst/>
          </a:prstGeom>
          <a:noFill/>
        </p:spPr>
        <p:txBody>
          <a:bodyPr wrap="square" rtlCol="0">
            <a:spAutoFit/>
          </a:bodyPr>
          <a:lstStyle/>
          <a:p>
            <a:r>
              <a:rPr lang="en-US" sz="2800" dirty="0">
                <a:solidFill>
                  <a:srgbClr val="FF920D"/>
                </a:solidFill>
                <a:latin typeface="Bahnschrift SemiBold" panose="020B0502040204020203" pitchFamily="34" charset="0"/>
              </a:rPr>
              <a:t>DIAGRAM ALIR</a:t>
            </a:r>
            <a:endParaRPr lang="en-US" sz="2800" dirty="0">
              <a:solidFill>
                <a:srgbClr val="FF920D"/>
              </a:solidFill>
              <a:effectLst/>
              <a:latin typeface="Bahnschrift SemiBold" panose="020B0502040204020203" pitchFamily="34" charset="0"/>
            </a:endParaRPr>
          </a:p>
        </p:txBody>
      </p:sp>
      <p:sp>
        <p:nvSpPr>
          <p:cNvPr id="16" name="TextBox 15">
            <a:extLst>
              <a:ext uri="{FF2B5EF4-FFF2-40B4-BE49-F238E27FC236}">
                <a16:creationId xmlns:a16="http://schemas.microsoft.com/office/drawing/2014/main" id="{C554CD45-6A9A-272D-03B2-21D8A66004B3}"/>
              </a:ext>
            </a:extLst>
          </p:cNvPr>
          <p:cNvSpPr txBox="1"/>
          <p:nvPr/>
        </p:nvSpPr>
        <p:spPr>
          <a:xfrm>
            <a:off x="490118" y="583745"/>
            <a:ext cx="1805244" cy="369332"/>
          </a:xfrm>
          <a:prstGeom prst="rect">
            <a:avLst/>
          </a:prstGeom>
          <a:solidFill>
            <a:srgbClr val="FF920D"/>
          </a:solidFill>
        </p:spPr>
        <p:txBody>
          <a:bodyPr wrap="square" rtlCol="0">
            <a:spAutoFit/>
          </a:bodyPr>
          <a:lstStyle/>
          <a:p>
            <a:r>
              <a:rPr lang="en-US" dirty="0">
                <a:solidFill>
                  <a:schemeClr val="bg1"/>
                </a:solidFill>
              </a:rPr>
              <a:t>BAB III</a:t>
            </a:r>
          </a:p>
        </p:txBody>
      </p:sp>
      <p:pic>
        <p:nvPicPr>
          <p:cNvPr id="8" name="Picture 7">
            <a:extLst>
              <a:ext uri="{FF2B5EF4-FFF2-40B4-BE49-F238E27FC236}">
                <a16:creationId xmlns:a16="http://schemas.microsoft.com/office/drawing/2014/main" id="{B87AEF5C-B122-1735-DE8B-C4B396DAD9AB}"/>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9" name="Picture 8">
            <a:extLst>
              <a:ext uri="{FF2B5EF4-FFF2-40B4-BE49-F238E27FC236}">
                <a16:creationId xmlns:a16="http://schemas.microsoft.com/office/drawing/2014/main" id="{1E24025F-7FD7-61E5-4183-C2F91328AB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10" name="TextBox 5">
            <a:extLst>
              <a:ext uri="{FF2B5EF4-FFF2-40B4-BE49-F238E27FC236}">
                <a16:creationId xmlns:a16="http://schemas.microsoft.com/office/drawing/2014/main" id="{5DB2EBEC-1114-E472-1F1B-7BB35BBE53BE}"/>
              </a:ext>
            </a:extLst>
          </p:cNvPr>
          <p:cNvSpPr txBox="1"/>
          <p:nvPr/>
        </p:nvSpPr>
        <p:spPr>
          <a:xfrm>
            <a:off x="11641985" y="6329512"/>
            <a:ext cx="550015"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11</a:t>
            </a:r>
            <a:endParaRPr lang="en-US" sz="2000" b="1" dirty="0"/>
          </a:p>
        </p:txBody>
      </p:sp>
      <p:pic>
        <p:nvPicPr>
          <p:cNvPr id="20" name="Picture 19" descr="A screenshot of a computer screen&#10;&#10;Description automatically generated">
            <a:extLst>
              <a:ext uri="{FF2B5EF4-FFF2-40B4-BE49-F238E27FC236}">
                <a16:creationId xmlns:a16="http://schemas.microsoft.com/office/drawing/2014/main" id="{7D10C90F-50CB-D4F9-3740-8806CFBCF9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7627" y="300680"/>
            <a:ext cx="7915275" cy="6438900"/>
          </a:xfrm>
          <a:prstGeom prst="rect">
            <a:avLst/>
          </a:prstGeom>
        </p:spPr>
      </p:pic>
    </p:spTree>
    <p:extLst>
      <p:ext uri="{BB962C8B-B14F-4D97-AF65-F5344CB8AC3E}">
        <p14:creationId xmlns:p14="http://schemas.microsoft.com/office/powerpoint/2010/main" val="104572922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SCRAPPING DAN LABELING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7" name="Chart 6">
            <a:extLst>
              <a:ext uri="{FF2B5EF4-FFF2-40B4-BE49-F238E27FC236}">
                <a16:creationId xmlns:a16="http://schemas.microsoft.com/office/drawing/2014/main" id="{E7FA2249-1F6F-330A-1B69-749B149ECB1A}"/>
              </a:ext>
            </a:extLst>
          </p:cNvPr>
          <p:cNvGraphicFramePr/>
          <p:nvPr>
            <p:extLst>
              <p:ext uri="{D42A27DB-BD31-4B8C-83A1-F6EECF244321}">
                <p14:modId xmlns:p14="http://schemas.microsoft.com/office/powerpoint/2010/main" val="3950310593"/>
              </p:ext>
            </p:extLst>
          </p:nvPr>
        </p:nvGraphicFramePr>
        <p:xfrm>
          <a:off x="6634504" y="1243590"/>
          <a:ext cx="4372415" cy="2690495"/>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492EF5CB-8676-1404-94FC-EF3D16CAEB9B}"/>
              </a:ext>
            </a:extLst>
          </p:cNvPr>
          <p:cNvSpPr txBox="1"/>
          <p:nvPr/>
        </p:nvSpPr>
        <p:spPr>
          <a:xfrm>
            <a:off x="482101" y="2437474"/>
            <a:ext cx="4683795" cy="1169551"/>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Pengambilan data dilakukan pada berita yang </a:t>
            </a:r>
            <a:r>
              <a:rPr lang="en-US" sz="1400" dirty="0" err="1">
                <a:solidFill>
                  <a:srgbClr val="000000"/>
                </a:solidFill>
                <a:latin typeface="Bahnschrift" panose="020B0502040204020203" pitchFamily="34" charset="0"/>
                <a:ea typeface="Yu Mincho" panose="02020400000000000000" pitchFamily="18" charset="-128"/>
              </a:rPr>
              <a:t>dipublikasikan</a:t>
            </a:r>
            <a:r>
              <a:rPr lang="en-US" sz="1400" dirty="0">
                <a:solidFill>
                  <a:srgbClr val="000000"/>
                </a:solidFill>
                <a:latin typeface="Bahnschrift" panose="020B0502040204020203" pitchFamily="34" charset="0"/>
                <a:ea typeface="Yu Mincho" panose="02020400000000000000" pitchFamily="18" charset="-128"/>
              </a:rPr>
              <a:t> mulai tanggal 1 Januari 2023 hingga 13 Oktober 2023.</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Proses scrapping  diperoleh data sebanyak 5165 berita.</a:t>
            </a:r>
          </a:p>
        </p:txBody>
      </p:sp>
      <p:sp>
        <p:nvSpPr>
          <p:cNvPr id="9" name="Title 1">
            <a:extLst>
              <a:ext uri="{FF2B5EF4-FFF2-40B4-BE49-F238E27FC236}">
                <a16:creationId xmlns:a16="http://schemas.microsoft.com/office/drawing/2014/main" id="{64B8C26D-9932-2C85-A9BD-8070EF5E8E3C}"/>
              </a:ext>
            </a:extLst>
          </p:cNvPr>
          <p:cNvSpPr txBox="1">
            <a:spLocks/>
          </p:cNvSpPr>
          <p:nvPr/>
        </p:nvSpPr>
        <p:spPr>
          <a:xfrm>
            <a:off x="482101" y="1810633"/>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Proses </a:t>
            </a:r>
            <a:r>
              <a:rPr lang="en-US" sz="1800" i="1" dirty="0">
                <a:solidFill>
                  <a:schemeClr val="accent5">
                    <a:lumMod val="75000"/>
                  </a:schemeClr>
                </a:solidFill>
                <a:latin typeface="Bahnschrift SemiBold" panose="020B0502040204020203" pitchFamily="34" charset="0"/>
              </a:rPr>
              <a:t>Scrapping</a:t>
            </a:r>
          </a:p>
        </p:txBody>
      </p:sp>
      <p:sp>
        <p:nvSpPr>
          <p:cNvPr id="10" name="TextBox 9">
            <a:extLst>
              <a:ext uri="{FF2B5EF4-FFF2-40B4-BE49-F238E27FC236}">
                <a16:creationId xmlns:a16="http://schemas.microsoft.com/office/drawing/2014/main" id="{B1667927-F922-3D49-DBC8-57E878AE8D4C}"/>
              </a:ext>
            </a:extLst>
          </p:cNvPr>
          <p:cNvSpPr txBox="1"/>
          <p:nvPr/>
        </p:nvSpPr>
        <p:spPr>
          <a:xfrm>
            <a:off x="579331" y="4420526"/>
            <a:ext cx="4683795" cy="954107"/>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1741 berita  </a:t>
            </a:r>
            <a:r>
              <a:rPr lang="en-US" sz="1400" dirty="0" err="1">
                <a:solidFill>
                  <a:srgbClr val="000000"/>
                </a:solidFill>
                <a:latin typeface="Bahnschrift" panose="020B0502040204020203" pitchFamily="34" charset="0"/>
                <a:ea typeface="Yu Mincho" panose="02020400000000000000" pitchFamily="18" charset="-128"/>
              </a:rPr>
              <a:t>dikategorikan</a:t>
            </a:r>
            <a:r>
              <a:rPr lang="en-US" sz="1400" dirty="0">
                <a:solidFill>
                  <a:srgbClr val="000000"/>
                </a:solidFill>
                <a:latin typeface="Bahnschrift" panose="020B0502040204020203" pitchFamily="34" charset="0"/>
                <a:ea typeface="Yu Mincho" panose="02020400000000000000" pitchFamily="18" charset="-128"/>
              </a:rPr>
              <a:t> hoaks</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3424 berita </a:t>
            </a:r>
            <a:r>
              <a:rPr lang="en-US" sz="1400" dirty="0" err="1">
                <a:solidFill>
                  <a:srgbClr val="000000"/>
                </a:solidFill>
                <a:latin typeface="Bahnschrift" panose="020B0502040204020203" pitchFamily="34" charset="0"/>
                <a:ea typeface="Yu Mincho" panose="02020400000000000000" pitchFamily="18" charset="-128"/>
              </a:rPr>
              <a:t>dikategorikan</a:t>
            </a:r>
            <a:r>
              <a:rPr lang="en-US" sz="1400" dirty="0">
                <a:solidFill>
                  <a:srgbClr val="000000"/>
                </a:solidFill>
                <a:latin typeface="Bahnschrift" panose="020B0502040204020203" pitchFamily="34" charset="0"/>
                <a:ea typeface="Yu Mincho" panose="02020400000000000000" pitchFamily="18" charset="-128"/>
              </a:rPr>
              <a:t> fakta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Dengan rasio </a:t>
            </a:r>
            <a:r>
              <a:rPr lang="en-US" sz="1400" dirty="0" err="1">
                <a:solidFill>
                  <a:srgbClr val="000000"/>
                </a:solidFill>
                <a:latin typeface="Bahnschrift" panose="020B0502040204020203" pitchFamily="34" charset="0"/>
                <a:ea typeface="Yu Mincho" panose="02020400000000000000" pitchFamily="18" charset="-128"/>
              </a:rPr>
              <a:t>hoak</a:t>
            </a:r>
            <a:r>
              <a:rPr lang="en-US" sz="1400" dirty="0">
                <a:solidFill>
                  <a:srgbClr val="000000"/>
                </a:solidFill>
                <a:latin typeface="Bahnschrift" panose="020B0502040204020203" pitchFamily="34" charset="0"/>
                <a:ea typeface="Yu Mincho" panose="02020400000000000000" pitchFamily="18" charset="-128"/>
              </a:rPr>
              <a:t> dan fakta yaitu 1:1,96</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Terindikasi Data tidak setimbang</a:t>
            </a:r>
          </a:p>
        </p:txBody>
      </p:sp>
      <p:sp>
        <p:nvSpPr>
          <p:cNvPr id="11" name="Title 1">
            <a:extLst>
              <a:ext uri="{FF2B5EF4-FFF2-40B4-BE49-F238E27FC236}">
                <a16:creationId xmlns:a16="http://schemas.microsoft.com/office/drawing/2014/main" id="{B3312D25-3CE5-EECC-9844-7EDFCA8614FB}"/>
              </a:ext>
            </a:extLst>
          </p:cNvPr>
          <p:cNvSpPr txBox="1">
            <a:spLocks/>
          </p:cNvSpPr>
          <p:nvPr/>
        </p:nvSpPr>
        <p:spPr>
          <a:xfrm>
            <a:off x="579331" y="3793685"/>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Proses </a:t>
            </a:r>
            <a:r>
              <a:rPr lang="en-US" sz="1800" i="1" dirty="0">
                <a:solidFill>
                  <a:schemeClr val="accent5">
                    <a:lumMod val="75000"/>
                  </a:schemeClr>
                </a:solidFill>
                <a:latin typeface="Bahnschrift SemiBold" panose="020B0502040204020203" pitchFamily="34" charset="0"/>
              </a:rPr>
              <a:t>Labeling</a:t>
            </a:r>
          </a:p>
        </p:txBody>
      </p:sp>
      <p:sp>
        <p:nvSpPr>
          <p:cNvPr id="12" name="TextBox 11">
            <a:extLst>
              <a:ext uri="{FF2B5EF4-FFF2-40B4-BE49-F238E27FC236}">
                <a16:creationId xmlns:a16="http://schemas.microsoft.com/office/drawing/2014/main" id="{718D7193-529F-348E-EF62-50875312EFD5}"/>
              </a:ext>
            </a:extLst>
          </p:cNvPr>
          <p:cNvSpPr txBox="1"/>
          <p:nvPr/>
        </p:nvSpPr>
        <p:spPr>
          <a:xfrm>
            <a:off x="6427333" y="4509087"/>
            <a:ext cx="4683795" cy="1169551"/>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Dilakukan pengurangan jumlah data kategori fakta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Memprioritaskan Publikasi terbaru</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Dipilih publikasi tanggal 7 Maret 2023 hingga 13 Oktober 2023</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Total Data menjadi 3878 berita</a:t>
            </a:r>
          </a:p>
        </p:txBody>
      </p:sp>
      <p:sp>
        <p:nvSpPr>
          <p:cNvPr id="14" name="Title 1">
            <a:extLst>
              <a:ext uri="{FF2B5EF4-FFF2-40B4-BE49-F238E27FC236}">
                <a16:creationId xmlns:a16="http://schemas.microsoft.com/office/drawing/2014/main" id="{BEB539E4-F43B-2E69-E1F6-286F269F04E1}"/>
              </a:ext>
            </a:extLst>
          </p:cNvPr>
          <p:cNvSpPr txBox="1">
            <a:spLocks/>
          </p:cNvSpPr>
          <p:nvPr/>
        </p:nvSpPr>
        <p:spPr>
          <a:xfrm>
            <a:off x="6427333" y="3882246"/>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Penanganan</a:t>
            </a:r>
            <a:endParaRPr lang="en-US" sz="1800" i="1" dirty="0">
              <a:solidFill>
                <a:schemeClr val="accent5">
                  <a:lumMod val="75000"/>
                </a:schemeClr>
              </a:solidFill>
              <a:latin typeface="Bahnschrift SemiBold" panose="020B0502040204020203" pitchFamily="34" charset="0"/>
            </a:endParaRPr>
          </a:p>
        </p:txBody>
      </p:sp>
    </p:spTree>
    <p:extLst>
      <p:ext uri="{BB962C8B-B14F-4D97-AF65-F5344CB8AC3E}">
        <p14:creationId xmlns:p14="http://schemas.microsoft.com/office/powerpoint/2010/main" val="384340577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PREPROCESSING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sp>
        <p:nvSpPr>
          <p:cNvPr id="25" name="Title 1">
            <a:extLst>
              <a:ext uri="{FF2B5EF4-FFF2-40B4-BE49-F238E27FC236}">
                <a16:creationId xmlns:a16="http://schemas.microsoft.com/office/drawing/2014/main" id="{E896F581-4054-2A90-C805-AA9F154216F2}"/>
              </a:ext>
            </a:extLst>
          </p:cNvPr>
          <p:cNvSpPr txBox="1">
            <a:spLocks/>
          </p:cNvSpPr>
          <p:nvPr/>
        </p:nvSpPr>
        <p:spPr>
          <a:xfrm>
            <a:off x="482100" y="1547573"/>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Data Exploration</a:t>
            </a:r>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5" name="Table 4">
            <a:extLst>
              <a:ext uri="{FF2B5EF4-FFF2-40B4-BE49-F238E27FC236}">
                <a16:creationId xmlns:a16="http://schemas.microsoft.com/office/drawing/2014/main" id="{D235AAA3-59F0-025B-5F35-7A4DB1AB4FF0}"/>
              </a:ext>
            </a:extLst>
          </p:cNvPr>
          <p:cNvGraphicFramePr>
            <a:graphicFrameLocks noGrp="1"/>
          </p:cNvGraphicFramePr>
          <p:nvPr>
            <p:extLst>
              <p:ext uri="{D42A27DB-BD31-4B8C-83A1-F6EECF244321}">
                <p14:modId xmlns:p14="http://schemas.microsoft.com/office/powerpoint/2010/main" val="4075887614"/>
              </p:ext>
            </p:extLst>
          </p:nvPr>
        </p:nvGraphicFramePr>
        <p:xfrm>
          <a:off x="579331" y="2341770"/>
          <a:ext cx="5015127" cy="773558"/>
        </p:xfrm>
        <a:graphic>
          <a:graphicData uri="http://schemas.openxmlformats.org/drawingml/2006/table">
            <a:tbl>
              <a:tblPr/>
              <a:tblGrid>
                <a:gridCol w="1671709">
                  <a:extLst>
                    <a:ext uri="{9D8B030D-6E8A-4147-A177-3AD203B41FA5}">
                      <a16:colId xmlns:a16="http://schemas.microsoft.com/office/drawing/2014/main" val="3439089797"/>
                    </a:ext>
                  </a:extLst>
                </a:gridCol>
                <a:gridCol w="1671709">
                  <a:extLst>
                    <a:ext uri="{9D8B030D-6E8A-4147-A177-3AD203B41FA5}">
                      <a16:colId xmlns:a16="http://schemas.microsoft.com/office/drawing/2014/main" val="649745279"/>
                    </a:ext>
                  </a:extLst>
                </a:gridCol>
                <a:gridCol w="1671709">
                  <a:extLst>
                    <a:ext uri="{9D8B030D-6E8A-4147-A177-3AD203B41FA5}">
                      <a16:colId xmlns:a16="http://schemas.microsoft.com/office/drawing/2014/main" val="1036039861"/>
                    </a:ext>
                  </a:extLst>
                </a:gridCol>
              </a:tblGrid>
              <a:tr h="264732">
                <a:tc>
                  <a:txBody>
                    <a:bodyPr/>
                    <a:lstStyle/>
                    <a:p>
                      <a:pPr marL="0" marR="0" indent="0" algn="ctr">
                        <a:lnSpc>
                          <a:spcPct val="107000"/>
                        </a:lnSpc>
                        <a:spcBef>
                          <a:spcPts val="0"/>
                        </a:spcBef>
                        <a:spcAft>
                          <a:spcPts val="0"/>
                        </a:spcAft>
                      </a:pPr>
                      <a:r>
                        <a:rPr lang="en-ID" sz="1400" kern="1200" dirty="0">
                          <a:solidFill>
                            <a:srgbClr val="000000"/>
                          </a:solidFill>
                          <a:effectLst/>
                          <a:latin typeface="Bahnschrift" panose="020B0502040204020203" pitchFamily="34" charset="0"/>
                          <a:ea typeface="Yu Mincho" panose="02020400000000000000" pitchFamily="18" charset="-128"/>
                          <a:cs typeface="+mn-cs"/>
                        </a:rPr>
                        <a:t>Kategori Berita</a:t>
                      </a:r>
                      <a:endParaRPr lang="en-US" sz="1400" kern="1200" dirty="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a:lnSpc>
                          <a:spcPct val="107000"/>
                        </a:lnSpc>
                        <a:spcBef>
                          <a:spcPts val="0"/>
                        </a:spcBef>
                        <a:spcAft>
                          <a:spcPts val="0"/>
                        </a:spcAft>
                      </a:pPr>
                      <a:r>
                        <a:rPr lang="en-US" sz="1400" kern="1200">
                          <a:solidFill>
                            <a:srgbClr val="000000"/>
                          </a:solidFill>
                          <a:effectLst/>
                          <a:latin typeface="Bahnschrift" panose="020B0502040204020203" pitchFamily="34" charset="0"/>
                          <a:ea typeface="Yu Mincho" panose="02020400000000000000" pitchFamily="18" charset="-128"/>
                          <a:cs typeface="+mn-cs"/>
                        </a:rPr>
                        <a:t>Jumlah Token</a:t>
                      </a:r>
                    </a:p>
                  </a:txBody>
                  <a:tcPr marL="68580" marR="68580" marT="0" marB="36195" anchor="ctr"/>
                </a:tc>
                <a:tc>
                  <a:txBody>
                    <a:bodyPr/>
                    <a:lstStyle/>
                    <a:p>
                      <a:pPr marL="0" marR="0" indent="0" algn="ctr">
                        <a:lnSpc>
                          <a:spcPct val="107000"/>
                        </a:lnSpc>
                        <a:spcBef>
                          <a:spcPts val="0"/>
                        </a:spcBef>
                        <a:spcAft>
                          <a:spcPts val="0"/>
                        </a:spcAft>
                      </a:pPr>
                      <a:r>
                        <a:rPr lang="en-ID" sz="1400" kern="1200">
                          <a:solidFill>
                            <a:srgbClr val="000000"/>
                          </a:solidFill>
                          <a:effectLst/>
                          <a:latin typeface="Bahnschrift" panose="020B0502040204020203" pitchFamily="34" charset="0"/>
                          <a:ea typeface="Yu Mincho" panose="02020400000000000000" pitchFamily="18" charset="-128"/>
                          <a:cs typeface="+mn-cs"/>
                        </a:rPr>
                        <a:t>Token Unik</a:t>
                      </a:r>
                      <a:endParaRPr lang="en-US" sz="1400" kern="120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604652018"/>
                  </a:ext>
                </a:extLst>
              </a:tr>
              <a:tr h="264732">
                <a:tc>
                  <a:txBody>
                    <a:bodyPr/>
                    <a:lstStyle/>
                    <a:p>
                      <a:pPr marL="0" marR="0" indent="0" algn="ctr">
                        <a:lnSpc>
                          <a:spcPct val="107000"/>
                        </a:lnSpc>
                        <a:spcBef>
                          <a:spcPts val="0"/>
                        </a:spcBef>
                        <a:spcAft>
                          <a:spcPts val="0"/>
                        </a:spcAft>
                      </a:pPr>
                      <a:r>
                        <a:rPr lang="en-ID" sz="1400" kern="1200" dirty="0">
                          <a:solidFill>
                            <a:srgbClr val="000000"/>
                          </a:solidFill>
                          <a:effectLst/>
                          <a:latin typeface="Bahnschrift" panose="020B0502040204020203" pitchFamily="34" charset="0"/>
                          <a:ea typeface="Yu Mincho" panose="02020400000000000000" pitchFamily="18" charset="-128"/>
                          <a:cs typeface="+mn-cs"/>
                        </a:rPr>
                        <a:t>Hoaks</a:t>
                      </a:r>
                      <a:endParaRPr lang="en-US" sz="1400" kern="1200" dirty="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a:lnSpc>
                          <a:spcPct val="107000"/>
                        </a:lnSpc>
                        <a:spcBef>
                          <a:spcPts val="0"/>
                        </a:spcBef>
                        <a:spcAft>
                          <a:spcPts val="0"/>
                        </a:spcAft>
                      </a:pPr>
                      <a:r>
                        <a:rPr lang="en-ID" sz="1400" kern="1200" dirty="0">
                          <a:solidFill>
                            <a:srgbClr val="000000"/>
                          </a:solidFill>
                          <a:effectLst/>
                          <a:latin typeface="Bahnschrift" panose="020B0502040204020203" pitchFamily="34" charset="0"/>
                          <a:ea typeface="Yu Mincho" panose="02020400000000000000" pitchFamily="18" charset="-128"/>
                          <a:cs typeface="+mn-cs"/>
                        </a:rPr>
                        <a:t>246988</a:t>
                      </a:r>
                      <a:endParaRPr lang="en-US" sz="1400" kern="1200" dirty="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a:lnSpc>
                          <a:spcPct val="107000"/>
                        </a:lnSpc>
                        <a:spcBef>
                          <a:spcPts val="0"/>
                        </a:spcBef>
                        <a:spcAft>
                          <a:spcPts val="0"/>
                        </a:spcAft>
                      </a:pPr>
                      <a:r>
                        <a:rPr lang="en-ID" sz="1400" kern="1200" dirty="0">
                          <a:solidFill>
                            <a:srgbClr val="000000"/>
                          </a:solidFill>
                          <a:effectLst/>
                          <a:latin typeface="Bahnschrift" panose="020B0502040204020203" pitchFamily="34" charset="0"/>
                          <a:ea typeface="Yu Mincho" panose="02020400000000000000" pitchFamily="18" charset="-128"/>
                          <a:cs typeface="+mn-cs"/>
                        </a:rPr>
                        <a:t>20057</a:t>
                      </a:r>
                      <a:endParaRPr lang="en-US" sz="1400" kern="1200" dirty="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4182111999"/>
                  </a:ext>
                </a:extLst>
              </a:tr>
              <a:tr h="0">
                <a:tc>
                  <a:txBody>
                    <a:bodyPr/>
                    <a:lstStyle/>
                    <a:p>
                      <a:pPr marL="0" marR="0" indent="0" algn="ctr">
                        <a:lnSpc>
                          <a:spcPct val="107000"/>
                        </a:lnSpc>
                        <a:spcBef>
                          <a:spcPts val="0"/>
                        </a:spcBef>
                        <a:spcAft>
                          <a:spcPts val="0"/>
                        </a:spcAft>
                      </a:pPr>
                      <a:r>
                        <a:rPr lang="en-ID" sz="1400" kern="1200">
                          <a:solidFill>
                            <a:srgbClr val="000000"/>
                          </a:solidFill>
                          <a:effectLst/>
                          <a:latin typeface="Bahnschrift" panose="020B0502040204020203" pitchFamily="34" charset="0"/>
                          <a:ea typeface="Yu Mincho" panose="02020400000000000000" pitchFamily="18" charset="-128"/>
                          <a:cs typeface="+mn-cs"/>
                        </a:rPr>
                        <a:t>Fakta</a:t>
                      </a:r>
                      <a:endParaRPr lang="en-US" sz="1400" kern="120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a:lnSpc>
                          <a:spcPct val="107000"/>
                        </a:lnSpc>
                        <a:spcBef>
                          <a:spcPts val="0"/>
                        </a:spcBef>
                        <a:spcAft>
                          <a:spcPts val="0"/>
                        </a:spcAft>
                      </a:pPr>
                      <a:r>
                        <a:rPr lang="en-ID" sz="1400" kern="1200" dirty="0">
                          <a:solidFill>
                            <a:srgbClr val="000000"/>
                          </a:solidFill>
                          <a:effectLst/>
                          <a:latin typeface="Bahnschrift" panose="020B0502040204020203" pitchFamily="34" charset="0"/>
                          <a:ea typeface="Yu Mincho" panose="02020400000000000000" pitchFamily="18" charset="-128"/>
                          <a:cs typeface="+mn-cs"/>
                        </a:rPr>
                        <a:t>413377</a:t>
                      </a:r>
                      <a:endParaRPr lang="en-US" sz="1400" kern="1200" dirty="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a:lnSpc>
                          <a:spcPct val="107000"/>
                        </a:lnSpc>
                        <a:spcBef>
                          <a:spcPts val="0"/>
                        </a:spcBef>
                        <a:spcAft>
                          <a:spcPts val="0"/>
                        </a:spcAft>
                      </a:pPr>
                      <a:r>
                        <a:rPr lang="en-ID" sz="1400" kern="1200" dirty="0">
                          <a:solidFill>
                            <a:srgbClr val="000000"/>
                          </a:solidFill>
                          <a:effectLst/>
                          <a:latin typeface="Bahnschrift" panose="020B0502040204020203" pitchFamily="34" charset="0"/>
                          <a:ea typeface="Yu Mincho" panose="02020400000000000000" pitchFamily="18" charset="-128"/>
                          <a:cs typeface="+mn-cs"/>
                        </a:rPr>
                        <a:t>32174</a:t>
                      </a:r>
                      <a:endParaRPr lang="en-US" sz="1400" kern="1200" dirty="0">
                        <a:solidFill>
                          <a:srgbClr val="000000"/>
                        </a:solidFill>
                        <a:effectLst/>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1832832798"/>
                  </a:ext>
                </a:extLst>
              </a:tr>
            </a:tbl>
          </a:graphicData>
        </a:graphic>
      </p:graphicFrame>
      <p:pic>
        <p:nvPicPr>
          <p:cNvPr id="8" name="Picture 7">
            <a:extLst>
              <a:ext uri="{FF2B5EF4-FFF2-40B4-BE49-F238E27FC236}">
                <a16:creationId xmlns:a16="http://schemas.microsoft.com/office/drawing/2014/main" id="{0661735B-1920-244A-B33B-96CC2D5A00E5}"/>
              </a:ext>
            </a:extLst>
          </p:cNvPr>
          <p:cNvPicPr>
            <a:picLocks noChangeAspect="1"/>
          </p:cNvPicPr>
          <p:nvPr/>
        </p:nvPicPr>
        <p:blipFill>
          <a:blip r:embed="rId4"/>
          <a:stretch>
            <a:fillRect/>
          </a:stretch>
        </p:blipFill>
        <p:spPr>
          <a:xfrm>
            <a:off x="6307245" y="499041"/>
            <a:ext cx="3243540" cy="2873280"/>
          </a:xfrm>
          <a:prstGeom prst="rect">
            <a:avLst/>
          </a:prstGeom>
        </p:spPr>
      </p:pic>
      <p:pic>
        <p:nvPicPr>
          <p:cNvPr id="9" name="Picture 8">
            <a:extLst>
              <a:ext uri="{FF2B5EF4-FFF2-40B4-BE49-F238E27FC236}">
                <a16:creationId xmlns:a16="http://schemas.microsoft.com/office/drawing/2014/main" id="{DC315DD9-3D5C-202E-680E-35C2982F984C}"/>
              </a:ext>
            </a:extLst>
          </p:cNvPr>
          <p:cNvPicPr>
            <a:picLocks noChangeAspect="1"/>
          </p:cNvPicPr>
          <p:nvPr/>
        </p:nvPicPr>
        <p:blipFill>
          <a:blip r:embed="rId5"/>
          <a:stretch>
            <a:fillRect/>
          </a:stretch>
        </p:blipFill>
        <p:spPr>
          <a:xfrm>
            <a:off x="6307245" y="3419797"/>
            <a:ext cx="3253102" cy="2909715"/>
          </a:xfrm>
          <a:prstGeom prst="rect">
            <a:avLst/>
          </a:prstGeom>
        </p:spPr>
      </p:pic>
      <p:sp>
        <p:nvSpPr>
          <p:cNvPr id="4" name="TextBox 3">
            <a:extLst>
              <a:ext uri="{FF2B5EF4-FFF2-40B4-BE49-F238E27FC236}">
                <a16:creationId xmlns:a16="http://schemas.microsoft.com/office/drawing/2014/main" id="{D170525B-E58D-E8C7-06DC-1B55628446A4}"/>
              </a:ext>
            </a:extLst>
          </p:cNvPr>
          <p:cNvSpPr txBox="1"/>
          <p:nvPr/>
        </p:nvSpPr>
        <p:spPr>
          <a:xfrm>
            <a:off x="406007" y="3427881"/>
            <a:ext cx="4683795" cy="1384995"/>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Jumlah Token dan Jumlah Token Unik kategori fakta lebih besar dibandingkan kategori hoaks</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Berita hoaks memiliki konten lebih pendek dibanding berita fakta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Kategori fakta memiliki penjelasan mendalam dan keragaman topik </a:t>
            </a:r>
            <a:r>
              <a:rPr lang="en-US" sz="1400" dirty="0" err="1">
                <a:solidFill>
                  <a:srgbClr val="000000"/>
                </a:solidFill>
                <a:latin typeface="Bahnschrift" panose="020B0502040204020203" pitchFamily="34" charset="0"/>
                <a:ea typeface="Yu Mincho" panose="02020400000000000000" pitchFamily="18" charset="-128"/>
              </a:rPr>
              <a:t>terhapap</a:t>
            </a:r>
            <a:r>
              <a:rPr lang="en-US" sz="1400" dirty="0">
                <a:solidFill>
                  <a:srgbClr val="000000"/>
                </a:solidFill>
                <a:latin typeface="Bahnschrift" panose="020B0502040204020203" pitchFamily="34" charset="0"/>
                <a:ea typeface="Yu Mincho" panose="02020400000000000000" pitchFamily="18" charset="-128"/>
              </a:rPr>
              <a:t> informasi</a:t>
            </a:r>
          </a:p>
        </p:txBody>
      </p:sp>
      <p:sp>
        <p:nvSpPr>
          <p:cNvPr id="10" name="TextBox 9">
            <a:extLst>
              <a:ext uri="{FF2B5EF4-FFF2-40B4-BE49-F238E27FC236}">
                <a16:creationId xmlns:a16="http://schemas.microsoft.com/office/drawing/2014/main" id="{00ED0A1E-F53B-CC50-E5D7-232E5D5BC4E9}"/>
              </a:ext>
            </a:extLst>
          </p:cNvPr>
          <p:cNvSpPr txBox="1"/>
          <p:nvPr/>
        </p:nvSpPr>
        <p:spPr>
          <a:xfrm>
            <a:off x="9717038" y="1648175"/>
            <a:ext cx="1643681" cy="954107"/>
          </a:xfrm>
          <a:prstGeom prst="rect">
            <a:avLst/>
          </a:prstGeom>
          <a:noFill/>
        </p:spPr>
        <p:txBody>
          <a:bodyPr wrap="square">
            <a:spAutoFit/>
          </a:bodyPr>
          <a:lstStyle/>
          <a:p>
            <a:pPr algn="just"/>
            <a:r>
              <a:rPr lang="en-US" sz="1400" dirty="0">
                <a:solidFill>
                  <a:srgbClr val="000000"/>
                </a:solidFill>
                <a:latin typeface="Bahnschrift" panose="020B0502040204020203" pitchFamily="34" charset="0"/>
                <a:ea typeface="Yu Mincho" panose="02020400000000000000" pitchFamily="18" charset="-128"/>
              </a:rPr>
              <a:t>Distribusi Hoaks</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 video</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konten</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https</a:t>
            </a:r>
          </a:p>
        </p:txBody>
      </p:sp>
      <p:sp>
        <p:nvSpPr>
          <p:cNvPr id="11" name="TextBox 10">
            <a:extLst>
              <a:ext uri="{FF2B5EF4-FFF2-40B4-BE49-F238E27FC236}">
                <a16:creationId xmlns:a16="http://schemas.microsoft.com/office/drawing/2014/main" id="{97754BD0-339C-AFC3-9E9C-C1CD99C6BE32}"/>
              </a:ext>
            </a:extLst>
          </p:cNvPr>
          <p:cNvSpPr txBox="1"/>
          <p:nvPr/>
        </p:nvSpPr>
        <p:spPr>
          <a:xfrm>
            <a:off x="9717037" y="3604044"/>
            <a:ext cx="1643681" cy="954107"/>
          </a:xfrm>
          <a:prstGeom prst="rect">
            <a:avLst/>
          </a:prstGeom>
          <a:noFill/>
        </p:spPr>
        <p:txBody>
          <a:bodyPr wrap="square">
            <a:spAutoFit/>
          </a:bodyPr>
          <a:lstStyle/>
          <a:p>
            <a:pPr algn="just"/>
            <a:r>
              <a:rPr lang="en-US" sz="1400" dirty="0">
                <a:solidFill>
                  <a:srgbClr val="000000"/>
                </a:solidFill>
                <a:latin typeface="Bahnschrift" panose="020B0502040204020203" pitchFamily="34" charset="0"/>
                <a:ea typeface="Yu Mincho" panose="02020400000000000000" pitchFamily="18" charset="-128"/>
              </a:rPr>
              <a:t>Distribusi Fakta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 indonesia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masyarakat</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jakarta</a:t>
            </a:r>
          </a:p>
        </p:txBody>
      </p:sp>
    </p:spTree>
    <p:extLst>
      <p:ext uri="{BB962C8B-B14F-4D97-AF65-F5344CB8AC3E}">
        <p14:creationId xmlns:p14="http://schemas.microsoft.com/office/powerpoint/2010/main" val="59924855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PREPROCESSING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sp>
        <p:nvSpPr>
          <p:cNvPr id="25" name="Title 1">
            <a:extLst>
              <a:ext uri="{FF2B5EF4-FFF2-40B4-BE49-F238E27FC236}">
                <a16:creationId xmlns:a16="http://schemas.microsoft.com/office/drawing/2014/main" id="{E896F581-4054-2A90-C805-AA9F154216F2}"/>
              </a:ext>
            </a:extLst>
          </p:cNvPr>
          <p:cNvSpPr txBox="1">
            <a:spLocks/>
          </p:cNvSpPr>
          <p:nvPr/>
        </p:nvSpPr>
        <p:spPr>
          <a:xfrm>
            <a:off x="482100" y="1547573"/>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Data Cleaning</a:t>
            </a:r>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5" name="Table 4">
            <a:extLst>
              <a:ext uri="{FF2B5EF4-FFF2-40B4-BE49-F238E27FC236}">
                <a16:creationId xmlns:a16="http://schemas.microsoft.com/office/drawing/2014/main" id="{D235AAA3-59F0-025B-5F35-7A4DB1AB4FF0}"/>
              </a:ext>
            </a:extLst>
          </p:cNvPr>
          <p:cNvGraphicFramePr>
            <a:graphicFrameLocks noGrp="1"/>
          </p:cNvGraphicFramePr>
          <p:nvPr>
            <p:extLst>
              <p:ext uri="{D42A27DB-BD31-4B8C-83A1-F6EECF244321}">
                <p14:modId xmlns:p14="http://schemas.microsoft.com/office/powerpoint/2010/main" val="3960924541"/>
              </p:ext>
            </p:extLst>
          </p:nvPr>
        </p:nvGraphicFramePr>
        <p:xfrm>
          <a:off x="579331" y="2341770"/>
          <a:ext cx="5015127" cy="773558"/>
        </p:xfrm>
        <a:graphic>
          <a:graphicData uri="http://schemas.openxmlformats.org/drawingml/2006/table">
            <a:tbl>
              <a:tblPr/>
              <a:tblGrid>
                <a:gridCol w="1671709">
                  <a:extLst>
                    <a:ext uri="{9D8B030D-6E8A-4147-A177-3AD203B41FA5}">
                      <a16:colId xmlns:a16="http://schemas.microsoft.com/office/drawing/2014/main" val="3439089797"/>
                    </a:ext>
                  </a:extLst>
                </a:gridCol>
                <a:gridCol w="1671709">
                  <a:extLst>
                    <a:ext uri="{9D8B030D-6E8A-4147-A177-3AD203B41FA5}">
                      <a16:colId xmlns:a16="http://schemas.microsoft.com/office/drawing/2014/main" val="649745279"/>
                    </a:ext>
                  </a:extLst>
                </a:gridCol>
                <a:gridCol w="1671709">
                  <a:extLst>
                    <a:ext uri="{9D8B030D-6E8A-4147-A177-3AD203B41FA5}">
                      <a16:colId xmlns:a16="http://schemas.microsoft.com/office/drawing/2014/main" val="1036039861"/>
                    </a:ext>
                  </a:extLst>
                </a:gridCol>
              </a:tblGrid>
              <a:tr h="264732">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Kategori Berita</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Jumlah Token</a:t>
                      </a:r>
                    </a:p>
                  </a:txBody>
                  <a:tcPr marL="68580" marR="68580" marT="0" marB="36195" anchor="ctr"/>
                </a:tc>
                <a:tc>
                  <a:txBody>
                    <a:bodyPr/>
                    <a:lstStyle/>
                    <a:p>
                      <a:pPr marL="0" marR="0" indent="0" algn="ctr">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Token Unik</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604652018"/>
                  </a:ext>
                </a:extLst>
              </a:tr>
              <a:tr h="264732">
                <a:tc>
                  <a:txBody>
                    <a:bodyPr/>
                    <a:lstStyle/>
                    <a:p>
                      <a:pPr marL="0" marR="0" indent="0" algn="ctr">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Hoaks</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202811</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16043</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4182111999"/>
                  </a:ext>
                </a:extLst>
              </a:tr>
              <a:tr h="0">
                <a:tc>
                  <a:txBody>
                    <a:bodyPr/>
                    <a:lstStyle/>
                    <a:p>
                      <a:pPr marL="0" marR="0" indent="0" algn="ctr">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Fakta</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402562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26448</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1832832798"/>
                  </a:ext>
                </a:extLst>
              </a:tr>
            </a:tbl>
          </a:graphicData>
        </a:graphic>
      </p:graphicFrame>
      <p:pic>
        <p:nvPicPr>
          <p:cNvPr id="8" name="Picture 7">
            <a:extLst>
              <a:ext uri="{FF2B5EF4-FFF2-40B4-BE49-F238E27FC236}">
                <a16:creationId xmlns:a16="http://schemas.microsoft.com/office/drawing/2014/main" id="{0661735B-1920-244A-B33B-96CC2D5A00E5}"/>
              </a:ext>
            </a:extLst>
          </p:cNvPr>
          <p:cNvPicPr>
            <a:picLocks noChangeAspect="1"/>
          </p:cNvPicPr>
          <p:nvPr/>
        </p:nvPicPr>
        <p:blipFill>
          <a:blip r:embed="rId4"/>
          <a:stretch>
            <a:fillRect/>
          </a:stretch>
        </p:blipFill>
        <p:spPr>
          <a:xfrm>
            <a:off x="6307245" y="499041"/>
            <a:ext cx="3243540" cy="2873280"/>
          </a:xfrm>
          <a:prstGeom prst="rect">
            <a:avLst/>
          </a:prstGeom>
        </p:spPr>
      </p:pic>
      <p:sp>
        <p:nvSpPr>
          <p:cNvPr id="4" name="TextBox 3">
            <a:extLst>
              <a:ext uri="{FF2B5EF4-FFF2-40B4-BE49-F238E27FC236}">
                <a16:creationId xmlns:a16="http://schemas.microsoft.com/office/drawing/2014/main" id="{D170525B-E58D-E8C7-06DC-1B55628446A4}"/>
              </a:ext>
            </a:extLst>
          </p:cNvPr>
          <p:cNvSpPr txBox="1"/>
          <p:nvPr/>
        </p:nvSpPr>
        <p:spPr>
          <a:xfrm>
            <a:off x="406007" y="3427881"/>
            <a:ext cx="4683795" cy="1384995"/>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Jumlah Token dan Jumlah Token Unik kategori fakta tetap lebih besar dibandingkan kategori hoaks</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Berita hoaks tetap memiliki konten lebih pendek dibanding berita fakta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Kategori fakta memiliki penjelasan mendalam dan keragaman topik </a:t>
            </a:r>
            <a:r>
              <a:rPr lang="en-US" sz="1400" dirty="0" err="1">
                <a:solidFill>
                  <a:srgbClr val="000000"/>
                </a:solidFill>
                <a:latin typeface="Bahnschrift" panose="020B0502040204020203" pitchFamily="34" charset="0"/>
                <a:ea typeface="Yu Mincho" panose="02020400000000000000" pitchFamily="18" charset="-128"/>
              </a:rPr>
              <a:t>terhapap</a:t>
            </a:r>
            <a:r>
              <a:rPr lang="en-US" sz="1400" dirty="0">
                <a:solidFill>
                  <a:srgbClr val="000000"/>
                </a:solidFill>
                <a:latin typeface="Bahnschrift" panose="020B0502040204020203" pitchFamily="34" charset="0"/>
                <a:ea typeface="Yu Mincho" panose="02020400000000000000" pitchFamily="18" charset="-128"/>
              </a:rPr>
              <a:t> informasi</a:t>
            </a:r>
          </a:p>
        </p:txBody>
      </p:sp>
      <p:pic>
        <p:nvPicPr>
          <p:cNvPr id="11" name="Picture 10">
            <a:extLst>
              <a:ext uri="{FF2B5EF4-FFF2-40B4-BE49-F238E27FC236}">
                <a16:creationId xmlns:a16="http://schemas.microsoft.com/office/drawing/2014/main" id="{D970C5D4-5A92-4559-8DC7-98D713028A6E}"/>
              </a:ext>
            </a:extLst>
          </p:cNvPr>
          <p:cNvPicPr>
            <a:picLocks noChangeAspect="1"/>
          </p:cNvPicPr>
          <p:nvPr/>
        </p:nvPicPr>
        <p:blipFill rotWithShape="1">
          <a:blip r:embed="rId5"/>
          <a:srcRect b="4676"/>
          <a:stretch/>
        </p:blipFill>
        <p:spPr bwMode="auto">
          <a:xfrm>
            <a:off x="6307245" y="508031"/>
            <a:ext cx="3314462" cy="2873280"/>
          </a:xfrm>
          <a:prstGeom prst="rect">
            <a:avLst/>
          </a:prstGeom>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A58FDBE2-5F15-639F-F021-86CB18C23BD6}"/>
              </a:ext>
            </a:extLst>
          </p:cNvPr>
          <p:cNvPicPr>
            <a:picLocks noChangeAspect="1"/>
          </p:cNvPicPr>
          <p:nvPr/>
        </p:nvPicPr>
        <p:blipFill>
          <a:blip r:embed="rId6"/>
          <a:stretch>
            <a:fillRect/>
          </a:stretch>
        </p:blipFill>
        <p:spPr>
          <a:xfrm>
            <a:off x="6303021" y="3427881"/>
            <a:ext cx="3280123" cy="2874773"/>
          </a:xfrm>
          <a:prstGeom prst="rect">
            <a:avLst/>
          </a:prstGeom>
        </p:spPr>
      </p:pic>
      <p:sp>
        <p:nvSpPr>
          <p:cNvPr id="13" name="TextBox 12">
            <a:extLst>
              <a:ext uri="{FF2B5EF4-FFF2-40B4-BE49-F238E27FC236}">
                <a16:creationId xmlns:a16="http://schemas.microsoft.com/office/drawing/2014/main" id="{0319330F-71AE-DB96-3B1C-265C741F1B16}"/>
              </a:ext>
            </a:extLst>
          </p:cNvPr>
          <p:cNvSpPr txBox="1"/>
          <p:nvPr/>
        </p:nvSpPr>
        <p:spPr>
          <a:xfrm>
            <a:off x="9807426" y="1722117"/>
            <a:ext cx="1643681" cy="954107"/>
          </a:xfrm>
          <a:prstGeom prst="rect">
            <a:avLst/>
          </a:prstGeom>
          <a:noFill/>
        </p:spPr>
        <p:txBody>
          <a:bodyPr wrap="square">
            <a:spAutoFit/>
          </a:bodyPr>
          <a:lstStyle/>
          <a:p>
            <a:pPr algn="just"/>
            <a:r>
              <a:rPr lang="en-US" sz="1400" dirty="0">
                <a:solidFill>
                  <a:srgbClr val="000000"/>
                </a:solidFill>
                <a:latin typeface="Bahnschrift" panose="020B0502040204020203" pitchFamily="34" charset="0"/>
                <a:ea typeface="Yu Mincho" panose="02020400000000000000" pitchFamily="18" charset="-128"/>
              </a:rPr>
              <a:t>Distribusi Hoaks</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 video</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konten</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https</a:t>
            </a:r>
          </a:p>
        </p:txBody>
      </p:sp>
      <p:sp>
        <p:nvSpPr>
          <p:cNvPr id="14" name="TextBox 13">
            <a:extLst>
              <a:ext uri="{FF2B5EF4-FFF2-40B4-BE49-F238E27FC236}">
                <a16:creationId xmlns:a16="http://schemas.microsoft.com/office/drawing/2014/main" id="{DD27307A-B17D-905A-6F08-228ADBA1F151}"/>
              </a:ext>
            </a:extLst>
          </p:cNvPr>
          <p:cNvSpPr txBox="1"/>
          <p:nvPr/>
        </p:nvSpPr>
        <p:spPr>
          <a:xfrm>
            <a:off x="9717037" y="3604044"/>
            <a:ext cx="1643681" cy="954107"/>
          </a:xfrm>
          <a:prstGeom prst="rect">
            <a:avLst/>
          </a:prstGeom>
          <a:noFill/>
        </p:spPr>
        <p:txBody>
          <a:bodyPr wrap="square">
            <a:spAutoFit/>
          </a:bodyPr>
          <a:lstStyle/>
          <a:p>
            <a:pPr algn="just"/>
            <a:r>
              <a:rPr lang="en-US" sz="1400" dirty="0">
                <a:solidFill>
                  <a:srgbClr val="000000"/>
                </a:solidFill>
                <a:latin typeface="Bahnschrift" panose="020B0502040204020203" pitchFamily="34" charset="0"/>
                <a:ea typeface="Yu Mincho" panose="02020400000000000000" pitchFamily="18" charset="-128"/>
              </a:rPr>
              <a:t>Distribusi Fakta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 orang</a:t>
            </a:r>
          </a:p>
          <a:p>
            <a:pPr marL="285750" indent="-285750" algn="just">
              <a:buFont typeface="Arial" panose="020B0604020202020204" pitchFamily="34" charset="0"/>
              <a:buChar char="•"/>
            </a:pPr>
            <a:r>
              <a:rPr lang="en-US" sz="1400" dirty="0" err="1">
                <a:solidFill>
                  <a:srgbClr val="000000"/>
                </a:solidFill>
                <a:latin typeface="Bahnschrift" panose="020B0502040204020203" pitchFamily="34" charset="0"/>
                <a:ea typeface="Yu Mincho" panose="02020400000000000000" pitchFamily="18" charset="-128"/>
              </a:rPr>
              <a:t>ot</a:t>
            </a:r>
            <a:endParaRPr lang="en-US" sz="1400" dirty="0">
              <a:solidFill>
                <a:srgbClr val="000000"/>
              </a:solidFill>
              <a:latin typeface="Bahnschrift" panose="020B0502040204020203" pitchFamily="34" charset="0"/>
              <a:ea typeface="Yu Mincho" panose="02020400000000000000" pitchFamily="18" charset="-128"/>
            </a:endParaRPr>
          </a:p>
          <a:p>
            <a:pPr marL="285750" indent="-285750" algn="just">
              <a:buFont typeface="Arial" panose="020B0604020202020204" pitchFamily="34" charset="0"/>
              <a:buChar char="•"/>
            </a:pPr>
            <a:r>
              <a:rPr lang="en-US" sz="1400" dirty="0" err="1">
                <a:solidFill>
                  <a:srgbClr val="000000"/>
                </a:solidFill>
                <a:latin typeface="Bahnschrift" panose="020B0502040204020203" pitchFamily="34" charset="0"/>
                <a:ea typeface="Yu Mincho" panose="02020400000000000000" pitchFamily="18" charset="-128"/>
              </a:rPr>
              <a:t>mengaan</a:t>
            </a:r>
            <a:endParaRPr lang="en-US" sz="1400" dirty="0">
              <a:solidFill>
                <a:srgbClr val="000000"/>
              </a:solidFill>
              <a:latin typeface="Bahnschrift" panose="020B0502040204020203" pitchFamily="34" charset="0"/>
              <a:ea typeface="Yu Mincho" panose="02020400000000000000" pitchFamily="18" charset="-128"/>
            </a:endParaRPr>
          </a:p>
        </p:txBody>
      </p:sp>
    </p:spTree>
    <p:extLst>
      <p:ext uri="{BB962C8B-B14F-4D97-AF65-F5344CB8AC3E}">
        <p14:creationId xmlns:p14="http://schemas.microsoft.com/office/powerpoint/2010/main" val="307426026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PREPROCESSING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pic>
        <p:nvPicPr>
          <p:cNvPr id="9" name="Picture 8">
            <a:extLst>
              <a:ext uri="{FF2B5EF4-FFF2-40B4-BE49-F238E27FC236}">
                <a16:creationId xmlns:a16="http://schemas.microsoft.com/office/drawing/2014/main" id="{BF527253-6AF2-E34D-5A11-F6AC9E0798AD}"/>
              </a:ext>
            </a:extLst>
          </p:cNvPr>
          <p:cNvPicPr>
            <a:picLocks noChangeAspect="1"/>
          </p:cNvPicPr>
          <p:nvPr/>
        </p:nvPicPr>
        <p:blipFill rotWithShape="1">
          <a:blip r:embed="rId4"/>
          <a:srcRect t="4697" b="4422"/>
          <a:stretch/>
        </p:blipFill>
        <p:spPr bwMode="auto">
          <a:xfrm>
            <a:off x="482099" y="2253487"/>
            <a:ext cx="3906232" cy="2684273"/>
          </a:xfrm>
          <a:prstGeom prst="rect">
            <a:avLst/>
          </a:prstGeom>
          <a:ln>
            <a:noFill/>
          </a:ln>
          <a:extLst>
            <a:ext uri="{53640926-AAD7-44D8-BBD7-CCE9431645EC}">
              <a14:shadowObscured xmlns:a14="http://schemas.microsoft.com/office/drawing/2010/main"/>
            </a:ext>
          </a:extLst>
        </p:spPr>
      </p:pic>
      <p:cxnSp>
        <p:nvCxnSpPr>
          <p:cNvPr id="11" name="Straight Connector 10">
            <a:extLst>
              <a:ext uri="{FF2B5EF4-FFF2-40B4-BE49-F238E27FC236}">
                <a16:creationId xmlns:a16="http://schemas.microsoft.com/office/drawing/2014/main" id="{9109C961-1538-3DE1-014F-172A3961E468}"/>
              </a:ext>
            </a:extLst>
          </p:cNvPr>
          <p:cNvCxnSpPr>
            <a:cxnSpLocks/>
          </p:cNvCxnSpPr>
          <p:nvPr/>
        </p:nvCxnSpPr>
        <p:spPr>
          <a:xfrm flipV="1">
            <a:off x="2933392" y="2253487"/>
            <a:ext cx="0" cy="2555626"/>
          </a:xfrm>
          <a:prstGeom prst="line">
            <a:avLst/>
          </a:prstGeom>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C1F9BE5E-5317-1DE1-945F-55F2DF675E69}"/>
              </a:ext>
            </a:extLst>
          </p:cNvPr>
          <p:cNvSpPr txBox="1">
            <a:spLocks/>
          </p:cNvSpPr>
          <p:nvPr/>
        </p:nvSpPr>
        <p:spPr>
          <a:xfrm>
            <a:off x="482100" y="1547573"/>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Data Vectorization Teks</a:t>
            </a:r>
          </a:p>
        </p:txBody>
      </p:sp>
      <p:sp>
        <p:nvSpPr>
          <p:cNvPr id="5" name="TextBox 4">
            <a:extLst>
              <a:ext uri="{FF2B5EF4-FFF2-40B4-BE49-F238E27FC236}">
                <a16:creationId xmlns:a16="http://schemas.microsoft.com/office/drawing/2014/main" id="{00DC1AEF-DF2F-C9C8-6C98-C74682023032}"/>
              </a:ext>
            </a:extLst>
          </p:cNvPr>
          <p:cNvSpPr txBox="1"/>
          <p:nvPr/>
        </p:nvSpPr>
        <p:spPr>
          <a:xfrm>
            <a:off x="400032" y="4991993"/>
            <a:ext cx="4683795" cy="1384995"/>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Nilai </a:t>
            </a:r>
            <a:r>
              <a:rPr lang="en-US" sz="1400" i="1" dirty="0">
                <a:solidFill>
                  <a:srgbClr val="000000"/>
                </a:solidFill>
                <a:latin typeface="Bahnschrift" panose="020B0502040204020203" pitchFamily="34" charset="0"/>
                <a:ea typeface="Yu Mincho" panose="02020400000000000000" pitchFamily="18" charset="-128"/>
              </a:rPr>
              <a:t>Sparsity </a:t>
            </a:r>
            <a:r>
              <a:rPr lang="en-US" sz="1400" dirty="0">
                <a:solidFill>
                  <a:srgbClr val="000000"/>
                </a:solidFill>
                <a:latin typeface="Bahnschrift" panose="020B0502040204020203" pitchFamily="34" charset="0"/>
                <a:ea typeface="Yu Mincho" panose="02020400000000000000" pitchFamily="18" charset="-128"/>
              </a:rPr>
              <a:t>pada rentang 6000-14000 tidak mengalami penambahan signifikan</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Panjang vektor 8900, </a:t>
            </a:r>
            <a:r>
              <a:rPr lang="en-US" sz="1400" i="1" dirty="0">
                <a:solidFill>
                  <a:srgbClr val="000000"/>
                </a:solidFill>
                <a:latin typeface="Bahnschrift" panose="020B0502040204020203" pitchFamily="34" charset="0"/>
                <a:ea typeface="Yu Mincho" panose="02020400000000000000" pitchFamily="18" charset="-128"/>
              </a:rPr>
              <a:t>sparsity</a:t>
            </a:r>
            <a:r>
              <a:rPr lang="en-US" sz="1400" dirty="0">
                <a:solidFill>
                  <a:srgbClr val="000000"/>
                </a:solidFill>
                <a:latin typeface="Bahnschrift" panose="020B0502040204020203" pitchFamily="34" charset="0"/>
                <a:ea typeface="Yu Mincho" panose="02020400000000000000" pitchFamily="18" charset="-128"/>
              </a:rPr>
              <a:t> di atas 98,5% </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Panjang vektor 14000, </a:t>
            </a:r>
            <a:r>
              <a:rPr lang="en-US" sz="1400" i="1" dirty="0">
                <a:solidFill>
                  <a:srgbClr val="000000"/>
                </a:solidFill>
                <a:latin typeface="Bahnschrift" panose="020B0502040204020203" pitchFamily="34" charset="0"/>
                <a:ea typeface="Yu Mincho" panose="02020400000000000000" pitchFamily="18" charset="-128"/>
              </a:rPr>
              <a:t>sparsity</a:t>
            </a:r>
            <a:r>
              <a:rPr lang="en-US" sz="1400" dirty="0">
                <a:solidFill>
                  <a:srgbClr val="000000"/>
                </a:solidFill>
                <a:latin typeface="Bahnschrift" panose="020B0502040204020203" pitchFamily="34" charset="0"/>
                <a:ea typeface="Yu Mincho" panose="02020400000000000000" pitchFamily="18" charset="-128"/>
              </a:rPr>
              <a:t> di atas 99%</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Dipilih panjang vektor 8900</a:t>
            </a:r>
          </a:p>
          <a:p>
            <a:pPr marL="285750" indent="-285750" algn="just">
              <a:buFont typeface="Arial" panose="020B0604020202020204" pitchFamily="34" charset="0"/>
              <a:buChar char="•"/>
            </a:pPr>
            <a:endParaRPr lang="en-US" sz="1400" i="1" dirty="0">
              <a:solidFill>
                <a:srgbClr val="000000"/>
              </a:solidFill>
              <a:latin typeface="Bahnschrift" panose="020B0502040204020203" pitchFamily="34" charset="0"/>
              <a:ea typeface="Yu Mincho" panose="02020400000000000000" pitchFamily="18" charset="-128"/>
            </a:endParaRPr>
          </a:p>
        </p:txBody>
      </p:sp>
      <p:sp>
        <p:nvSpPr>
          <p:cNvPr id="10" name="Title 1">
            <a:extLst>
              <a:ext uri="{FF2B5EF4-FFF2-40B4-BE49-F238E27FC236}">
                <a16:creationId xmlns:a16="http://schemas.microsoft.com/office/drawing/2014/main" id="{4DDC5618-E889-4CA3-A449-51759A07CCDE}"/>
              </a:ext>
            </a:extLst>
          </p:cNvPr>
          <p:cNvSpPr txBox="1">
            <a:spLocks/>
          </p:cNvSpPr>
          <p:nvPr/>
        </p:nvSpPr>
        <p:spPr>
          <a:xfrm>
            <a:off x="6221706" y="1547572"/>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Data Vectorization Gambar</a:t>
            </a:r>
          </a:p>
        </p:txBody>
      </p:sp>
      <p:sp>
        <p:nvSpPr>
          <p:cNvPr id="14" name="TextBox 13">
            <a:extLst>
              <a:ext uri="{FF2B5EF4-FFF2-40B4-BE49-F238E27FC236}">
                <a16:creationId xmlns:a16="http://schemas.microsoft.com/office/drawing/2014/main" id="{BF33C62A-4EEE-25B3-EA3E-21A8BAFFE302}"/>
              </a:ext>
            </a:extLst>
          </p:cNvPr>
          <p:cNvSpPr txBox="1"/>
          <p:nvPr/>
        </p:nvSpPr>
        <p:spPr>
          <a:xfrm>
            <a:off x="6284318" y="5779056"/>
            <a:ext cx="4683795" cy="738664"/>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Memperkecil Resolusi menjadi 224 x 224 </a:t>
            </a:r>
            <a:r>
              <a:rPr lang="en-US" sz="1400" i="1" dirty="0">
                <a:solidFill>
                  <a:srgbClr val="000000"/>
                </a:solidFill>
                <a:latin typeface="Bahnschrift" panose="020B0502040204020203" pitchFamily="34" charset="0"/>
                <a:ea typeface="Yu Mincho" panose="02020400000000000000" pitchFamily="18" charset="-128"/>
              </a:rPr>
              <a:t>pixel</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Normalisasi rentang nilai </a:t>
            </a:r>
            <a:r>
              <a:rPr lang="en-US" sz="1400" i="1" dirty="0">
                <a:solidFill>
                  <a:srgbClr val="000000"/>
                </a:solidFill>
                <a:latin typeface="Bahnschrift" panose="020B0502040204020203" pitchFamily="34" charset="0"/>
                <a:ea typeface="Yu Mincho" panose="02020400000000000000" pitchFamily="18" charset="-128"/>
              </a:rPr>
              <a:t>pixel </a:t>
            </a:r>
            <a:r>
              <a:rPr lang="en-US" sz="1400" dirty="0">
                <a:solidFill>
                  <a:srgbClr val="000000"/>
                </a:solidFill>
                <a:latin typeface="Bahnschrift" panose="020B0502040204020203" pitchFamily="34" charset="0"/>
                <a:ea typeface="Yu Mincho" panose="02020400000000000000" pitchFamily="18" charset="-128"/>
              </a:rPr>
              <a:t>menjadi 0-1</a:t>
            </a:r>
          </a:p>
          <a:p>
            <a:pPr marL="285750" indent="-285750" algn="just">
              <a:buFont typeface="Arial" panose="020B0604020202020204" pitchFamily="34" charset="0"/>
              <a:buChar char="•"/>
            </a:pPr>
            <a:endParaRPr lang="en-US" sz="1400" i="1" dirty="0">
              <a:solidFill>
                <a:srgbClr val="000000"/>
              </a:solidFill>
              <a:latin typeface="Bahnschrift" panose="020B0502040204020203" pitchFamily="34" charset="0"/>
              <a:ea typeface="Yu Mincho" panose="02020400000000000000" pitchFamily="18" charset="-128"/>
            </a:endParaRPr>
          </a:p>
        </p:txBody>
      </p:sp>
      <p:pic>
        <p:nvPicPr>
          <p:cNvPr id="1026" name="Picture 2">
            <a:extLst>
              <a:ext uri="{FF2B5EF4-FFF2-40B4-BE49-F238E27FC236}">
                <a16:creationId xmlns:a16="http://schemas.microsoft.com/office/drawing/2014/main" id="{C7A20346-2633-B436-0695-41D80D6D5E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5386" y="2110993"/>
            <a:ext cx="3386785" cy="368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86237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a:bodyPr>
          <a:lstStyle/>
          <a:p>
            <a:r>
              <a:rPr lang="en-US" sz="2800" dirty="0">
                <a:solidFill>
                  <a:schemeClr val="accent5">
                    <a:lumMod val="75000"/>
                  </a:schemeClr>
                </a:solidFill>
                <a:latin typeface="Bahnschrift SemiBold" panose="020B0502040204020203" pitchFamily="34" charset="0"/>
              </a:rPr>
              <a:t>ANALISIS PEMBAGIAN DATA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4" name="Chart 3">
            <a:extLst>
              <a:ext uri="{FF2B5EF4-FFF2-40B4-BE49-F238E27FC236}">
                <a16:creationId xmlns:a16="http://schemas.microsoft.com/office/drawing/2014/main" id="{7B2355C5-E972-5D02-D5D3-F7204FDE2EFB}"/>
              </a:ext>
            </a:extLst>
          </p:cNvPr>
          <p:cNvGraphicFramePr/>
          <p:nvPr>
            <p:extLst>
              <p:ext uri="{D42A27DB-BD31-4B8C-83A1-F6EECF244321}">
                <p14:modId xmlns:p14="http://schemas.microsoft.com/office/powerpoint/2010/main" val="2287897552"/>
              </p:ext>
            </p:extLst>
          </p:nvPr>
        </p:nvGraphicFramePr>
        <p:xfrm>
          <a:off x="579331" y="2278468"/>
          <a:ext cx="5319172" cy="3716425"/>
        </p:xfrm>
        <a:graphic>
          <a:graphicData uri="http://schemas.openxmlformats.org/drawingml/2006/chart">
            <c:chart xmlns:c="http://schemas.openxmlformats.org/drawingml/2006/chart" xmlns:r="http://schemas.openxmlformats.org/officeDocument/2006/relationships" r:id="rId4"/>
          </a:graphicData>
        </a:graphic>
      </p:graphicFrame>
      <p:sp>
        <p:nvSpPr>
          <p:cNvPr id="5" name="Title 1">
            <a:extLst>
              <a:ext uri="{FF2B5EF4-FFF2-40B4-BE49-F238E27FC236}">
                <a16:creationId xmlns:a16="http://schemas.microsoft.com/office/drawing/2014/main" id="{E63E9FD6-26F5-4B1C-8019-5B74205F49A2}"/>
              </a:ext>
            </a:extLst>
          </p:cNvPr>
          <p:cNvSpPr txBox="1">
            <a:spLocks/>
          </p:cNvSpPr>
          <p:nvPr/>
        </p:nvSpPr>
        <p:spPr>
          <a:xfrm>
            <a:off x="482100" y="1547573"/>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Pembagian Data Training dan Testing</a:t>
            </a:r>
          </a:p>
        </p:txBody>
      </p:sp>
      <p:sp>
        <p:nvSpPr>
          <p:cNvPr id="7" name="TextBox 6">
            <a:extLst>
              <a:ext uri="{FF2B5EF4-FFF2-40B4-BE49-F238E27FC236}">
                <a16:creationId xmlns:a16="http://schemas.microsoft.com/office/drawing/2014/main" id="{7E09002D-A7A0-E04A-778E-EDDA824BE81A}"/>
              </a:ext>
            </a:extLst>
          </p:cNvPr>
          <p:cNvSpPr txBox="1"/>
          <p:nvPr/>
        </p:nvSpPr>
        <p:spPr>
          <a:xfrm>
            <a:off x="6329597" y="2341770"/>
            <a:ext cx="4683795" cy="954107"/>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80% (3103) data terpilih sebagai data Training</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20% (775) data </a:t>
            </a:r>
            <a:r>
              <a:rPr lang="en-US" sz="1400" dirty="0" err="1">
                <a:solidFill>
                  <a:srgbClr val="000000"/>
                </a:solidFill>
                <a:latin typeface="Bahnschrift" panose="020B0502040204020203" pitchFamily="34" charset="0"/>
                <a:ea typeface="Yu Mincho" panose="02020400000000000000" pitchFamily="18" charset="-128"/>
              </a:rPr>
              <a:t>tepilih</a:t>
            </a:r>
            <a:r>
              <a:rPr lang="en-US" sz="1400" dirty="0">
                <a:solidFill>
                  <a:srgbClr val="000000"/>
                </a:solidFill>
                <a:latin typeface="Bahnschrift" panose="020B0502040204020203" pitchFamily="34" charset="0"/>
                <a:ea typeface="Yu Mincho" panose="02020400000000000000" pitchFamily="18" charset="-128"/>
              </a:rPr>
              <a:t> sebagai data Testing</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Proporsi kategori hoaks dan fakta seimbang </a:t>
            </a:r>
          </a:p>
          <a:p>
            <a:pPr marL="285750" indent="-285750" algn="just">
              <a:buFont typeface="Arial" panose="020B0604020202020204" pitchFamily="34" charset="0"/>
              <a:buChar char="•"/>
            </a:pPr>
            <a:endParaRPr lang="en-US" sz="1400" i="1" dirty="0">
              <a:solidFill>
                <a:srgbClr val="000000"/>
              </a:solidFill>
              <a:latin typeface="Bahnschrift" panose="020B0502040204020203" pitchFamily="34" charset="0"/>
              <a:ea typeface="Yu Mincho" panose="02020400000000000000" pitchFamily="18" charset="-128"/>
            </a:endParaRPr>
          </a:p>
        </p:txBody>
      </p:sp>
    </p:spTree>
    <p:extLst>
      <p:ext uri="{BB962C8B-B14F-4D97-AF65-F5344CB8AC3E}">
        <p14:creationId xmlns:p14="http://schemas.microsoft.com/office/powerpoint/2010/main" val="371946926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MODEL KLASIFIKASI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5" name="Table 4">
            <a:extLst>
              <a:ext uri="{FF2B5EF4-FFF2-40B4-BE49-F238E27FC236}">
                <a16:creationId xmlns:a16="http://schemas.microsoft.com/office/drawing/2014/main" id="{BDD67FAA-568F-8E5A-8264-CF826544673F}"/>
              </a:ext>
            </a:extLst>
          </p:cNvPr>
          <p:cNvGraphicFramePr>
            <a:graphicFrameLocks noGrp="1"/>
          </p:cNvGraphicFramePr>
          <p:nvPr>
            <p:extLst>
              <p:ext uri="{D42A27DB-BD31-4B8C-83A1-F6EECF244321}">
                <p14:modId xmlns:p14="http://schemas.microsoft.com/office/powerpoint/2010/main" val="2302076934"/>
              </p:ext>
            </p:extLst>
          </p:nvPr>
        </p:nvGraphicFramePr>
        <p:xfrm>
          <a:off x="579331" y="2208080"/>
          <a:ext cx="4987181" cy="2440940"/>
        </p:xfrm>
        <a:graphic>
          <a:graphicData uri="http://schemas.openxmlformats.org/drawingml/2006/table">
            <a:tbl>
              <a:tblPr/>
              <a:tblGrid>
                <a:gridCol w="399052">
                  <a:extLst>
                    <a:ext uri="{9D8B030D-6E8A-4147-A177-3AD203B41FA5}">
                      <a16:colId xmlns:a16="http://schemas.microsoft.com/office/drawing/2014/main" val="1244729172"/>
                    </a:ext>
                  </a:extLst>
                </a:gridCol>
                <a:gridCol w="2393222">
                  <a:extLst>
                    <a:ext uri="{9D8B030D-6E8A-4147-A177-3AD203B41FA5}">
                      <a16:colId xmlns:a16="http://schemas.microsoft.com/office/drawing/2014/main" val="3624643809"/>
                    </a:ext>
                  </a:extLst>
                </a:gridCol>
                <a:gridCol w="2194907">
                  <a:extLst>
                    <a:ext uri="{9D8B030D-6E8A-4147-A177-3AD203B41FA5}">
                      <a16:colId xmlns:a16="http://schemas.microsoft.com/office/drawing/2014/main" val="652819314"/>
                    </a:ext>
                  </a:extLst>
                </a:gridCol>
              </a:tblGrid>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No</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Keterangan Parameter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Nilai Parameter</a:t>
                      </a:r>
                    </a:p>
                  </a:txBody>
                  <a:tcPr marL="68580" marR="68580" marT="0" marB="36195" anchor="ctr"/>
                </a:tc>
                <a:extLst>
                  <a:ext uri="{0D108BD9-81ED-4DB2-BD59-A6C34878D82A}">
                    <a16:rowId xmlns:a16="http://schemas.microsoft.com/office/drawing/2014/main" val="271019969"/>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1</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Jumlah Block</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1</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3690130969"/>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Convolution 1D Layer</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131140136"/>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3</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Pooling Layer</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Global-max-pooling</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216466674"/>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4</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Fungsi Non-linier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dirty="0" err="1">
                          <a:solidFill>
                            <a:srgbClr val="000000"/>
                          </a:solidFill>
                          <a:latin typeface="Bahnschrift" panose="020B0502040204020203" pitchFamily="34" charset="0"/>
                          <a:ea typeface="Yu Mincho" panose="02020400000000000000" pitchFamily="18" charset="-128"/>
                          <a:cs typeface="+mn-cs"/>
                        </a:rPr>
                        <a:t>ReLU</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683575705"/>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5</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Jumlah Epoch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100</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768948965"/>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6</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Batch Size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32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3843376000"/>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7</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Optimizer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Adam</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821145769"/>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8</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Loss Function </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Binary-crossentropy</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800038058"/>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9</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Early Stopping Patience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20</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2921479250"/>
                  </a:ext>
                </a:extLst>
              </a:tr>
            </a:tbl>
          </a:graphicData>
        </a:graphic>
      </p:graphicFrame>
      <p:graphicFrame>
        <p:nvGraphicFramePr>
          <p:cNvPr id="8" name="Table 7">
            <a:extLst>
              <a:ext uri="{FF2B5EF4-FFF2-40B4-BE49-F238E27FC236}">
                <a16:creationId xmlns:a16="http://schemas.microsoft.com/office/drawing/2014/main" id="{C66387B1-438C-3222-09D8-0E965C811008}"/>
              </a:ext>
            </a:extLst>
          </p:cNvPr>
          <p:cNvGraphicFramePr>
            <a:graphicFrameLocks noGrp="1"/>
          </p:cNvGraphicFramePr>
          <p:nvPr>
            <p:extLst>
              <p:ext uri="{D42A27DB-BD31-4B8C-83A1-F6EECF244321}">
                <p14:modId xmlns:p14="http://schemas.microsoft.com/office/powerpoint/2010/main" val="2518715841"/>
              </p:ext>
            </p:extLst>
          </p:nvPr>
        </p:nvGraphicFramePr>
        <p:xfrm>
          <a:off x="590073" y="5113257"/>
          <a:ext cx="4987171" cy="1119952"/>
        </p:xfrm>
        <a:graphic>
          <a:graphicData uri="http://schemas.openxmlformats.org/drawingml/2006/table">
            <a:tbl>
              <a:tblPr/>
              <a:tblGrid>
                <a:gridCol w="1732161">
                  <a:extLst>
                    <a:ext uri="{9D8B030D-6E8A-4147-A177-3AD203B41FA5}">
                      <a16:colId xmlns:a16="http://schemas.microsoft.com/office/drawing/2014/main" val="2596388880"/>
                    </a:ext>
                  </a:extLst>
                </a:gridCol>
                <a:gridCol w="1376928">
                  <a:extLst>
                    <a:ext uri="{9D8B030D-6E8A-4147-A177-3AD203B41FA5}">
                      <a16:colId xmlns:a16="http://schemas.microsoft.com/office/drawing/2014/main" val="2044693654"/>
                    </a:ext>
                  </a:extLst>
                </a:gridCol>
                <a:gridCol w="1878082">
                  <a:extLst>
                    <a:ext uri="{9D8B030D-6E8A-4147-A177-3AD203B41FA5}">
                      <a16:colId xmlns:a16="http://schemas.microsoft.com/office/drawing/2014/main" val="2448293996"/>
                    </a:ext>
                  </a:extLst>
                </a:gridCol>
              </a:tblGrid>
              <a:tr h="229221">
                <a:tc>
                  <a:txBody>
                    <a:bodyPr/>
                    <a:lstStyle/>
                    <a:p>
                      <a:pPr marL="0" marR="0" indent="0" algn="just">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Metode</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Akurasi</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AUC</a:t>
                      </a:r>
                    </a:p>
                  </a:txBody>
                  <a:tcPr marL="68580" marR="68580" marT="0" marB="36195"/>
                </a:tc>
                <a:extLst>
                  <a:ext uri="{0D108BD9-81ED-4DB2-BD59-A6C34878D82A}">
                    <a16:rowId xmlns:a16="http://schemas.microsoft.com/office/drawing/2014/main" val="3875020067"/>
                  </a:ext>
                </a:extLst>
              </a:tr>
              <a:tr h="229221">
                <a:tc>
                  <a:txBody>
                    <a:bodyPr/>
                    <a:lstStyle/>
                    <a:p>
                      <a:pPr marL="0" marR="0"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SVM</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0,552258</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0,500545</a:t>
                      </a:r>
                    </a:p>
                  </a:txBody>
                  <a:tcPr marL="68580" marR="68580" marT="0" marB="36195"/>
                </a:tc>
                <a:extLst>
                  <a:ext uri="{0D108BD9-81ED-4DB2-BD59-A6C34878D82A}">
                    <a16:rowId xmlns:a16="http://schemas.microsoft.com/office/drawing/2014/main" val="2913373980"/>
                  </a:ext>
                </a:extLst>
              </a:tr>
              <a:tr h="387670">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Regression Logistik</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0,554838</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0,502881</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1778098226"/>
                  </a:ext>
                </a:extLst>
              </a:tr>
              <a:tr h="229221">
                <a:tc>
                  <a:txBody>
                    <a:bodyPr/>
                    <a:lstStyle/>
                    <a:p>
                      <a:pPr marL="0" marR="0" indent="0" algn="ctr">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Model CNN 1D</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0,8232</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0,8817</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788108037"/>
                  </a:ext>
                </a:extLst>
              </a:tr>
            </a:tbl>
          </a:graphicData>
        </a:graphic>
      </p:graphicFrame>
      <p:pic>
        <p:nvPicPr>
          <p:cNvPr id="9" name="Picture 8">
            <a:extLst>
              <a:ext uri="{FF2B5EF4-FFF2-40B4-BE49-F238E27FC236}">
                <a16:creationId xmlns:a16="http://schemas.microsoft.com/office/drawing/2014/main" id="{5FB702DE-40E3-38EB-CED3-4AD43D0EACEB}"/>
              </a:ext>
            </a:extLst>
          </p:cNvPr>
          <p:cNvPicPr>
            <a:picLocks noChangeAspect="1"/>
          </p:cNvPicPr>
          <p:nvPr/>
        </p:nvPicPr>
        <p:blipFill rotWithShape="1">
          <a:blip r:embed="rId4">
            <a:extLst>
              <a:ext uri="{28A0092B-C50C-407E-A947-70E740481C1C}">
                <a14:useLocalDpi xmlns:a14="http://schemas.microsoft.com/office/drawing/2010/main" val="0"/>
              </a:ext>
            </a:extLst>
          </a:blip>
          <a:srcRect t="6977"/>
          <a:stretch/>
        </p:blipFill>
        <p:spPr bwMode="auto">
          <a:xfrm>
            <a:off x="6175322" y="898149"/>
            <a:ext cx="3798665" cy="2829746"/>
          </a:xfrm>
          <a:prstGeom prst="rect">
            <a:avLst/>
          </a:prstGeom>
          <a:noFill/>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BA1317FF-59E4-E74C-96EB-F3274FBDFEE6}"/>
              </a:ext>
            </a:extLst>
          </p:cNvPr>
          <p:cNvPicPr>
            <a:picLocks noChangeAspect="1"/>
          </p:cNvPicPr>
          <p:nvPr/>
        </p:nvPicPr>
        <p:blipFill rotWithShape="1">
          <a:blip r:embed="rId5">
            <a:extLst>
              <a:ext uri="{28A0092B-C50C-407E-A947-70E740481C1C}">
                <a14:useLocalDpi xmlns:a14="http://schemas.microsoft.com/office/drawing/2010/main" val="0"/>
              </a:ext>
            </a:extLst>
          </a:blip>
          <a:srcRect t="6853"/>
          <a:stretch/>
        </p:blipFill>
        <p:spPr bwMode="auto">
          <a:xfrm>
            <a:off x="6174260" y="3729979"/>
            <a:ext cx="3798663" cy="2807824"/>
          </a:xfrm>
          <a:prstGeom prst="rect">
            <a:avLst/>
          </a:prstGeom>
          <a:noFill/>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92F68558-6973-2248-E243-F65254C921D1}"/>
              </a:ext>
            </a:extLst>
          </p:cNvPr>
          <p:cNvSpPr txBox="1">
            <a:spLocks/>
          </p:cNvSpPr>
          <p:nvPr/>
        </p:nvSpPr>
        <p:spPr>
          <a:xfrm>
            <a:off x="482100" y="1280284"/>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Model Klasifikasi Berbasis Teks</a:t>
            </a:r>
          </a:p>
        </p:txBody>
      </p:sp>
      <p:sp>
        <p:nvSpPr>
          <p:cNvPr id="7" name="TextBox 6">
            <a:extLst>
              <a:ext uri="{FF2B5EF4-FFF2-40B4-BE49-F238E27FC236}">
                <a16:creationId xmlns:a16="http://schemas.microsoft.com/office/drawing/2014/main" id="{93D418E2-6AA9-F317-8283-C0D0C9684D42}"/>
              </a:ext>
            </a:extLst>
          </p:cNvPr>
          <p:cNvSpPr txBox="1"/>
          <p:nvPr/>
        </p:nvSpPr>
        <p:spPr>
          <a:xfrm>
            <a:off x="10178101" y="2026977"/>
            <a:ext cx="1749278" cy="523220"/>
          </a:xfrm>
          <a:prstGeom prst="rect">
            <a:avLst/>
          </a:prstGeom>
          <a:noFill/>
        </p:spPr>
        <p:txBody>
          <a:bodyPr wrap="square">
            <a:spAutoFit/>
          </a:bodyPr>
          <a:lstStyle/>
          <a:p>
            <a:pPr marL="285750" indent="-285750" algn="just">
              <a:buFont typeface="Arial" panose="020B0604020202020204" pitchFamily="34" charset="0"/>
              <a:buChar char="•"/>
            </a:pPr>
            <a:r>
              <a:rPr lang="en-US" sz="1400" i="1" dirty="0">
                <a:solidFill>
                  <a:srgbClr val="000000"/>
                </a:solidFill>
                <a:latin typeface="Bahnschrift" panose="020B0502040204020203" pitchFamily="34" charset="0"/>
                <a:ea typeface="Yu Mincho" panose="02020400000000000000" pitchFamily="18" charset="-128"/>
              </a:rPr>
              <a:t>Teridentifikasi Underfit</a:t>
            </a:r>
          </a:p>
        </p:txBody>
      </p:sp>
      <p:sp>
        <p:nvSpPr>
          <p:cNvPr id="14" name="TextBox 13">
            <a:extLst>
              <a:ext uri="{FF2B5EF4-FFF2-40B4-BE49-F238E27FC236}">
                <a16:creationId xmlns:a16="http://schemas.microsoft.com/office/drawing/2014/main" id="{D5F81186-9E66-865B-2448-36B373BBBF50}"/>
              </a:ext>
            </a:extLst>
          </p:cNvPr>
          <p:cNvSpPr txBox="1"/>
          <p:nvPr/>
        </p:nvSpPr>
        <p:spPr>
          <a:xfrm>
            <a:off x="482099" y="1857700"/>
            <a:ext cx="3098811" cy="338554"/>
          </a:xfrm>
          <a:prstGeom prst="rect">
            <a:avLst/>
          </a:prstGeom>
          <a:noFill/>
        </p:spPr>
        <p:txBody>
          <a:bodyPr wrap="square">
            <a:spAutoFit/>
          </a:bodyPr>
          <a:lstStyle/>
          <a:p>
            <a:pPr algn="just"/>
            <a:r>
              <a:rPr lang="en-US" sz="1600" dirty="0">
                <a:solidFill>
                  <a:srgbClr val="000000"/>
                </a:solidFill>
                <a:latin typeface="Bahnschrift" panose="020B0502040204020203" pitchFamily="34" charset="0"/>
                <a:ea typeface="Yu Mincho" panose="02020400000000000000" pitchFamily="18" charset="-128"/>
              </a:rPr>
              <a:t>Parameter Model CNN 1D</a:t>
            </a:r>
          </a:p>
        </p:txBody>
      </p:sp>
      <p:sp>
        <p:nvSpPr>
          <p:cNvPr id="16" name="TextBox 15">
            <a:extLst>
              <a:ext uri="{FF2B5EF4-FFF2-40B4-BE49-F238E27FC236}">
                <a16:creationId xmlns:a16="http://schemas.microsoft.com/office/drawing/2014/main" id="{51ECE706-7606-F6D5-CFC4-7AE4CC0FDC94}"/>
              </a:ext>
            </a:extLst>
          </p:cNvPr>
          <p:cNvSpPr txBox="1"/>
          <p:nvPr/>
        </p:nvSpPr>
        <p:spPr>
          <a:xfrm>
            <a:off x="560359" y="4736530"/>
            <a:ext cx="3098811" cy="338554"/>
          </a:xfrm>
          <a:prstGeom prst="rect">
            <a:avLst/>
          </a:prstGeom>
          <a:noFill/>
        </p:spPr>
        <p:txBody>
          <a:bodyPr wrap="square">
            <a:spAutoFit/>
          </a:bodyPr>
          <a:lstStyle/>
          <a:p>
            <a:pPr algn="just"/>
            <a:r>
              <a:rPr lang="en-US" sz="1600" dirty="0">
                <a:solidFill>
                  <a:srgbClr val="000000"/>
                </a:solidFill>
                <a:latin typeface="Bahnschrift" panose="020B0502040204020203" pitchFamily="34" charset="0"/>
                <a:ea typeface="Yu Mincho" panose="02020400000000000000" pitchFamily="18" charset="-128"/>
              </a:rPr>
              <a:t>Evaluasi Model Berbasis Teks</a:t>
            </a:r>
          </a:p>
        </p:txBody>
      </p:sp>
    </p:spTree>
    <p:extLst>
      <p:ext uri="{BB962C8B-B14F-4D97-AF65-F5344CB8AC3E}">
        <p14:creationId xmlns:p14="http://schemas.microsoft.com/office/powerpoint/2010/main" val="173278407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MODEL KLASIFIKASI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5" name="Table 4">
            <a:extLst>
              <a:ext uri="{FF2B5EF4-FFF2-40B4-BE49-F238E27FC236}">
                <a16:creationId xmlns:a16="http://schemas.microsoft.com/office/drawing/2014/main" id="{BDD67FAA-568F-8E5A-8264-CF826544673F}"/>
              </a:ext>
            </a:extLst>
          </p:cNvPr>
          <p:cNvGraphicFramePr>
            <a:graphicFrameLocks noGrp="1"/>
          </p:cNvGraphicFramePr>
          <p:nvPr>
            <p:extLst>
              <p:ext uri="{D42A27DB-BD31-4B8C-83A1-F6EECF244321}">
                <p14:modId xmlns:p14="http://schemas.microsoft.com/office/powerpoint/2010/main" val="651454751"/>
              </p:ext>
            </p:extLst>
          </p:nvPr>
        </p:nvGraphicFramePr>
        <p:xfrm>
          <a:off x="589298" y="2196254"/>
          <a:ext cx="5180351" cy="2450211"/>
        </p:xfrm>
        <a:graphic>
          <a:graphicData uri="http://schemas.openxmlformats.org/drawingml/2006/table">
            <a:tbl>
              <a:tblPr/>
              <a:tblGrid>
                <a:gridCol w="414508">
                  <a:extLst>
                    <a:ext uri="{9D8B030D-6E8A-4147-A177-3AD203B41FA5}">
                      <a16:colId xmlns:a16="http://schemas.microsoft.com/office/drawing/2014/main" val="1244729172"/>
                    </a:ext>
                  </a:extLst>
                </a:gridCol>
                <a:gridCol w="2485920">
                  <a:extLst>
                    <a:ext uri="{9D8B030D-6E8A-4147-A177-3AD203B41FA5}">
                      <a16:colId xmlns:a16="http://schemas.microsoft.com/office/drawing/2014/main" val="3624643809"/>
                    </a:ext>
                  </a:extLst>
                </a:gridCol>
                <a:gridCol w="2279923">
                  <a:extLst>
                    <a:ext uri="{9D8B030D-6E8A-4147-A177-3AD203B41FA5}">
                      <a16:colId xmlns:a16="http://schemas.microsoft.com/office/drawing/2014/main" val="652819314"/>
                    </a:ext>
                  </a:extLst>
                </a:gridCol>
              </a:tblGrid>
              <a:tr h="227920">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No</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Keterangan Parameter</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just" defTabSz="914400" rtl="0" eaLnBrk="1" latinLnBrk="0" hangingPunct="1">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Nilai Parameter</a:t>
                      </a:r>
                    </a:p>
                  </a:txBody>
                  <a:tcPr marL="68580" marR="68580" marT="0" marB="36195" anchor="ctr"/>
                </a:tc>
                <a:extLst>
                  <a:ext uri="{0D108BD9-81ED-4DB2-BD59-A6C34878D82A}">
                    <a16:rowId xmlns:a16="http://schemas.microsoft.com/office/drawing/2014/main" val="271019969"/>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1</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Jumlah Block</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5</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3690130969"/>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Convolution 2D Layer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2 dan 3</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131140136"/>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3</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Pooling Layer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err="1">
                          <a:solidFill>
                            <a:srgbClr val="000000"/>
                          </a:solidFill>
                          <a:latin typeface="Bahnschrift" panose="020B0502040204020203" pitchFamily="34" charset="0"/>
                          <a:ea typeface="Yu Mincho" panose="02020400000000000000" pitchFamily="18" charset="-128"/>
                          <a:cs typeface="+mn-cs"/>
                        </a:rPr>
                        <a:t>maxpooling</a:t>
                      </a:r>
                      <a:r>
                        <a:rPr lang="en-ID" sz="1400" kern="1200" dirty="0">
                          <a:solidFill>
                            <a:srgbClr val="000000"/>
                          </a:solidFill>
                          <a:latin typeface="Bahnschrift" panose="020B0502040204020203" pitchFamily="34" charset="0"/>
                          <a:ea typeface="Yu Mincho" panose="02020400000000000000" pitchFamily="18" charset="-128"/>
                          <a:cs typeface="+mn-cs"/>
                        </a:rPr>
                        <a:t>(2×2), stride 2</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216466674"/>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4</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Fungsi Non-linier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err="1">
                          <a:solidFill>
                            <a:srgbClr val="000000"/>
                          </a:solidFill>
                          <a:latin typeface="Bahnschrift" panose="020B0502040204020203" pitchFamily="34" charset="0"/>
                          <a:ea typeface="Yu Mincho" panose="02020400000000000000" pitchFamily="18" charset="-128"/>
                          <a:cs typeface="+mn-cs"/>
                        </a:rPr>
                        <a:t>ReLU</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683575705"/>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5</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Jumlah Epoch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100</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768948965"/>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6</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Batch Size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32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3843376000"/>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7</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Optimizer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Adam</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821145769"/>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8</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Loss Function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Binary-</a:t>
                      </a:r>
                      <a:r>
                        <a:rPr lang="en-ID" sz="1400" kern="1200" dirty="0" err="1">
                          <a:solidFill>
                            <a:srgbClr val="000000"/>
                          </a:solidFill>
                          <a:latin typeface="Bahnschrift" panose="020B0502040204020203" pitchFamily="34" charset="0"/>
                          <a:ea typeface="Yu Mincho" panose="02020400000000000000" pitchFamily="18" charset="-128"/>
                          <a:cs typeface="+mn-cs"/>
                        </a:rPr>
                        <a:t>crossentropy</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800038058"/>
                  </a:ext>
                </a:extLst>
              </a:tr>
              <a:tr h="227920">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9</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Early Stopping Patience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20</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2921479250"/>
                  </a:ext>
                </a:extLst>
              </a:tr>
            </a:tbl>
          </a:graphicData>
        </a:graphic>
      </p:graphicFrame>
      <p:pic>
        <p:nvPicPr>
          <p:cNvPr id="16" name="Picture 15">
            <a:extLst>
              <a:ext uri="{FF2B5EF4-FFF2-40B4-BE49-F238E27FC236}">
                <a16:creationId xmlns:a16="http://schemas.microsoft.com/office/drawing/2014/main" id="{401898C4-BBC6-2089-671B-67BED6B5573E}"/>
              </a:ext>
            </a:extLst>
          </p:cNvPr>
          <p:cNvPicPr>
            <a:picLocks noChangeAspect="1"/>
          </p:cNvPicPr>
          <p:nvPr/>
        </p:nvPicPr>
        <p:blipFill rotWithShape="1">
          <a:blip r:embed="rId4">
            <a:extLst>
              <a:ext uri="{28A0092B-C50C-407E-A947-70E740481C1C}">
                <a14:useLocalDpi xmlns:a14="http://schemas.microsoft.com/office/drawing/2010/main" val="0"/>
              </a:ext>
            </a:extLst>
          </a:blip>
          <a:srcRect t="6867"/>
          <a:stretch/>
        </p:blipFill>
        <p:spPr bwMode="auto">
          <a:xfrm>
            <a:off x="6210015" y="809842"/>
            <a:ext cx="3832994" cy="2815856"/>
          </a:xfrm>
          <a:prstGeom prst="rect">
            <a:avLst/>
          </a:prstGeom>
          <a:noFill/>
          <a:ln>
            <a:noFill/>
          </a:ln>
          <a:extLst>
            <a:ext uri="{53640926-AAD7-44D8-BBD7-CCE9431645EC}">
              <a14:shadowObscured xmlns:a14="http://schemas.microsoft.com/office/drawing/2010/main"/>
            </a:ext>
          </a:extLst>
        </p:spPr>
      </p:pic>
      <p:pic>
        <p:nvPicPr>
          <p:cNvPr id="18" name="Picture 17" descr="A graph of a graph showing the results of a training&#10;&#10;Description automatically generated">
            <a:extLst>
              <a:ext uri="{FF2B5EF4-FFF2-40B4-BE49-F238E27FC236}">
                <a16:creationId xmlns:a16="http://schemas.microsoft.com/office/drawing/2014/main" id="{A8A58353-475C-E2F7-D8CE-2B0D80B6314E}"/>
              </a:ext>
            </a:extLst>
          </p:cNvPr>
          <p:cNvPicPr>
            <a:picLocks noChangeAspect="1"/>
          </p:cNvPicPr>
          <p:nvPr/>
        </p:nvPicPr>
        <p:blipFill rotWithShape="1">
          <a:blip r:embed="rId5">
            <a:extLst>
              <a:ext uri="{28A0092B-C50C-407E-A947-70E740481C1C}">
                <a14:useLocalDpi xmlns:a14="http://schemas.microsoft.com/office/drawing/2010/main" val="0"/>
              </a:ext>
            </a:extLst>
          </a:blip>
          <a:srcRect t="7011"/>
          <a:stretch/>
        </p:blipFill>
        <p:spPr bwMode="auto">
          <a:xfrm>
            <a:off x="6210015" y="3700841"/>
            <a:ext cx="3832987" cy="2824832"/>
          </a:xfrm>
          <a:prstGeom prst="rect">
            <a:avLst/>
          </a:prstGeom>
          <a:noFill/>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7C0FBFD-41BC-CB46-23F0-C4A301C29592}"/>
              </a:ext>
            </a:extLst>
          </p:cNvPr>
          <p:cNvSpPr txBox="1">
            <a:spLocks/>
          </p:cNvSpPr>
          <p:nvPr/>
        </p:nvSpPr>
        <p:spPr>
          <a:xfrm>
            <a:off x="482100" y="1280284"/>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Model Klasifikasi Berbasis Gambar</a:t>
            </a:r>
          </a:p>
        </p:txBody>
      </p:sp>
      <p:sp>
        <p:nvSpPr>
          <p:cNvPr id="7" name="TextBox 6">
            <a:extLst>
              <a:ext uri="{FF2B5EF4-FFF2-40B4-BE49-F238E27FC236}">
                <a16:creationId xmlns:a16="http://schemas.microsoft.com/office/drawing/2014/main" id="{DF27E21E-330F-EE47-B91A-CB007CF86B94}"/>
              </a:ext>
            </a:extLst>
          </p:cNvPr>
          <p:cNvSpPr txBox="1"/>
          <p:nvPr/>
        </p:nvSpPr>
        <p:spPr>
          <a:xfrm>
            <a:off x="482099" y="1857700"/>
            <a:ext cx="3098811" cy="338554"/>
          </a:xfrm>
          <a:prstGeom prst="rect">
            <a:avLst/>
          </a:prstGeom>
          <a:noFill/>
        </p:spPr>
        <p:txBody>
          <a:bodyPr wrap="square">
            <a:spAutoFit/>
          </a:bodyPr>
          <a:lstStyle/>
          <a:p>
            <a:pPr algn="just"/>
            <a:r>
              <a:rPr lang="en-US" sz="1600" dirty="0">
                <a:solidFill>
                  <a:srgbClr val="000000"/>
                </a:solidFill>
                <a:latin typeface="Bahnschrift" panose="020B0502040204020203" pitchFamily="34" charset="0"/>
                <a:ea typeface="Yu Mincho" panose="02020400000000000000" pitchFamily="18" charset="-128"/>
              </a:rPr>
              <a:t>Parameter Model CNN 1D</a:t>
            </a:r>
          </a:p>
        </p:txBody>
      </p:sp>
      <p:sp>
        <p:nvSpPr>
          <p:cNvPr id="8" name="TextBox 7">
            <a:extLst>
              <a:ext uri="{FF2B5EF4-FFF2-40B4-BE49-F238E27FC236}">
                <a16:creationId xmlns:a16="http://schemas.microsoft.com/office/drawing/2014/main" id="{AF19FB90-535C-8EB1-F04E-FC79242F5C31}"/>
              </a:ext>
            </a:extLst>
          </p:cNvPr>
          <p:cNvSpPr txBox="1"/>
          <p:nvPr/>
        </p:nvSpPr>
        <p:spPr>
          <a:xfrm>
            <a:off x="560359" y="4736530"/>
            <a:ext cx="3098811" cy="338554"/>
          </a:xfrm>
          <a:prstGeom prst="rect">
            <a:avLst/>
          </a:prstGeom>
          <a:noFill/>
        </p:spPr>
        <p:txBody>
          <a:bodyPr wrap="square">
            <a:spAutoFit/>
          </a:bodyPr>
          <a:lstStyle/>
          <a:p>
            <a:pPr algn="just"/>
            <a:r>
              <a:rPr lang="en-US" sz="1600" dirty="0">
                <a:solidFill>
                  <a:srgbClr val="000000"/>
                </a:solidFill>
                <a:latin typeface="Bahnschrift" panose="020B0502040204020203" pitchFamily="34" charset="0"/>
                <a:ea typeface="Yu Mincho" panose="02020400000000000000" pitchFamily="18" charset="-128"/>
              </a:rPr>
              <a:t>Evaluasi Model CNN 2D</a:t>
            </a:r>
          </a:p>
        </p:txBody>
      </p:sp>
      <p:graphicFrame>
        <p:nvGraphicFramePr>
          <p:cNvPr id="9" name="Table 8">
            <a:extLst>
              <a:ext uri="{FF2B5EF4-FFF2-40B4-BE49-F238E27FC236}">
                <a16:creationId xmlns:a16="http://schemas.microsoft.com/office/drawing/2014/main" id="{6BF6101B-495E-7095-184E-35490BCFEF3E}"/>
              </a:ext>
            </a:extLst>
          </p:cNvPr>
          <p:cNvGraphicFramePr>
            <a:graphicFrameLocks noGrp="1"/>
          </p:cNvGraphicFramePr>
          <p:nvPr>
            <p:extLst>
              <p:ext uri="{D42A27DB-BD31-4B8C-83A1-F6EECF244321}">
                <p14:modId xmlns:p14="http://schemas.microsoft.com/office/powerpoint/2010/main" val="100301746"/>
              </p:ext>
            </p:extLst>
          </p:nvPr>
        </p:nvGraphicFramePr>
        <p:xfrm>
          <a:off x="590073" y="5113257"/>
          <a:ext cx="4987171" cy="488188"/>
        </p:xfrm>
        <a:graphic>
          <a:graphicData uri="http://schemas.openxmlformats.org/drawingml/2006/table">
            <a:tbl>
              <a:tblPr/>
              <a:tblGrid>
                <a:gridCol w="1732161">
                  <a:extLst>
                    <a:ext uri="{9D8B030D-6E8A-4147-A177-3AD203B41FA5}">
                      <a16:colId xmlns:a16="http://schemas.microsoft.com/office/drawing/2014/main" val="2596388880"/>
                    </a:ext>
                  </a:extLst>
                </a:gridCol>
                <a:gridCol w="1376928">
                  <a:extLst>
                    <a:ext uri="{9D8B030D-6E8A-4147-A177-3AD203B41FA5}">
                      <a16:colId xmlns:a16="http://schemas.microsoft.com/office/drawing/2014/main" val="2044693654"/>
                    </a:ext>
                  </a:extLst>
                </a:gridCol>
                <a:gridCol w="1878082">
                  <a:extLst>
                    <a:ext uri="{9D8B030D-6E8A-4147-A177-3AD203B41FA5}">
                      <a16:colId xmlns:a16="http://schemas.microsoft.com/office/drawing/2014/main" val="2448293996"/>
                    </a:ext>
                  </a:extLst>
                </a:gridCol>
              </a:tblGrid>
              <a:tr h="229221">
                <a:tc>
                  <a:txBody>
                    <a:bodyPr/>
                    <a:lstStyle/>
                    <a:p>
                      <a:pPr marL="0" marR="0"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Metode</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Akurasi</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AUC</a:t>
                      </a:r>
                    </a:p>
                  </a:txBody>
                  <a:tcPr marL="68580" marR="68580" marT="0" marB="36195"/>
                </a:tc>
                <a:extLst>
                  <a:ext uri="{0D108BD9-81ED-4DB2-BD59-A6C34878D82A}">
                    <a16:rowId xmlns:a16="http://schemas.microsoft.com/office/drawing/2014/main" val="3875020067"/>
                  </a:ext>
                </a:extLst>
              </a:tr>
              <a:tr h="229221">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Model CNN 2D</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0,9845</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0,9984</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788108037"/>
                  </a:ext>
                </a:extLst>
              </a:tr>
            </a:tbl>
          </a:graphicData>
        </a:graphic>
      </p:graphicFrame>
      <p:sp>
        <p:nvSpPr>
          <p:cNvPr id="10" name="TextBox 9">
            <a:extLst>
              <a:ext uri="{FF2B5EF4-FFF2-40B4-BE49-F238E27FC236}">
                <a16:creationId xmlns:a16="http://schemas.microsoft.com/office/drawing/2014/main" id="{72A03457-C92C-28FC-7606-2EB37D625A5A}"/>
              </a:ext>
            </a:extLst>
          </p:cNvPr>
          <p:cNvSpPr txBox="1"/>
          <p:nvPr/>
        </p:nvSpPr>
        <p:spPr>
          <a:xfrm>
            <a:off x="10178101" y="2026977"/>
            <a:ext cx="1749278" cy="523220"/>
          </a:xfrm>
          <a:prstGeom prst="rect">
            <a:avLst/>
          </a:prstGeom>
          <a:noFill/>
        </p:spPr>
        <p:txBody>
          <a:bodyPr wrap="square">
            <a:spAutoFit/>
          </a:bodyPr>
          <a:lstStyle/>
          <a:p>
            <a:pPr marL="285750" indent="-285750" algn="just">
              <a:buFont typeface="Arial" panose="020B0604020202020204" pitchFamily="34" charset="0"/>
              <a:buChar char="•"/>
            </a:pPr>
            <a:r>
              <a:rPr lang="en-US" sz="1400" i="1" dirty="0">
                <a:solidFill>
                  <a:srgbClr val="000000"/>
                </a:solidFill>
                <a:latin typeface="Bahnschrift" panose="020B0502040204020203" pitchFamily="34" charset="0"/>
                <a:ea typeface="Yu Mincho" panose="02020400000000000000" pitchFamily="18" charset="-128"/>
              </a:rPr>
              <a:t>Teridentifikasi Underfit</a:t>
            </a:r>
          </a:p>
        </p:txBody>
      </p:sp>
    </p:spTree>
    <p:extLst>
      <p:ext uri="{BB962C8B-B14F-4D97-AF65-F5344CB8AC3E}">
        <p14:creationId xmlns:p14="http://schemas.microsoft.com/office/powerpoint/2010/main" val="232981365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fontScale="90000"/>
          </a:bodyPr>
          <a:lstStyle/>
          <a:p>
            <a:r>
              <a:rPr lang="en-US" sz="2800" dirty="0">
                <a:solidFill>
                  <a:schemeClr val="accent5">
                    <a:lumMod val="75000"/>
                  </a:schemeClr>
                </a:solidFill>
                <a:latin typeface="Bahnschrift SemiBold" panose="020B0502040204020203" pitchFamily="34" charset="0"/>
              </a:rPr>
              <a:t>ANALISIS MODEL KLASIFIKASI BERITA</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5" name="Table 4">
            <a:extLst>
              <a:ext uri="{FF2B5EF4-FFF2-40B4-BE49-F238E27FC236}">
                <a16:creationId xmlns:a16="http://schemas.microsoft.com/office/drawing/2014/main" id="{BDD67FAA-568F-8E5A-8264-CF826544673F}"/>
              </a:ext>
            </a:extLst>
          </p:cNvPr>
          <p:cNvGraphicFramePr>
            <a:graphicFrameLocks noGrp="1"/>
          </p:cNvGraphicFramePr>
          <p:nvPr>
            <p:extLst>
              <p:ext uri="{D42A27DB-BD31-4B8C-83A1-F6EECF244321}">
                <p14:modId xmlns:p14="http://schemas.microsoft.com/office/powerpoint/2010/main" val="441948256"/>
              </p:ext>
            </p:extLst>
          </p:nvPr>
        </p:nvGraphicFramePr>
        <p:xfrm>
          <a:off x="540926" y="2288477"/>
          <a:ext cx="5126901" cy="1708658"/>
        </p:xfrm>
        <a:graphic>
          <a:graphicData uri="http://schemas.openxmlformats.org/drawingml/2006/table">
            <a:tbl>
              <a:tblPr/>
              <a:tblGrid>
                <a:gridCol w="410232">
                  <a:extLst>
                    <a:ext uri="{9D8B030D-6E8A-4147-A177-3AD203B41FA5}">
                      <a16:colId xmlns:a16="http://schemas.microsoft.com/office/drawing/2014/main" val="1244729172"/>
                    </a:ext>
                  </a:extLst>
                </a:gridCol>
                <a:gridCol w="2460270">
                  <a:extLst>
                    <a:ext uri="{9D8B030D-6E8A-4147-A177-3AD203B41FA5}">
                      <a16:colId xmlns:a16="http://schemas.microsoft.com/office/drawing/2014/main" val="3624643809"/>
                    </a:ext>
                  </a:extLst>
                </a:gridCol>
                <a:gridCol w="2256399">
                  <a:extLst>
                    <a:ext uri="{9D8B030D-6E8A-4147-A177-3AD203B41FA5}">
                      <a16:colId xmlns:a16="http://schemas.microsoft.com/office/drawing/2014/main" val="652819314"/>
                    </a:ext>
                  </a:extLst>
                </a:gridCol>
              </a:tblGrid>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No</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Keterangan Parameter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Nilai Parameter</a:t>
                      </a:r>
                    </a:p>
                  </a:txBody>
                  <a:tcPr marL="68580" marR="68580" marT="0" marB="36195" anchor="ctr"/>
                </a:tc>
                <a:extLst>
                  <a:ext uri="{0D108BD9-81ED-4DB2-BD59-A6C34878D82A}">
                    <a16:rowId xmlns:a16="http://schemas.microsoft.com/office/drawing/2014/main" val="271019969"/>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1</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 Jumlah Block</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2(CNN 1D dan CNN 2D)</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3690130969"/>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Jumlah Epoch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100</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131140136"/>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3</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Batch Size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32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216466674"/>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4</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Optimizer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Adam</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1683575705"/>
                  </a:ext>
                </a:extLst>
              </a:tr>
              <a:tr h="22792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5</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Loss Function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Binary-crossentropy</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768948965"/>
                  </a:ext>
                </a:extLst>
              </a:tr>
              <a:tr h="221490">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6</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just">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Early Stopping Patience </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234315" indent="0" algn="just">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20</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extLst>
                  <a:ext uri="{0D108BD9-81ED-4DB2-BD59-A6C34878D82A}">
                    <a16:rowId xmlns:a16="http://schemas.microsoft.com/office/drawing/2014/main" val="3843376000"/>
                  </a:ext>
                </a:extLst>
              </a:tr>
            </a:tbl>
          </a:graphicData>
        </a:graphic>
      </p:graphicFrame>
      <p:pic>
        <p:nvPicPr>
          <p:cNvPr id="8" name="Picture 7" descr="A graph with blue lines and red lines&#10;&#10;Description automatically generated">
            <a:extLst>
              <a:ext uri="{FF2B5EF4-FFF2-40B4-BE49-F238E27FC236}">
                <a16:creationId xmlns:a16="http://schemas.microsoft.com/office/drawing/2014/main" id="{5DC16C58-0CE4-69D1-9895-2A57979850E9}"/>
              </a:ext>
            </a:extLst>
          </p:cNvPr>
          <p:cNvPicPr>
            <a:picLocks noChangeAspect="1"/>
          </p:cNvPicPr>
          <p:nvPr/>
        </p:nvPicPr>
        <p:blipFill rotWithShape="1">
          <a:blip r:embed="rId4">
            <a:extLst>
              <a:ext uri="{28A0092B-C50C-407E-A947-70E740481C1C}">
                <a14:useLocalDpi xmlns:a14="http://schemas.microsoft.com/office/drawing/2010/main" val="0"/>
              </a:ext>
            </a:extLst>
          </a:blip>
          <a:srcRect t="6947"/>
          <a:stretch/>
        </p:blipFill>
        <p:spPr bwMode="auto">
          <a:xfrm>
            <a:off x="6186582" y="1064147"/>
            <a:ext cx="3702417" cy="2719114"/>
          </a:xfrm>
          <a:prstGeom prst="rect">
            <a:avLst/>
          </a:prstGeom>
          <a:noFill/>
          <a:ln>
            <a:noFill/>
          </a:ln>
          <a:extLst>
            <a:ext uri="{53640926-AAD7-44D8-BBD7-CCE9431645EC}">
              <a14:shadowObscured xmlns:a14="http://schemas.microsoft.com/office/drawing/2010/main"/>
            </a:ext>
          </a:extLst>
        </p:spPr>
      </p:pic>
      <p:pic>
        <p:nvPicPr>
          <p:cNvPr id="9" name="Picture 8" descr="A graph of a graph&#10;&#10;Description automatically generated">
            <a:extLst>
              <a:ext uri="{FF2B5EF4-FFF2-40B4-BE49-F238E27FC236}">
                <a16:creationId xmlns:a16="http://schemas.microsoft.com/office/drawing/2014/main" id="{EE25FE4E-4FA3-7F37-E0A1-F176A7DE4B34}"/>
              </a:ext>
            </a:extLst>
          </p:cNvPr>
          <p:cNvPicPr>
            <a:picLocks noChangeAspect="1"/>
          </p:cNvPicPr>
          <p:nvPr/>
        </p:nvPicPr>
        <p:blipFill rotWithShape="1">
          <a:blip r:embed="rId5">
            <a:extLst>
              <a:ext uri="{28A0092B-C50C-407E-A947-70E740481C1C}">
                <a14:useLocalDpi xmlns:a14="http://schemas.microsoft.com/office/drawing/2010/main" val="0"/>
              </a:ext>
            </a:extLst>
          </a:blip>
          <a:srcRect t="6601"/>
          <a:stretch/>
        </p:blipFill>
        <p:spPr bwMode="auto">
          <a:xfrm>
            <a:off x="6186582" y="3823531"/>
            <a:ext cx="3702422" cy="2624706"/>
          </a:xfrm>
          <a:prstGeom prst="rect">
            <a:avLst/>
          </a:prstGeom>
          <a:noFill/>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AC4A6608-B63F-BDEE-AE7D-72358068D66F}"/>
              </a:ext>
            </a:extLst>
          </p:cNvPr>
          <p:cNvSpPr txBox="1">
            <a:spLocks/>
          </p:cNvSpPr>
          <p:nvPr/>
        </p:nvSpPr>
        <p:spPr>
          <a:xfrm>
            <a:off x="482100" y="1280284"/>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Model Klasifikasi Berbasis Teks dan Gambar</a:t>
            </a:r>
          </a:p>
        </p:txBody>
      </p:sp>
      <p:sp>
        <p:nvSpPr>
          <p:cNvPr id="7" name="TextBox 6">
            <a:extLst>
              <a:ext uri="{FF2B5EF4-FFF2-40B4-BE49-F238E27FC236}">
                <a16:creationId xmlns:a16="http://schemas.microsoft.com/office/drawing/2014/main" id="{89AC6065-6962-B3C5-794B-ABF865454F85}"/>
              </a:ext>
            </a:extLst>
          </p:cNvPr>
          <p:cNvSpPr txBox="1"/>
          <p:nvPr/>
        </p:nvSpPr>
        <p:spPr>
          <a:xfrm>
            <a:off x="482099" y="1857700"/>
            <a:ext cx="3835711" cy="338554"/>
          </a:xfrm>
          <a:prstGeom prst="rect">
            <a:avLst/>
          </a:prstGeom>
          <a:noFill/>
        </p:spPr>
        <p:txBody>
          <a:bodyPr wrap="square">
            <a:spAutoFit/>
          </a:bodyPr>
          <a:lstStyle/>
          <a:p>
            <a:pPr algn="just"/>
            <a:r>
              <a:rPr lang="en-US" sz="1600" dirty="0">
                <a:solidFill>
                  <a:srgbClr val="000000"/>
                </a:solidFill>
                <a:latin typeface="Bahnschrift" panose="020B0502040204020203" pitchFamily="34" charset="0"/>
                <a:ea typeface="Yu Mincho" panose="02020400000000000000" pitchFamily="18" charset="-128"/>
              </a:rPr>
              <a:t>Parameter Model CNN Kombinasi</a:t>
            </a:r>
          </a:p>
        </p:txBody>
      </p:sp>
      <p:sp>
        <p:nvSpPr>
          <p:cNvPr id="10" name="TextBox 9">
            <a:extLst>
              <a:ext uri="{FF2B5EF4-FFF2-40B4-BE49-F238E27FC236}">
                <a16:creationId xmlns:a16="http://schemas.microsoft.com/office/drawing/2014/main" id="{FEE304B3-7108-4985-407B-283BAB873B46}"/>
              </a:ext>
            </a:extLst>
          </p:cNvPr>
          <p:cNvSpPr txBox="1"/>
          <p:nvPr/>
        </p:nvSpPr>
        <p:spPr>
          <a:xfrm>
            <a:off x="560359" y="4736530"/>
            <a:ext cx="3098811" cy="338554"/>
          </a:xfrm>
          <a:prstGeom prst="rect">
            <a:avLst/>
          </a:prstGeom>
          <a:noFill/>
        </p:spPr>
        <p:txBody>
          <a:bodyPr wrap="square">
            <a:spAutoFit/>
          </a:bodyPr>
          <a:lstStyle/>
          <a:p>
            <a:pPr algn="just"/>
            <a:r>
              <a:rPr lang="en-US" sz="1600" dirty="0">
                <a:solidFill>
                  <a:srgbClr val="000000"/>
                </a:solidFill>
                <a:latin typeface="Bahnschrift" panose="020B0502040204020203" pitchFamily="34" charset="0"/>
                <a:ea typeface="Yu Mincho" panose="02020400000000000000" pitchFamily="18" charset="-128"/>
              </a:rPr>
              <a:t>Evaluasi Model CNN Kombinasi</a:t>
            </a:r>
          </a:p>
        </p:txBody>
      </p:sp>
      <p:graphicFrame>
        <p:nvGraphicFramePr>
          <p:cNvPr id="11" name="Table 10">
            <a:extLst>
              <a:ext uri="{FF2B5EF4-FFF2-40B4-BE49-F238E27FC236}">
                <a16:creationId xmlns:a16="http://schemas.microsoft.com/office/drawing/2014/main" id="{6357E50F-DB7A-61A5-5FE5-213603C1895A}"/>
              </a:ext>
            </a:extLst>
          </p:cNvPr>
          <p:cNvGraphicFramePr>
            <a:graphicFrameLocks noGrp="1"/>
          </p:cNvGraphicFramePr>
          <p:nvPr>
            <p:extLst>
              <p:ext uri="{D42A27DB-BD31-4B8C-83A1-F6EECF244321}">
                <p14:modId xmlns:p14="http://schemas.microsoft.com/office/powerpoint/2010/main" val="3243492906"/>
              </p:ext>
            </p:extLst>
          </p:nvPr>
        </p:nvGraphicFramePr>
        <p:xfrm>
          <a:off x="304801" y="5113257"/>
          <a:ext cx="5507418" cy="488188"/>
        </p:xfrm>
        <a:graphic>
          <a:graphicData uri="http://schemas.openxmlformats.org/drawingml/2006/table">
            <a:tbl>
              <a:tblPr/>
              <a:tblGrid>
                <a:gridCol w="1912855">
                  <a:extLst>
                    <a:ext uri="{9D8B030D-6E8A-4147-A177-3AD203B41FA5}">
                      <a16:colId xmlns:a16="http://schemas.microsoft.com/office/drawing/2014/main" val="2596388880"/>
                    </a:ext>
                  </a:extLst>
                </a:gridCol>
                <a:gridCol w="1520565">
                  <a:extLst>
                    <a:ext uri="{9D8B030D-6E8A-4147-A177-3AD203B41FA5}">
                      <a16:colId xmlns:a16="http://schemas.microsoft.com/office/drawing/2014/main" val="2044693654"/>
                    </a:ext>
                  </a:extLst>
                </a:gridCol>
                <a:gridCol w="2073998">
                  <a:extLst>
                    <a:ext uri="{9D8B030D-6E8A-4147-A177-3AD203B41FA5}">
                      <a16:colId xmlns:a16="http://schemas.microsoft.com/office/drawing/2014/main" val="2448293996"/>
                    </a:ext>
                  </a:extLst>
                </a:gridCol>
              </a:tblGrid>
              <a:tr h="229221">
                <a:tc>
                  <a:txBody>
                    <a:bodyPr/>
                    <a:lstStyle/>
                    <a:p>
                      <a:pPr marL="0" marR="0"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Metode</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Akurasi</a:t>
                      </a:r>
                    </a:p>
                  </a:txBody>
                  <a:tcPr marL="68580" marR="68580" marT="0" marB="36195" anchor="ctr"/>
                </a:tc>
                <a:tc>
                  <a:txBody>
                    <a:bodyPr/>
                    <a:lstStyle/>
                    <a:p>
                      <a:pPr marL="0" marR="234315" indent="0" algn="ctr">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AUC</a:t>
                      </a:r>
                    </a:p>
                  </a:txBody>
                  <a:tcPr marL="68580" marR="68580" marT="0" marB="36195"/>
                </a:tc>
                <a:extLst>
                  <a:ext uri="{0D108BD9-81ED-4DB2-BD59-A6C34878D82A}">
                    <a16:rowId xmlns:a16="http://schemas.microsoft.com/office/drawing/2014/main" val="3875020067"/>
                  </a:ext>
                </a:extLst>
              </a:tr>
              <a:tr h="229221">
                <a:tc>
                  <a:txBody>
                    <a:bodyPr/>
                    <a:lstStyle/>
                    <a:p>
                      <a:pPr marL="0" marR="0"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Model CNN Kombinasi</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0,9935</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234315" indent="0" algn="ctr">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0,9985</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788108037"/>
                  </a:ext>
                </a:extLst>
              </a:tr>
            </a:tbl>
          </a:graphicData>
        </a:graphic>
      </p:graphicFrame>
      <p:sp>
        <p:nvSpPr>
          <p:cNvPr id="12" name="TextBox 11">
            <a:extLst>
              <a:ext uri="{FF2B5EF4-FFF2-40B4-BE49-F238E27FC236}">
                <a16:creationId xmlns:a16="http://schemas.microsoft.com/office/drawing/2014/main" id="{7A82A355-E340-DD8E-4FB0-A38064D39806}"/>
              </a:ext>
            </a:extLst>
          </p:cNvPr>
          <p:cNvSpPr txBox="1"/>
          <p:nvPr/>
        </p:nvSpPr>
        <p:spPr>
          <a:xfrm>
            <a:off x="10178101" y="2026977"/>
            <a:ext cx="1749278" cy="523220"/>
          </a:xfrm>
          <a:prstGeom prst="rect">
            <a:avLst/>
          </a:prstGeom>
          <a:noFill/>
        </p:spPr>
        <p:txBody>
          <a:bodyPr wrap="square">
            <a:spAutoFit/>
          </a:bodyPr>
          <a:lstStyle/>
          <a:p>
            <a:pPr marL="285750" indent="-285750" algn="just">
              <a:buFont typeface="Arial" panose="020B0604020202020204" pitchFamily="34" charset="0"/>
              <a:buChar char="•"/>
            </a:pPr>
            <a:r>
              <a:rPr lang="en-US" sz="1400" i="1" dirty="0">
                <a:solidFill>
                  <a:srgbClr val="000000"/>
                </a:solidFill>
                <a:latin typeface="Bahnschrift" panose="020B0502040204020203" pitchFamily="34" charset="0"/>
                <a:ea typeface="Yu Mincho" panose="02020400000000000000" pitchFamily="18" charset="-128"/>
              </a:rPr>
              <a:t>Teridentifikasi Underfit</a:t>
            </a:r>
          </a:p>
        </p:txBody>
      </p:sp>
    </p:spTree>
    <p:extLst>
      <p:ext uri="{BB962C8B-B14F-4D97-AF65-F5344CB8AC3E}">
        <p14:creationId xmlns:p14="http://schemas.microsoft.com/office/powerpoint/2010/main" val="316256852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449595" y="-545619"/>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04D6CFE8-373A-49D6-87B5-F04B68FC5CD0}"/>
              </a:ext>
            </a:extLst>
          </p:cNvPr>
          <p:cNvCxnSpPr>
            <a:cxnSpLocks/>
          </p:cNvCxnSpPr>
          <p:nvPr/>
        </p:nvCxnSpPr>
        <p:spPr>
          <a:xfrm>
            <a:off x="6096000" y="-114300"/>
            <a:ext cx="0" cy="7200900"/>
          </a:xfrm>
          <a:prstGeom prst="line">
            <a:avLst/>
          </a:prstGeom>
          <a:ln w="38100" cap="flat" cmpd="sng" algn="ctr">
            <a:solidFill>
              <a:srgbClr val="0070C0"/>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Title 1">
            <a:extLst>
              <a:ext uri="{FF2B5EF4-FFF2-40B4-BE49-F238E27FC236}">
                <a16:creationId xmlns:a16="http://schemas.microsoft.com/office/drawing/2014/main" id="{6A6D639F-47F8-42B3-AF06-E77F4F8021DB}"/>
              </a:ext>
            </a:extLst>
          </p:cNvPr>
          <p:cNvSpPr>
            <a:spLocks noGrp="1"/>
          </p:cNvSpPr>
          <p:nvPr>
            <p:ph type="title"/>
          </p:nvPr>
        </p:nvSpPr>
        <p:spPr>
          <a:xfrm>
            <a:off x="482101" y="753377"/>
            <a:ext cx="5015128" cy="794197"/>
          </a:xfrm>
        </p:spPr>
        <p:txBody>
          <a:bodyPr>
            <a:normAutofit/>
          </a:bodyPr>
          <a:lstStyle/>
          <a:p>
            <a:r>
              <a:rPr lang="en-US" sz="2800" dirty="0">
                <a:solidFill>
                  <a:schemeClr val="accent5">
                    <a:lumMod val="75000"/>
                  </a:schemeClr>
                </a:solidFill>
                <a:latin typeface="Bahnschrift SemiBold" panose="020B0502040204020203" pitchFamily="34" charset="0"/>
              </a:rPr>
              <a:t>MODEL EVALUASI</a:t>
            </a:r>
          </a:p>
        </p:txBody>
      </p:sp>
      <p:sp>
        <p:nvSpPr>
          <p:cNvPr id="24" name="TextBox 23">
            <a:extLst>
              <a:ext uri="{FF2B5EF4-FFF2-40B4-BE49-F238E27FC236}">
                <a16:creationId xmlns:a16="http://schemas.microsoft.com/office/drawing/2014/main" id="{7543532B-E6F8-48A6-95D2-CA6C0B8661E5}"/>
              </a:ext>
            </a:extLst>
          </p:cNvPr>
          <p:cNvSpPr txBox="1"/>
          <p:nvPr/>
        </p:nvSpPr>
        <p:spPr>
          <a:xfrm>
            <a:off x="579331" y="402123"/>
            <a:ext cx="1805244" cy="369332"/>
          </a:xfrm>
          <a:prstGeom prst="rect">
            <a:avLst/>
          </a:prstGeom>
          <a:solidFill>
            <a:schemeClr val="accent5">
              <a:lumMod val="75000"/>
            </a:schemeClr>
          </a:solidFill>
        </p:spPr>
        <p:txBody>
          <a:bodyPr wrap="square" rtlCol="0">
            <a:spAutoFit/>
          </a:bodyPr>
          <a:lstStyle/>
          <a:p>
            <a:r>
              <a:rPr lang="en-US" dirty="0">
                <a:solidFill>
                  <a:schemeClr val="bg1"/>
                </a:solidFill>
                <a:latin typeface="Bahnschrift SemiBold" panose="020B0502040204020203" pitchFamily="34" charset="0"/>
              </a:rPr>
              <a:t>BAB IV</a:t>
            </a:r>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sp>
        <p:nvSpPr>
          <p:cNvPr id="25" name="Title 1">
            <a:extLst>
              <a:ext uri="{FF2B5EF4-FFF2-40B4-BE49-F238E27FC236}">
                <a16:creationId xmlns:a16="http://schemas.microsoft.com/office/drawing/2014/main" id="{E896F581-4054-2A90-C805-AA9F154216F2}"/>
              </a:ext>
            </a:extLst>
          </p:cNvPr>
          <p:cNvSpPr txBox="1">
            <a:spLocks/>
          </p:cNvSpPr>
          <p:nvPr/>
        </p:nvSpPr>
        <p:spPr>
          <a:xfrm>
            <a:off x="482101" y="1340159"/>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accent5">
                    <a:lumMod val="75000"/>
                  </a:schemeClr>
                </a:solidFill>
                <a:latin typeface="Bahnschrift SemiBold" panose="020B0502040204020203" pitchFamily="34" charset="0"/>
              </a:rPr>
              <a:t>Model Klasifikasi Berbasis Teks dan Gambar</a:t>
            </a:r>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graphicFrame>
        <p:nvGraphicFramePr>
          <p:cNvPr id="7" name="Table 6">
            <a:extLst>
              <a:ext uri="{FF2B5EF4-FFF2-40B4-BE49-F238E27FC236}">
                <a16:creationId xmlns:a16="http://schemas.microsoft.com/office/drawing/2014/main" id="{D9A11FBD-CDE2-D6E9-A583-6428AA3E7B53}"/>
              </a:ext>
            </a:extLst>
          </p:cNvPr>
          <p:cNvGraphicFramePr>
            <a:graphicFrameLocks noGrp="1"/>
          </p:cNvGraphicFramePr>
          <p:nvPr>
            <p:extLst>
              <p:ext uri="{D42A27DB-BD31-4B8C-83A1-F6EECF244321}">
                <p14:modId xmlns:p14="http://schemas.microsoft.com/office/powerpoint/2010/main" val="870312907"/>
              </p:ext>
            </p:extLst>
          </p:nvPr>
        </p:nvGraphicFramePr>
        <p:xfrm>
          <a:off x="579331" y="1957614"/>
          <a:ext cx="5424860" cy="2149413"/>
        </p:xfrm>
        <a:graphic>
          <a:graphicData uri="http://schemas.openxmlformats.org/drawingml/2006/table">
            <a:tbl>
              <a:tblPr/>
              <a:tblGrid>
                <a:gridCol w="1447496">
                  <a:extLst>
                    <a:ext uri="{9D8B030D-6E8A-4147-A177-3AD203B41FA5}">
                      <a16:colId xmlns:a16="http://schemas.microsoft.com/office/drawing/2014/main" val="3363441015"/>
                    </a:ext>
                  </a:extLst>
                </a:gridCol>
                <a:gridCol w="968825">
                  <a:extLst>
                    <a:ext uri="{9D8B030D-6E8A-4147-A177-3AD203B41FA5}">
                      <a16:colId xmlns:a16="http://schemas.microsoft.com/office/drawing/2014/main" val="2315214288"/>
                    </a:ext>
                  </a:extLst>
                </a:gridCol>
                <a:gridCol w="992453">
                  <a:extLst>
                    <a:ext uri="{9D8B030D-6E8A-4147-A177-3AD203B41FA5}">
                      <a16:colId xmlns:a16="http://schemas.microsoft.com/office/drawing/2014/main" val="3595470283"/>
                    </a:ext>
                  </a:extLst>
                </a:gridCol>
                <a:gridCol w="1132711">
                  <a:extLst>
                    <a:ext uri="{9D8B030D-6E8A-4147-A177-3AD203B41FA5}">
                      <a16:colId xmlns:a16="http://schemas.microsoft.com/office/drawing/2014/main" val="2379669534"/>
                    </a:ext>
                  </a:extLst>
                </a:gridCol>
                <a:gridCol w="883375">
                  <a:extLst>
                    <a:ext uri="{9D8B030D-6E8A-4147-A177-3AD203B41FA5}">
                      <a16:colId xmlns:a16="http://schemas.microsoft.com/office/drawing/2014/main" val="2147187565"/>
                    </a:ext>
                  </a:extLst>
                </a:gridCol>
              </a:tblGrid>
              <a:tr h="455848">
                <a:tc>
                  <a:txBody>
                    <a:bodyPr/>
                    <a:lstStyle/>
                    <a:p>
                      <a:pPr marL="0" marR="0" indent="0" algn="ctr" defTabSz="914400" rtl="0" eaLnBrk="1" latinLnBrk="0" hangingPunct="1">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Metode</a:t>
                      </a: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Akurasi</a:t>
                      </a: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AUC</a:t>
                      </a: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Jenis Model</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Jenis Input</a:t>
                      </a:r>
                    </a:p>
                  </a:txBody>
                  <a:tcPr marL="68580" marR="68580" marT="0" marB="36195"/>
                </a:tc>
                <a:extLst>
                  <a:ext uri="{0D108BD9-81ED-4DB2-BD59-A6C34878D82A}">
                    <a16:rowId xmlns:a16="http://schemas.microsoft.com/office/drawing/2014/main" val="4228915298"/>
                  </a:ext>
                </a:extLst>
              </a:tr>
              <a:tr h="240702">
                <a:tc>
                  <a:txBody>
                    <a:bodyPr/>
                    <a:lstStyle/>
                    <a:p>
                      <a:pPr marL="0" marR="0" indent="0" algn="ctr" defTabSz="914400" rtl="0" eaLnBrk="1" latinLnBrk="0" hangingPunct="1">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SVM</a:t>
                      </a: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0,552258</a:t>
                      </a: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US" sz="1400" kern="1200" dirty="0">
                          <a:solidFill>
                            <a:srgbClr val="000000"/>
                          </a:solidFill>
                          <a:latin typeface="Bahnschrift" panose="020B0502040204020203" pitchFamily="34" charset="0"/>
                          <a:ea typeface="Yu Mincho" panose="02020400000000000000" pitchFamily="18" charset="-128"/>
                          <a:cs typeface="+mn-cs"/>
                        </a:rPr>
                        <a:t>0,500545</a:t>
                      </a: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Unimodel</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Teks</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3401289048"/>
                  </a:ext>
                </a:extLst>
              </a:tr>
              <a:tr h="240702">
                <a:tc>
                  <a:txBody>
                    <a:bodyPr/>
                    <a:lstStyle/>
                    <a:p>
                      <a:pPr marL="0" marR="0" indent="0" algn="ctr"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Logistic Regression</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0,554838</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0,502881</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dirty="0" err="1">
                          <a:solidFill>
                            <a:srgbClr val="000000"/>
                          </a:solidFill>
                          <a:latin typeface="Bahnschrift" panose="020B0502040204020203" pitchFamily="34" charset="0"/>
                          <a:ea typeface="Yu Mincho" panose="02020400000000000000" pitchFamily="18" charset="-128"/>
                          <a:cs typeface="+mn-cs"/>
                        </a:rPr>
                        <a:t>Unimodel</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Teks</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57683393"/>
                  </a:ext>
                </a:extLst>
              </a:tr>
              <a:tr h="240702">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Model CNN 1D</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0,8232</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0,8817</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Unimodel</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Teks</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1068895367"/>
                  </a:ext>
                </a:extLst>
              </a:tr>
              <a:tr h="240702">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Model CNN 2D</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0,9845</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ctr"/>
                </a:tc>
                <a:tc>
                  <a:txBody>
                    <a:bodyPr/>
                    <a:lstStyle/>
                    <a:p>
                      <a:pPr marL="0" marR="0" indent="0" algn="ctr"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0,9984</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Unimodel</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Gambar</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extLst>
                  <a:ext uri="{0D108BD9-81ED-4DB2-BD59-A6C34878D82A}">
                    <a16:rowId xmlns:a16="http://schemas.microsoft.com/office/drawing/2014/main" val="1828792900"/>
                  </a:ext>
                </a:extLst>
              </a:tr>
              <a:tr h="464898">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Model CNN Kombinasi</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a:solidFill>
                            <a:srgbClr val="000000"/>
                          </a:solidFill>
                          <a:latin typeface="Bahnschrift" panose="020B0502040204020203" pitchFamily="34" charset="0"/>
                          <a:ea typeface="Yu Mincho" panose="02020400000000000000" pitchFamily="18" charset="-128"/>
                          <a:cs typeface="+mn-cs"/>
                        </a:rPr>
                        <a:t>0,9935</a:t>
                      </a:r>
                      <a:endParaRPr lang="en-US" sz="1400" kern="1200">
                        <a:solidFill>
                          <a:srgbClr val="000000"/>
                        </a:solidFill>
                        <a:latin typeface="Bahnschrift" panose="020B0502040204020203" pitchFamily="34" charset="0"/>
                        <a:ea typeface="Yu Mincho" panose="02020400000000000000" pitchFamily="18" charset="-128"/>
                        <a:cs typeface="+mn-cs"/>
                      </a:endParaRPr>
                    </a:p>
                  </a:txBody>
                  <a:tcPr marL="68580" marR="68580" marT="0" marB="36195" anchor="b"/>
                </a:tc>
                <a:tc>
                  <a:txBody>
                    <a:bodyPr/>
                    <a:lstStyle/>
                    <a:p>
                      <a:pPr marL="0" marR="0" indent="0" algn="ctr" defTabSz="914400" rtl="0" eaLnBrk="1" latinLnBrk="0" hangingPunct="1">
                        <a:lnSpc>
                          <a:spcPct val="107000"/>
                        </a:lnSpc>
                        <a:spcBef>
                          <a:spcPts val="0"/>
                        </a:spcBef>
                        <a:spcAft>
                          <a:spcPts val="0"/>
                        </a:spcAft>
                      </a:pPr>
                      <a:r>
                        <a:rPr lang="en-US" sz="1400" kern="1200">
                          <a:solidFill>
                            <a:srgbClr val="000000"/>
                          </a:solidFill>
                          <a:latin typeface="Bahnschrift" panose="020B0502040204020203" pitchFamily="34" charset="0"/>
                          <a:ea typeface="Yu Mincho" panose="02020400000000000000" pitchFamily="18" charset="-128"/>
                          <a:cs typeface="+mn-cs"/>
                        </a:rPr>
                        <a:t>0,9985</a:t>
                      </a: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dirty="0" err="1">
                          <a:solidFill>
                            <a:srgbClr val="000000"/>
                          </a:solidFill>
                          <a:latin typeface="Bahnschrift" panose="020B0502040204020203" pitchFamily="34" charset="0"/>
                          <a:ea typeface="Yu Mincho" panose="02020400000000000000" pitchFamily="18" charset="-128"/>
                          <a:cs typeface="+mn-cs"/>
                        </a:rPr>
                        <a:t>Multimodel</a:t>
                      </a:r>
                      <a:endParaRPr lang="en-US" sz="1400" kern="1200" dirty="0">
                        <a:solidFill>
                          <a:srgbClr val="000000"/>
                        </a:solidFill>
                        <a:latin typeface="Bahnschrift" panose="020B0502040204020203" pitchFamily="34" charset="0"/>
                        <a:ea typeface="Yu Mincho" panose="02020400000000000000" pitchFamily="18" charset="-128"/>
                        <a:cs typeface="+mn-cs"/>
                      </a:endParaRPr>
                    </a:p>
                  </a:txBody>
                  <a:tcPr marL="68580" marR="68580" marT="0" marB="36195"/>
                </a:tc>
                <a:tc>
                  <a:txBody>
                    <a:bodyPr/>
                    <a:lstStyle/>
                    <a:p>
                      <a:pPr marL="0" marR="0" indent="0" algn="ctr" defTabSz="914400" rtl="0" eaLnBrk="1" latinLnBrk="0" hangingPunct="1">
                        <a:lnSpc>
                          <a:spcPct val="107000"/>
                        </a:lnSpc>
                        <a:spcBef>
                          <a:spcPts val="0"/>
                        </a:spcBef>
                        <a:spcAft>
                          <a:spcPts val="0"/>
                        </a:spcAft>
                      </a:pPr>
                      <a:r>
                        <a:rPr lang="en-ID" sz="1400" kern="1200" dirty="0">
                          <a:solidFill>
                            <a:srgbClr val="000000"/>
                          </a:solidFill>
                          <a:latin typeface="Bahnschrift" panose="020B0502040204020203" pitchFamily="34" charset="0"/>
                          <a:ea typeface="Yu Mincho" panose="02020400000000000000" pitchFamily="18" charset="-128"/>
                          <a:cs typeface="+mn-cs"/>
                        </a:rPr>
                        <a:t>Teks dan Gambar</a:t>
                      </a:r>
                      <a:r>
                        <a:rPr lang="en-US" sz="1400" kern="1200" dirty="0">
                          <a:solidFill>
                            <a:srgbClr val="000000"/>
                          </a:solidFill>
                          <a:latin typeface="Bahnschrift" panose="020B0502040204020203" pitchFamily="34" charset="0"/>
                          <a:ea typeface="Yu Mincho" panose="02020400000000000000" pitchFamily="18" charset="-128"/>
                          <a:cs typeface="+mn-cs"/>
                        </a:rPr>
                        <a:t> </a:t>
                      </a:r>
                    </a:p>
                  </a:txBody>
                  <a:tcPr marL="68580" marR="68580" marT="0" marB="36195"/>
                </a:tc>
                <a:extLst>
                  <a:ext uri="{0D108BD9-81ED-4DB2-BD59-A6C34878D82A}">
                    <a16:rowId xmlns:a16="http://schemas.microsoft.com/office/drawing/2014/main" val="941205184"/>
                  </a:ext>
                </a:extLst>
              </a:tr>
            </a:tbl>
          </a:graphicData>
        </a:graphic>
      </p:graphicFrame>
      <p:sp>
        <p:nvSpPr>
          <p:cNvPr id="5" name="TextBox 4">
            <a:extLst>
              <a:ext uri="{FF2B5EF4-FFF2-40B4-BE49-F238E27FC236}">
                <a16:creationId xmlns:a16="http://schemas.microsoft.com/office/drawing/2014/main" id="{029D076C-5907-6E57-AD81-0064FB731995}"/>
              </a:ext>
            </a:extLst>
          </p:cNvPr>
          <p:cNvSpPr txBox="1"/>
          <p:nvPr/>
        </p:nvSpPr>
        <p:spPr>
          <a:xfrm>
            <a:off x="6435285" y="2044005"/>
            <a:ext cx="4683795" cy="2031325"/>
          </a:xfrm>
          <a:prstGeom prst="rect">
            <a:avLst/>
          </a:prstGeom>
          <a:noFill/>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Model CNN Kombinasi mengungguli model lainnya.</a:t>
            </a:r>
          </a:p>
          <a:p>
            <a:pPr marL="285750" indent="-285750" algn="just">
              <a:buFont typeface="Arial" panose="020B0604020202020204" pitchFamily="34" charset="0"/>
              <a:buChar char="•"/>
            </a:pPr>
            <a:r>
              <a:rPr lang="en-US" sz="1400" dirty="0" err="1">
                <a:solidFill>
                  <a:srgbClr val="000000"/>
                </a:solidFill>
                <a:latin typeface="Bahnschrift" panose="020B0502040204020203" pitchFamily="34" charset="0"/>
                <a:ea typeface="Yu Mincho" panose="02020400000000000000" pitchFamily="18" charset="-128"/>
              </a:rPr>
              <a:t>Multimodel</a:t>
            </a:r>
            <a:r>
              <a:rPr lang="en-US" sz="1400" dirty="0">
                <a:solidFill>
                  <a:srgbClr val="000000"/>
                </a:solidFill>
                <a:latin typeface="Bahnschrift" panose="020B0502040204020203" pitchFamily="34" charset="0"/>
                <a:ea typeface="Yu Mincho" panose="02020400000000000000" pitchFamily="18" charset="-128"/>
              </a:rPr>
              <a:t> terpilih sebagai model terbaik dalam mengklasifikasikan berita hoaks berbahasa Indonesia</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Model CNN 2D merupakan </a:t>
            </a:r>
            <a:r>
              <a:rPr lang="en-US" sz="1400" dirty="0" err="1">
                <a:solidFill>
                  <a:srgbClr val="000000"/>
                </a:solidFill>
                <a:latin typeface="Bahnschrift" panose="020B0502040204020203" pitchFamily="34" charset="0"/>
                <a:ea typeface="Yu Mincho" panose="02020400000000000000" pitchFamily="18" charset="-128"/>
              </a:rPr>
              <a:t>unimodel</a:t>
            </a:r>
            <a:r>
              <a:rPr lang="en-US" sz="1400" dirty="0">
                <a:solidFill>
                  <a:srgbClr val="000000"/>
                </a:solidFill>
                <a:latin typeface="Bahnschrift" panose="020B0502040204020203" pitchFamily="34" charset="0"/>
                <a:ea typeface="Yu Mincho" panose="02020400000000000000" pitchFamily="18" charset="-128"/>
              </a:rPr>
              <a:t> terbaik dalam mengklasifikasikan berita hoaks</a:t>
            </a:r>
          </a:p>
          <a:p>
            <a:pPr marL="285750" indent="-285750" algn="just">
              <a:buFont typeface="Arial" panose="020B0604020202020204" pitchFamily="34" charset="0"/>
              <a:buChar char="•"/>
            </a:pPr>
            <a:r>
              <a:rPr lang="en-US" sz="1400" dirty="0">
                <a:solidFill>
                  <a:srgbClr val="000000"/>
                </a:solidFill>
                <a:latin typeface="Bahnschrift" panose="020B0502040204020203" pitchFamily="34" charset="0"/>
                <a:ea typeface="Yu Mincho" panose="02020400000000000000" pitchFamily="18" charset="-128"/>
              </a:rPr>
              <a:t>Model CNN 1D lebih baik dibandingkan model berbasis teks SVM dan Regresi Logistik</a:t>
            </a:r>
          </a:p>
          <a:p>
            <a:pPr marL="285750" indent="-285750" algn="just">
              <a:buFont typeface="Arial" panose="020B0604020202020204" pitchFamily="34" charset="0"/>
              <a:buChar char="•"/>
            </a:pPr>
            <a:endParaRPr lang="en-US" sz="1400" i="1" dirty="0">
              <a:solidFill>
                <a:srgbClr val="000000"/>
              </a:solidFill>
              <a:latin typeface="Bahnschrift" panose="020B0502040204020203" pitchFamily="34" charset="0"/>
              <a:ea typeface="Yu Mincho" panose="02020400000000000000" pitchFamily="18" charset="-128"/>
            </a:endParaRPr>
          </a:p>
        </p:txBody>
      </p:sp>
    </p:spTree>
    <p:extLst>
      <p:ext uri="{BB962C8B-B14F-4D97-AF65-F5344CB8AC3E}">
        <p14:creationId xmlns:p14="http://schemas.microsoft.com/office/powerpoint/2010/main" val="24534249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F33A85B-C29F-4390-9D2F-FA2A91D2FCF8}"/>
              </a:ext>
            </a:extLst>
          </p:cNvPr>
          <p:cNvSpPr/>
          <p:nvPr/>
        </p:nvSpPr>
        <p:spPr>
          <a:xfrm>
            <a:off x="8291221" y="-279734"/>
            <a:ext cx="4568573" cy="2267736"/>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F43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3">
            <a:extLst>
              <a:ext uri="{FF2B5EF4-FFF2-40B4-BE49-F238E27FC236}">
                <a16:creationId xmlns:a16="http://schemas.microsoft.com/office/drawing/2014/main" id="{5C9C3669-B39E-47E3-81C0-B1DBA7A60ADB}"/>
              </a:ext>
            </a:extLst>
          </p:cNvPr>
          <p:cNvSpPr>
            <a:spLocks noChangeArrowheads="1"/>
          </p:cNvSpPr>
          <p:nvPr/>
        </p:nvSpPr>
        <p:spPr bwMode="auto">
          <a:xfrm>
            <a:off x="5383213" y="59197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7" name="Freeform: Shape 46">
            <a:extLst>
              <a:ext uri="{FF2B5EF4-FFF2-40B4-BE49-F238E27FC236}">
                <a16:creationId xmlns:a16="http://schemas.microsoft.com/office/drawing/2014/main" id="{C6C71622-198C-4DE2-94BD-F7C8909339D0}"/>
              </a:ext>
            </a:extLst>
          </p:cNvPr>
          <p:cNvSpPr/>
          <p:nvPr/>
        </p:nvSpPr>
        <p:spPr>
          <a:xfrm rot="11010001">
            <a:off x="-359020" y="5984123"/>
            <a:ext cx="2139871" cy="1054798"/>
          </a:xfrm>
          <a:custGeom>
            <a:avLst/>
            <a:gdLst>
              <a:gd name="connsiteX0" fmla="*/ 5519682 w 5749476"/>
              <a:gd name="connsiteY0" fmla="*/ 2936312 h 3077268"/>
              <a:gd name="connsiteX1" fmla="*/ 3378061 w 5749476"/>
              <a:gd name="connsiteY1" fmla="*/ 2599428 h 3077268"/>
              <a:gd name="connsiteX2" fmla="*/ 2824608 w 5749476"/>
              <a:gd name="connsiteY2" fmla="*/ 1227828 h 3077268"/>
              <a:gd name="connsiteX3" fmla="*/ 971745 w 5749476"/>
              <a:gd name="connsiteY3" fmla="*/ 1227828 h 3077268"/>
              <a:gd name="connsiteX4" fmla="*/ 81408 w 5749476"/>
              <a:gd name="connsiteY4" fmla="*/ 361554 h 3077268"/>
              <a:gd name="connsiteX5" fmla="*/ 2968987 w 5749476"/>
              <a:gd name="connsiteY5" fmla="*/ 607 h 3077268"/>
              <a:gd name="connsiteX6" fmla="*/ 5399366 w 5749476"/>
              <a:gd name="connsiteY6" fmla="*/ 433744 h 3077268"/>
              <a:gd name="connsiteX7" fmla="*/ 5519682 w 5749476"/>
              <a:gd name="connsiteY7" fmla="*/ 2936312 h 307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9476" h="3077268">
                <a:moveTo>
                  <a:pt x="5519682" y="2936312"/>
                </a:moveTo>
                <a:cubicBezTo>
                  <a:pt x="5182798" y="3297259"/>
                  <a:pt x="3827240" y="2884175"/>
                  <a:pt x="3378061" y="2599428"/>
                </a:cubicBezTo>
                <a:cubicBezTo>
                  <a:pt x="2928882" y="2314681"/>
                  <a:pt x="3225661" y="1456428"/>
                  <a:pt x="2824608" y="1227828"/>
                </a:cubicBezTo>
                <a:cubicBezTo>
                  <a:pt x="2423555" y="999228"/>
                  <a:pt x="1428945" y="1372207"/>
                  <a:pt x="971745" y="1227828"/>
                </a:cubicBezTo>
                <a:cubicBezTo>
                  <a:pt x="514545" y="1083449"/>
                  <a:pt x="-251466" y="566091"/>
                  <a:pt x="81408" y="361554"/>
                </a:cubicBezTo>
                <a:cubicBezTo>
                  <a:pt x="414282" y="157017"/>
                  <a:pt x="2082661" y="-11425"/>
                  <a:pt x="2968987" y="607"/>
                </a:cubicBezTo>
                <a:cubicBezTo>
                  <a:pt x="3855313" y="12639"/>
                  <a:pt x="4970240" y="-55540"/>
                  <a:pt x="5399366" y="433744"/>
                </a:cubicBezTo>
                <a:cubicBezTo>
                  <a:pt x="5828492" y="923028"/>
                  <a:pt x="5856566" y="2575365"/>
                  <a:pt x="5519682" y="2936312"/>
                </a:cubicBezTo>
                <a:close/>
              </a:path>
            </a:pathLst>
          </a:custGeom>
          <a:solidFill>
            <a:srgbClr val="F43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49" name="TextBox 5">
            <a:extLst>
              <a:ext uri="{FF2B5EF4-FFF2-40B4-BE49-F238E27FC236}">
                <a16:creationId xmlns:a16="http://schemas.microsoft.com/office/drawing/2014/main" id="{21B4E742-0B8E-40E8-958F-6E1C6FE4A3CE}"/>
              </a:ext>
            </a:extLst>
          </p:cNvPr>
          <p:cNvSpPr txBox="1"/>
          <p:nvPr/>
        </p:nvSpPr>
        <p:spPr>
          <a:xfrm>
            <a:off x="11641985" y="6329512"/>
            <a:ext cx="34772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7</a:t>
            </a:r>
            <a:endParaRPr lang="en-US" sz="2000" b="1" dirty="0"/>
          </a:p>
        </p:txBody>
      </p:sp>
      <p:pic>
        <p:nvPicPr>
          <p:cNvPr id="2" name="Picture 1">
            <a:extLst>
              <a:ext uri="{FF2B5EF4-FFF2-40B4-BE49-F238E27FC236}">
                <a16:creationId xmlns:a16="http://schemas.microsoft.com/office/drawing/2014/main" id="{B5335575-7C15-57E2-E8CD-41647150377C}"/>
              </a:ext>
            </a:extLst>
          </p:cNvPr>
          <p:cNvPicPr>
            <a:picLocks noChangeAspect="1"/>
          </p:cNvPicPr>
          <p:nvPr/>
        </p:nvPicPr>
        <p:blipFill>
          <a:blip r:embed="rId2"/>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AA098486-A743-97D5-A398-76AB86B5EE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
        <p:nvSpPr>
          <p:cNvPr id="12" name="Title 1">
            <a:extLst>
              <a:ext uri="{FF2B5EF4-FFF2-40B4-BE49-F238E27FC236}">
                <a16:creationId xmlns:a16="http://schemas.microsoft.com/office/drawing/2014/main" id="{A1943939-47C6-C9F2-C5F2-66C99C7BF7B1}"/>
              </a:ext>
            </a:extLst>
          </p:cNvPr>
          <p:cNvSpPr>
            <a:spLocks noGrp="1"/>
          </p:cNvSpPr>
          <p:nvPr>
            <p:ph type="title"/>
          </p:nvPr>
        </p:nvSpPr>
        <p:spPr>
          <a:xfrm>
            <a:off x="482101" y="753377"/>
            <a:ext cx="5015128" cy="794197"/>
          </a:xfrm>
        </p:spPr>
        <p:txBody>
          <a:bodyPr>
            <a:normAutofit/>
          </a:bodyPr>
          <a:lstStyle/>
          <a:p>
            <a:r>
              <a:rPr lang="en-US" sz="2800" dirty="0">
                <a:solidFill>
                  <a:srgbClr val="F43A55"/>
                </a:solidFill>
                <a:latin typeface="Bahnschrift SemiBold" panose="020B0502040204020203" pitchFamily="34" charset="0"/>
              </a:rPr>
              <a:t>KESIMPULAN DAN SARAN</a:t>
            </a:r>
          </a:p>
        </p:txBody>
      </p:sp>
      <p:sp>
        <p:nvSpPr>
          <p:cNvPr id="13" name="TextBox 12">
            <a:extLst>
              <a:ext uri="{FF2B5EF4-FFF2-40B4-BE49-F238E27FC236}">
                <a16:creationId xmlns:a16="http://schemas.microsoft.com/office/drawing/2014/main" id="{D6ACBD35-53E2-76A5-40AE-90EC283CE708}"/>
              </a:ext>
            </a:extLst>
          </p:cNvPr>
          <p:cNvSpPr txBox="1"/>
          <p:nvPr/>
        </p:nvSpPr>
        <p:spPr>
          <a:xfrm>
            <a:off x="579331" y="402123"/>
            <a:ext cx="1805244" cy="369332"/>
          </a:xfrm>
          <a:prstGeom prst="rect">
            <a:avLst/>
          </a:prstGeom>
          <a:solidFill>
            <a:srgbClr val="F43A55"/>
          </a:solidFill>
        </p:spPr>
        <p:txBody>
          <a:bodyPr wrap="square" rtlCol="0">
            <a:spAutoFit/>
          </a:bodyPr>
          <a:lstStyle/>
          <a:p>
            <a:r>
              <a:rPr lang="en-US" dirty="0">
                <a:solidFill>
                  <a:schemeClr val="bg1"/>
                </a:solidFill>
                <a:latin typeface="Bahnschrift SemiBold" panose="020B0502040204020203" pitchFamily="34" charset="0"/>
              </a:rPr>
              <a:t>BAB V</a:t>
            </a:r>
          </a:p>
        </p:txBody>
      </p:sp>
      <p:sp>
        <p:nvSpPr>
          <p:cNvPr id="14" name="Title 1">
            <a:extLst>
              <a:ext uri="{FF2B5EF4-FFF2-40B4-BE49-F238E27FC236}">
                <a16:creationId xmlns:a16="http://schemas.microsoft.com/office/drawing/2014/main" id="{36B04B3D-32B9-3F02-D5EB-C200607D1D19}"/>
              </a:ext>
            </a:extLst>
          </p:cNvPr>
          <p:cNvSpPr txBox="1">
            <a:spLocks/>
          </p:cNvSpPr>
          <p:nvPr/>
        </p:nvSpPr>
        <p:spPr>
          <a:xfrm>
            <a:off x="482101" y="1340159"/>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rgbClr val="F43A55"/>
                </a:solidFill>
                <a:latin typeface="Bahnschrift SemiBold" panose="020B0502040204020203" pitchFamily="34" charset="0"/>
              </a:rPr>
              <a:t>Kesimpulan</a:t>
            </a:r>
          </a:p>
        </p:txBody>
      </p:sp>
      <p:sp>
        <p:nvSpPr>
          <p:cNvPr id="16" name="TextBox 15">
            <a:extLst>
              <a:ext uri="{FF2B5EF4-FFF2-40B4-BE49-F238E27FC236}">
                <a16:creationId xmlns:a16="http://schemas.microsoft.com/office/drawing/2014/main" id="{0638A99D-039C-0123-790C-C606E49309D8}"/>
              </a:ext>
            </a:extLst>
          </p:cNvPr>
          <p:cNvSpPr txBox="1"/>
          <p:nvPr/>
        </p:nvSpPr>
        <p:spPr>
          <a:xfrm>
            <a:off x="482101" y="1898828"/>
            <a:ext cx="5424860" cy="2837893"/>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a:pPr>
            <a:r>
              <a:rPr lang="en-US" sz="1400" dirty="0">
                <a:solidFill>
                  <a:srgbClr val="000000"/>
                </a:solidFill>
                <a:latin typeface="Bahnschrift" panose="020B0502040204020203" pitchFamily="34" charset="0"/>
                <a:ea typeface="Yu Mincho" panose="02020400000000000000" pitchFamily="18" charset="-128"/>
              </a:rPr>
              <a:t>Hasil preprocessing mampu mengurangi jumlah fitur yang digunakan dimana, kategori fakta memiliki fitur lebih besar dibanding kategori hoaks. Pembentukan </a:t>
            </a:r>
            <a:r>
              <a:rPr lang="en-US" sz="1400" i="1" dirty="0">
                <a:solidFill>
                  <a:srgbClr val="000000"/>
                </a:solidFill>
                <a:latin typeface="Bahnschrift" panose="020B0502040204020203" pitchFamily="34" charset="0"/>
                <a:ea typeface="Yu Mincho" panose="02020400000000000000" pitchFamily="18" charset="-128"/>
              </a:rPr>
              <a:t>unimodal</a:t>
            </a:r>
            <a:r>
              <a:rPr lang="en-US" sz="1400" dirty="0">
                <a:solidFill>
                  <a:srgbClr val="000000"/>
                </a:solidFill>
                <a:latin typeface="Bahnschrift" panose="020B0502040204020203" pitchFamily="34" charset="0"/>
                <a:ea typeface="Yu Mincho" panose="02020400000000000000" pitchFamily="18" charset="-128"/>
              </a:rPr>
              <a:t> dan </a:t>
            </a:r>
            <a:r>
              <a:rPr lang="en-US" sz="1400" i="1" dirty="0" err="1">
                <a:solidFill>
                  <a:srgbClr val="000000"/>
                </a:solidFill>
                <a:latin typeface="Bahnschrift" panose="020B0502040204020203" pitchFamily="34" charset="0"/>
                <a:ea typeface="Yu Mincho" panose="02020400000000000000" pitchFamily="18" charset="-128"/>
              </a:rPr>
              <a:t>multimodel</a:t>
            </a:r>
            <a:r>
              <a:rPr lang="en-US" sz="1400" i="1" dirty="0">
                <a:solidFill>
                  <a:srgbClr val="000000"/>
                </a:solidFill>
                <a:latin typeface="Bahnschrift" panose="020B0502040204020203" pitchFamily="34" charset="0"/>
                <a:ea typeface="Yu Mincho" panose="02020400000000000000" pitchFamily="18" charset="-128"/>
              </a:rPr>
              <a:t> deep learning </a:t>
            </a:r>
            <a:r>
              <a:rPr lang="en-US" sz="1400" dirty="0">
                <a:solidFill>
                  <a:srgbClr val="000000"/>
                </a:solidFill>
                <a:latin typeface="Bahnschrift" panose="020B0502040204020203" pitchFamily="34" charset="0"/>
                <a:ea typeface="Yu Mincho" panose="02020400000000000000" pitchFamily="18" charset="-128"/>
              </a:rPr>
              <a:t>dengan arsitektur CNN diperoleh nilai akurasi yang baik yaitu </a:t>
            </a:r>
            <a:r>
              <a:rPr lang="en-US" sz="1400" dirty="0" err="1">
                <a:solidFill>
                  <a:srgbClr val="000000"/>
                </a:solidFill>
                <a:latin typeface="Bahnschrift" panose="020B0502040204020203" pitchFamily="34" charset="0"/>
                <a:ea typeface="Yu Mincho" panose="02020400000000000000" pitchFamily="18" charset="-128"/>
              </a:rPr>
              <a:t>diatas</a:t>
            </a:r>
            <a:r>
              <a:rPr lang="en-US" sz="1400" dirty="0">
                <a:solidFill>
                  <a:srgbClr val="000000"/>
                </a:solidFill>
                <a:latin typeface="Bahnschrift" panose="020B0502040204020203" pitchFamily="34" charset="0"/>
                <a:ea typeface="Yu Mincho" panose="02020400000000000000" pitchFamily="18" charset="-128"/>
              </a:rPr>
              <a:t> 85% dan nilai AUC yang sangat baik mendekati 1. Kemudian </a:t>
            </a:r>
            <a:r>
              <a:rPr lang="en-US" sz="1400" i="1" dirty="0">
                <a:solidFill>
                  <a:srgbClr val="000000"/>
                </a:solidFill>
                <a:latin typeface="Bahnschrift" panose="020B0502040204020203" pitchFamily="34" charset="0"/>
                <a:ea typeface="Yu Mincho" panose="02020400000000000000" pitchFamily="18" charset="-128"/>
              </a:rPr>
              <a:t>unimodal</a:t>
            </a:r>
            <a:r>
              <a:rPr lang="en-US" sz="1400" dirty="0">
                <a:solidFill>
                  <a:srgbClr val="000000"/>
                </a:solidFill>
                <a:latin typeface="Bahnschrift" panose="020B0502040204020203" pitchFamily="34" charset="0"/>
                <a:ea typeface="Yu Mincho" panose="02020400000000000000" pitchFamily="18" charset="-128"/>
              </a:rPr>
              <a:t> dan </a:t>
            </a:r>
            <a:r>
              <a:rPr lang="en-US" sz="1400" i="1" dirty="0" err="1">
                <a:solidFill>
                  <a:srgbClr val="000000"/>
                </a:solidFill>
                <a:latin typeface="Bahnschrift" panose="020B0502040204020203" pitchFamily="34" charset="0"/>
                <a:ea typeface="Yu Mincho" panose="02020400000000000000" pitchFamily="18" charset="-128"/>
              </a:rPr>
              <a:t>multimodel</a:t>
            </a:r>
            <a:r>
              <a:rPr lang="en-US" sz="1400" dirty="0">
                <a:solidFill>
                  <a:srgbClr val="000000"/>
                </a:solidFill>
                <a:latin typeface="Bahnschrift" panose="020B0502040204020203" pitchFamily="34" charset="0"/>
                <a:ea typeface="Yu Mincho" panose="02020400000000000000" pitchFamily="18" charset="-128"/>
              </a:rPr>
              <a:t> terdapat indikasi bahwa model mengalami </a:t>
            </a:r>
            <a:r>
              <a:rPr lang="en-US" sz="1400" i="1" dirty="0">
                <a:solidFill>
                  <a:srgbClr val="000000"/>
                </a:solidFill>
                <a:latin typeface="Bahnschrift" panose="020B0502040204020203" pitchFamily="34" charset="0"/>
                <a:ea typeface="Yu Mincho" panose="02020400000000000000" pitchFamily="18" charset="-128"/>
              </a:rPr>
              <a:t>underfit</a:t>
            </a:r>
            <a:r>
              <a:rPr lang="en-US" sz="1400" dirty="0">
                <a:solidFill>
                  <a:srgbClr val="000000"/>
                </a:solidFill>
                <a:latin typeface="Bahnschrift" panose="020B0502040204020203" pitchFamily="34" charset="0"/>
                <a:ea typeface="Yu Mincho" panose="02020400000000000000" pitchFamily="18" charset="-128"/>
              </a:rPr>
              <a:t> pada epoch lebih tinggi.</a:t>
            </a:r>
          </a:p>
          <a:p>
            <a:pPr marL="342900" marR="0" lvl="0" indent="-342900" algn="just">
              <a:lnSpc>
                <a:spcPct val="107000"/>
              </a:lnSpc>
              <a:spcBef>
                <a:spcPts val="0"/>
              </a:spcBef>
              <a:spcAft>
                <a:spcPts val="800"/>
              </a:spcAft>
              <a:buFont typeface="+mj-lt"/>
              <a:buAutoNum type="arabicPeriod"/>
            </a:pPr>
            <a:r>
              <a:rPr lang="en-US" sz="1400" i="1" dirty="0" err="1">
                <a:solidFill>
                  <a:srgbClr val="000000"/>
                </a:solidFill>
                <a:latin typeface="Bahnschrift" panose="020B0502040204020203" pitchFamily="34" charset="0"/>
                <a:ea typeface="Yu Mincho" panose="02020400000000000000" pitchFamily="18" charset="-128"/>
              </a:rPr>
              <a:t>Multimodel</a:t>
            </a:r>
            <a:r>
              <a:rPr lang="en-US" sz="1400" dirty="0">
                <a:solidFill>
                  <a:srgbClr val="000000"/>
                </a:solidFill>
                <a:latin typeface="Bahnschrift" panose="020B0502040204020203" pitchFamily="34" charset="0"/>
                <a:ea typeface="Yu Mincho" panose="02020400000000000000" pitchFamily="18" charset="-128"/>
              </a:rPr>
              <a:t>, model CNN kombinasi mampu mengungguli akurasi dan AUC </a:t>
            </a:r>
            <a:r>
              <a:rPr lang="en-US" sz="1400" i="1" dirty="0" err="1">
                <a:solidFill>
                  <a:srgbClr val="000000"/>
                </a:solidFill>
                <a:latin typeface="Bahnschrift" panose="020B0502040204020203" pitchFamily="34" charset="0"/>
                <a:ea typeface="Yu Mincho" panose="02020400000000000000" pitchFamily="18" charset="-128"/>
              </a:rPr>
              <a:t>unimodel</a:t>
            </a:r>
            <a:r>
              <a:rPr lang="en-US" sz="1400" dirty="0">
                <a:solidFill>
                  <a:srgbClr val="000000"/>
                </a:solidFill>
                <a:latin typeface="Bahnschrift" panose="020B0502040204020203" pitchFamily="34" charset="0"/>
                <a:ea typeface="Yu Mincho" panose="02020400000000000000" pitchFamily="18" charset="-128"/>
              </a:rPr>
              <a:t>.  Sehingga diperoleh </a:t>
            </a:r>
            <a:r>
              <a:rPr lang="en-US" sz="1400" i="1" dirty="0" err="1">
                <a:solidFill>
                  <a:srgbClr val="000000"/>
                </a:solidFill>
                <a:latin typeface="Bahnschrift" panose="020B0502040204020203" pitchFamily="34" charset="0"/>
                <a:ea typeface="Yu Mincho" panose="02020400000000000000" pitchFamily="18" charset="-128"/>
              </a:rPr>
              <a:t>multimodel</a:t>
            </a:r>
            <a:r>
              <a:rPr lang="en-US" sz="1400" dirty="0">
                <a:solidFill>
                  <a:srgbClr val="000000"/>
                </a:solidFill>
                <a:latin typeface="Bahnschrift" panose="020B0502040204020203" pitchFamily="34" charset="0"/>
                <a:ea typeface="Yu Mincho" panose="02020400000000000000" pitchFamily="18" charset="-128"/>
              </a:rPr>
              <a:t>, Model CNN kombinasi sebagai model terbaik dalam mengklasifikasikan berita hoaks berbahasa Indonesia</a:t>
            </a:r>
          </a:p>
        </p:txBody>
      </p:sp>
      <p:sp>
        <p:nvSpPr>
          <p:cNvPr id="18" name="Title 1">
            <a:extLst>
              <a:ext uri="{FF2B5EF4-FFF2-40B4-BE49-F238E27FC236}">
                <a16:creationId xmlns:a16="http://schemas.microsoft.com/office/drawing/2014/main" id="{C7A414DD-1BB1-640C-9AAA-A6546678D789}"/>
              </a:ext>
            </a:extLst>
          </p:cNvPr>
          <p:cNvSpPr txBox="1">
            <a:spLocks/>
          </p:cNvSpPr>
          <p:nvPr/>
        </p:nvSpPr>
        <p:spPr>
          <a:xfrm>
            <a:off x="6210016" y="1335689"/>
            <a:ext cx="5015128" cy="7941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rgbClr val="F43A55"/>
                </a:solidFill>
                <a:latin typeface="Bahnschrift SemiBold" panose="020B0502040204020203" pitchFamily="34" charset="0"/>
              </a:rPr>
              <a:t>Saran</a:t>
            </a:r>
          </a:p>
        </p:txBody>
      </p:sp>
      <p:sp>
        <p:nvSpPr>
          <p:cNvPr id="22" name="TextBox 21">
            <a:extLst>
              <a:ext uri="{FF2B5EF4-FFF2-40B4-BE49-F238E27FC236}">
                <a16:creationId xmlns:a16="http://schemas.microsoft.com/office/drawing/2014/main" id="{FC48EBAA-5372-C643-FFA4-5AF84A63FACA}"/>
              </a:ext>
            </a:extLst>
          </p:cNvPr>
          <p:cNvSpPr txBox="1"/>
          <p:nvPr/>
        </p:nvSpPr>
        <p:spPr>
          <a:xfrm>
            <a:off x="6156563" y="1898828"/>
            <a:ext cx="5424860" cy="1685333"/>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a:pPr>
            <a:r>
              <a:rPr lang="en-US" sz="1400" dirty="0">
                <a:solidFill>
                  <a:srgbClr val="000000"/>
                </a:solidFill>
                <a:latin typeface="Bahnschrift" panose="020B0502040204020203" pitchFamily="34" charset="0"/>
                <a:ea typeface="Yu Mincho" panose="02020400000000000000" pitchFamily="18" charset="-128"/>
              </a:rPr>
              <a:t>Proses </a:t>
            </a:r>
            <a:r>
              <a:rPr lang="en-US" sz="1400" i="1" dirty="0">
                <a:solidFill>
                  <a:srgbClr val="000000"/>
                </a:solidFill>
                <a:latin typeface="Bahnschrift" panose="020B0502040204020203" pitchFamily="34" charset="0"/>
                <a:ea typeface="Yu Mincho" panose="02020400000000000000" pitchFamily="18" charset="-128"/>
              </a:rPr>
              <a:t>preprocessing</a:t>
            </a:r>
            <a:r>
              <a:rPr lang="en-US" sz="1400" dirty="0">
                <a:solidFill>
                  <a:srgbClr val="000000"/>
                </a:solidFill>
                <a:latin typeface="Bahnschrift" panose="020B0502040204020203" pitchFamily="34" charset="0"/>
                <a:ea typeface="Yu Mincho" panose="02020400000000000000" pitchFamily="18" charset="-128"/>
              </a:rPr>
              <a:t> data teks lebih ditingkatkan dengan berfokus pada identifikasi klausa, bukan hanya token tunggal.</a:t>
            </a:r>
          </a:p>
          <a:p>
            <a:pPr marL="342900" marR="0" lvl="0" indent="-342900" algn="just">
              <a:lnSpc>
                <a:spcPct val="107000"/>
              </a:lnSpc>
              <a:spcBef>
                <a:spcPts val="0"/>
              </a:spcBef>
              <a:spcAft>
                <a:spcPts val="0"/>
              </a:spcAft>
              <a:buFont typeface="+mj-lt"/>
              <a:buAutoNum type="arabicPeriod"/>
            </a:pPr>
            <a:r>
              <a:rPr lang="en-US" sz="1400" dirty="0">
                <a:solidFill>
                  <a:srgbClr val="000000"/>
                </a:solidFill>
                <a:latin typeface="Bahnschrift" panose="020B0502040204020203" pitchFamily="34" charset="0"/>
                <a:ea typeface="Yu Mincho" panose="02020400000000000000" pitchFamily="18" charset="-128"/>
              </a:rPr>
              <a:t>Dalam membangun model CNN disarankan menggunakan model </a:t>
            </a:r>
            <a:r>
              <a:rPr lang="en-US" sz="1400" i="1" dirty="0">
                <a:solidFill>
                  <a:srgbClr val="000000"/>
                </a:solidFill>
                <a:latin typeface="Bahnschrift" panose="020B0502040204020203" pitchFamily="34" charset="0"/>
                <a:ea typeface="Yu Mincho" panose="02020400000000000000" pitchFamily="18" charset="-128"/>
              </a:rPr>
              <a:t>pretrain</a:t>
            </a:r>
            <a:endParaRPr lang="en-US" sz="1400" dirty="0">
              <a:solidFill>
                <a:srgbClr val="000000"/>
              </a:solidFill>
              <a:latin typeface="Bahnschrift" panose="020B0502040204020203" pitchFamily="34" charset="0"/>
              <a:ea typeface="Yu Mincho" panose="02020400000000000000" pitchFamily="18" charset="-128"/>
            </a:endParaRPr>
          </a:p>
          <a:p>
            <a:pPr marL="342900" marR="0" lvl="0" indent="-342900" algn="just">
              <a:lnSpc>
                <a:spcPct val="107000"/>
              </a:lnSpc>
              <a:spcBef>
                <a:spcPts val="0"/>
              </a:spcBef>
              <a:spcAft>
                <a:spcPts val="800"/>
              </a:spcAft>
              <a:buFont typeface="+mj-lt"/>
              <a:buAutoNum type="arabicPeriod"/>
            </a:pPr>
            <a:r>
              <a:rPr lang="en-US" sz="1400" dirty="0">
                <a:solidFill>
                  <a:srgbClr val="000000"/>
                </a:solidFill>
                <a:latin typeface="Bahnschrift" panose="020B0502040204020203" pitchFamily="34" charset="0"/>
                <a:ea typeface="Yu Mincho" panose="02020400000000000000" pitchFamily="18" charset="-128"/>
              </a:rPr>
              <a:t>Proses pengolahan data terkait </a:t>
            </a:r>
            <a:r>
              <a:rPr lang="en-US" sz="1400" i="1" dirty="0">
                <a:solidFill>
                  <a:srgbClr val="000000"/>
                </a:solidFill>
                <a:latin typeface="Bahnschrift" panose="020B0502040204020203" pitchFamily="34" charset="0"/>
                <a:ea typeface="Yu Mincho" panose="02020400000000000000" pitchFamily="18" charset="-128"/>
              </a:rPr>
              <a:t>scrapping</a:t>
            </a:r>
            <a:r>
              <a:rPr lang="en-US" sz="1400" dirty="0">
                <a:solidFill>
                  <a:srgbClr val="000000"/>
                </a:solidFill>
                <a:latin typeface="Bahnschrift" panose="020B0502040204020203" pitchFamily="34" charset="0"/>
                <a:ea typeface="Yu Mincho" panose="02020400000000000000" pitchFamily="18" charset="-128"/>
              </a:rPr>
              <a:t>, </a:t>
            </a:r>
            <a:r>
              <a:rPr lang="en-US" sz="1400" i="1" dirty="0">
                <a:solidFill>
                  <a:srgbClr val="000000"/>
                </a:solidFill>
                <a:latin typeface="Bahnschrift" panose="020B0502040204020203" pitchFamily="34" charset="0"/>
                <a:ea typeface="Yu Mincho" panose="02020400000000000000" pitchFamily="18" charset="-128"/>
              </a:rPr>
              <a:t>preprocessing</a:t>
            </a:r>
            <a:r>
              <a:rPr lang="en-US" sz="1400" dirty="0">
                <a:solidFill>
                  <a:srgbClr val="000000"/>
                </a:solidFill>
                <a:latin typeface="Bahnschrift" panose="020B0502040204020203" pitchFamily="34" charset="0"/>
                <a:ea typeface="Yu Mincho" panose="02020400000000000000" pitchFamily="18" charset="-128"/>
              </a:rPr>
              <a:t>, </a:t>
            </a:r>
            <a:r>
              <a:rPr lang="en-US" sz="1400" i="1" dirty="0">
                <a:solidFill>
                  <a:srgbClr val="000000"/>
                </a:solidFill>
                <a:latin typeface="Bahnschrift" panose="020B0502040204020203" pitchFamily="34" charset="0"/>
                <a:ea typeface="Yu Mincho" panose="02020400000000000000" pitchFamily="18" charset="-128"/>
              </a:rPr>
              <a:t>training,</a:t>
            </a:r>
            <a:r>
              <a:rPr lang="en-US" sz="1400" dirty="0">
                <a:solidFill>
                  <a:srgbClr val="000000"/>
                </a:solidFill>
                <a:latin typeface="Bahnschrift" panose="020B0502040204020203" pitchFamily="34" charset="0"/>
                <a:ea typeface="Yu Mincho" panose="02020400000000000000" pitchFamily="18" charset="-128"/>
              </a:rPr>
              <a:t> dan </a:t>
            </a:r>
            <a:r>
              <a:rPr lang="en-US" sz="1400" i="1" dirty="0">
                <a:solidFill>
                  <a:srgbClr val="000000"/>
                </a:solidFill>
                <a:latin typeface="Bahnschrift" panose="020B0502040204020203" pitchFamily="34" charset="0"/>
                <a:ea typeface="Yu Mincho" panose="02020400000000000000" pitchFamily="18" charset="-128"/>
              </a:rPr>
              <a:t>testing </a:t>
            </a:r>
            <a:r>
              <a:rPr lang="en-US" sz="1400" dirty="0">
                <a:solidFill>
                  <a:srgbClr val="000000"/>
                </a:solidFill>
                <a:latin typeface="Bahnschrift" panose="020B0502040204020203" pitchFamily="34" charset="0"/>
                <a:ea typeface="Yu Mincho" panose="02020400000000000000" pitchFamily="18" charset="-128"/>
              </a:rPr>
              <a:t>disarankan menggunakan perangkat dengan kualifikasi tinggi. </a:t>
            </a:r>
          </a:p>
        </p:txBody>
      </p:sp>
      <p:cxnSp>
        <p:nvCxnSpPr>
          <p:cNvPr id="23" name="Straight Connector 22">
            <a:extLst>
              <a:ext uri="{FF2B5EF4-FFF2-40B4-BE49-F238E27FC236}">
                <a16:creationId xmlns:a16="http://schemas.microsoft.com/office/drawing/2014/main" id="{245729D4-EC7C-E49C-0CBE-1357161B93BC}"/>
              </a:ext>
            </a:extLst>
          </p:cNvPr>
          <p:cNvCxnSpPr>
            <a:cxnSpLocks/>
          </p:cNvCxnSpPr>
          <p:nvPr/>
        </p:nvCxnSpPr>
        <p:spPr>
          <a:xfrm>
            <a:off x="6096000" y="-114300"/>
            <a:ext cx="0" cy="7200900"/>
          </a:xfrm>
          <a:prstGeom prst="line">
            <a:avLst/>
          </a:prstGeom>
          <a:ln w="38100" cap="flat" cmpd="sng" algn="ctr">
            <a:solidFill>
              <a:srgbClr val="F43A55"/>
            </a:solidFill>
            <a:prstDash val="lgDashDotDot"/>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004763727"/>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73868" y="1927420"/>
            <a:ext cx="9898417" cy="782587"/>
          </a:xfrm>
          <a:prstGeom prst="rect">
            <a:avLst/>
          </a:prstGeom>
        </p:spPr>
        <p:txBody>
          <a:bodyPr wrap="square" lIns="0" tIns="0" rIns="0" bIns="0" rtlCol="0" anchor="t">
            <a:spAutoFit/>
          </a:bodyPr>
          <a:lstStyle/>
          <a:p>
            <a:pPr>
              <a:lnSpc>
                <a:spcPts val="5466"/>
              </a:lnSpc>
            </a:pPr>
            <a:r>
              <a:rPr lang="en-US" sz="9600" dirty="0">
                <a:solidFill>
                  <a:srgbClr val="FF9E5E"/>
                </a:solidFill>
                <a:latin typeface="Bahnschrift SemiBold" panose="020B0502040204020203" pitchFamily="34" charset="0"/>
              </a:rPr>
              <a:t>TERIMA KASIH</a:t>
            </a: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468924" y="2710007"/>
            <a:ext cx="5314315" cy="3640305"/>
          </a:xfrm>
          <a:prstGeom prst="rect">
            <a:avLst/>
          </a:prstGeom>
        </p:spPr>
      </p:pic>
      <p:pic>
        <p:nvPicPr>
          <p:cNvPr id="32" name="Picture 7">
            <a:extLst>
              <a:ext uri="{FF2B5EF4-FFF2-40B4-BE49-F238E27FC236}">
                <a16:creationId xmlns:a16="http://schemas.microsoft.com/office/drawing/2014/main" id="{D813A276-EB0C-4F10-90BD-6CE06462BA9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97436" y="4760761"/>
            <a:ext cx="1411820" cy="1411820"/>
          </a:xfrm>
          <a:prstGeom prst="rect">
            <a:avLst/>
          </a:prstGeom>
        </p:spPr>
      </p:pic>
      <p:pic>
        <p:nvPicPr>
          <p:cNvPr id="33" name="Picture 10">
            <a:extLst>
              <a:ext uri="{FF2B5EF4-FFF2-40B4-BE49-F238E27FC236}">
                <a16:creationId xmlns:a16="http://schemas.microsoft.com/office/drawing/2014/main" id="{A0BCE7CB-82A7-4773-86C2-68628FC699A3}"/>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73623" y="5608728"/>
            <a:ext cx="1043142" cy="1249272"/>
          </a:xfrm>
          <a:prstGeom prst="rect">
            <a:avLst/>
          </a:prstGeom>
        </p:spPr>
      </p:pic>
      <p:sp>
        <p:nvSpPr>
          <p:cNvPr id="34" name="TextBox 5">
            <a:extLst>
              <a:ext uri="{FF2B5EF4-FFF2-40B4-BE49-F238E27FC236}">
                <a16:creationId xmlns:a16="http://schemas.microsoft.com/office/drawing/2014/main" id="{9E8DAEAB-A4D2-4783-8F32-EAF2B378EFA0}"/>
              </a:ext>
            </a:extLst>
          </p:cNvPr>
          <p:cNvSpPr txBox="1"/>
          <p:nvPr/>
        </p:nvSpPr>
        <p:spPr>
          <a:xfrm>
            <a:off x="11277939" y="6329512"/>
            <a:ext cx="711776"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13</a:t>
            </a:r>
            <a:endParaRPr lang="en-US" sz="2000" b="1" dirty="0"/>
          </a:p>
        </p:txBody>
      </p:sp>
      <p:pic>
        <p:nvPicPr>
          <p:cNvPr id="2" name="Picture 1">
            <a:extLst>
              <a:ext uri="{FF2B5EF4-FFF2-40B4-BE49-F238E27FC236}">
                <a16:creationId xmlns:a16="http://schemas.microsoft.com/office/drawing/2014/main" id="{45BDB420-B20C-A8CC-19C0-E8367174827B}"/>
              </a:ext>
            </a:extLst>
          </p:cNvPr>
          <p:cNvPicPr>
            <a:picLocks noChangeAspect="1"/>
          </p:cNvPicPr>
          <p:nvPr/>
        </p:nvPicPr>
        <p:blipFill>
          <a:blip r:embed="rId8"/>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64A0CA20-90A7-1A91-80BD-FA3820DAE46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73868" y="1927420"/>
            <a:ext cx="9898417" cy="782587"/>
          </a:xfrm>
          <a:prstGeom prst="rect">
            <a:avLst/>
          </a:prstGeom>
        </p:spPr>
        <p:txBody>
          <a:bodyPr wrap="square" lIns="0" tIns="0" rIns="0" bIns="0" rtlCol="0" anchor="t">
            <a:spAutoFit/>
          </a:bodyPr>
          <a:lstStyle/>
          <a:p>
            <a:pPr>
              <a:lnSpc>
                <a:spcPts val="5466"/>
              </a:lnSpc>
            </a:pPr>
            <a:r>
              <a:rPr lang="en-US" sz="9600" dirty="0">
                <a:solidFill>
                  <a:srgbClr val="FF9E5E"/>
                </a:solidFill>
                <a:latin typeface="Bahnschrift SemiBold" panose="020B0502040204020203" pitchFamily="34" charset="0"/>
              </a:rPr>
              <a:t>TERIMA KASIH</a:t>
            </a: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468924" y="2710007"/>
            <a:ext cx="5314315" cy="3640305"/>
          </a:xfrm>
          <a:prstGeom prst="rect">
            <a:avLst/>
          </a:prstGeom>
        </p:spPr>
      </p:pic>
      <p:pic>
        <p:nvPicPr>
          <p:cNvPr id="32" name="Picture 7">
            <a:extLst>
              <a:ext uri="{FF2B5EF4-FFF2-40B4-BE49-F238E27FC236}">
                <a16:creationId xmlns:a16="http://schemas.microsoft.com/office/drawing/2014/main" id="{D813A276-EB0C-4F10-90BD-6CE06462BA9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97436" y="4760761"/>
            <a:ext cx="1411820" cy="1411820"/>
          </a:xfrm>
          <a:prstGeom prst="rect">
            <a:avLst/>
          </a:prstGeom>
        </p:spPr>
      </p:pic>
      <p:pic>
        <p:nvPicPr>
          <p:cNvPr id="33" name="Picture 10">
            <a:extLst>
              <a:ext uri="{FF2B5EF4-FFF2-40B4-BE49-F238E27FC236}">
                <a16:creationId xmlns:a16="http://schemas.microsoft.com/office/drawing/2014/main" id="{A0BCE7CB-82A7-4773-86C2-68628FC699A3}"/>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73623" y="5608728"/>
            <a:ext cx="1043142" cy="1249272"/>
          </a:xfrm>
          <a:prstGeom prst="rect">
            <a:avLst/>
          </a:prstGeom>
        </p:spPr>
      </p:pic>
      <p:sp>
        <p:nvSpPr>
          <p:cNvPr id="34" name="TextBox 5">
            <a:extLst>
              <a:ext uri="{FF2B5EF4-FFF2-40B4-BE49-F238E27FC236}">
                <a16:creationId xmlns:a16="http://schemas.microsoft.com/office/drawing/2014/main" id="{9E8DAEAB-A4D2-4783-8F32-EAF2B378EFA0}"/>
              </a:ext>
            </a:extLst>
          </p:cNvPr>
          <p:cNvSpPr txBox="1"/>
          <p:nvPr/>
        </p:nvSpPr>
        <p:spPr>
          <a:xfrm>
            <a:off x="11277939" y="6329512"/>
            <a:ext cx="711776"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13</a:t>
            </a:r>
            <a:endParaRPr lang="en-US" sz="2000" b="1" dirty="0"/>
          </a:p>
        </p:txBody>
      </p:sp>
      <p:pic>
        <p:nvPicPr>
          <p:cNvPr id="2" name="Picture 1">
            <a:extLst>
              <a:ext uri="{FF2B5EF4-FFF2-40B4-BE49-F238E27FC236}">
                <a16:creationId xmlns:a16="http://schemas.microsoft.com/office/drawing/2014/main" id="{45BDB420-B20C-A8CC-19C0-E8367174827B}"/>
              </a:ext>
            </a:extLst>
          </p:cNvPr>
          <p:cNvPicPr>
            <a:picLocks noChangeAspect="1"/>
          </p:cNvPicPr>
          <p:nvPr/>
        </p:nvPicPr>
        <p:blipFill>
          <a:blip r:embed="rId8"/>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64A0CA20-90A7-1A91-80BD-FA3820DAE46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Tree>
    <p:extLst>
      <p:ext uri="{BB962C8B-B14F-4D97-AF65-F5344CB8AC3E}">
        <p14:creationId xmlns:p14="http://schemas.microsoft.com/office/powerpoint/2010/main" val="3495701536"/>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773868" y="1927420"/>
            <a:ext cx="9898417" cy="782587"/>
          </a:xfrm>
          <a:prstGeom prst="rect">
            <a:avLst/>
          </a:prstGeom>
        </p:spPr>
        <p:txBody>
          <a:bodyPr wrap="square" lIns="0" tIns="0" rIns="0" bIns="0" rtlCol="0" anchor="t">
            <a:spAutoFit/>
          </a:bodyPr>
          <a:lstStyle/>
          <a:p>
            <a:pPr>
              <a:lnSpc>
                <a:spcPts val="5466"/>
              </a:lnSpc>
            </a:pPr>
            <a:r>
              <a:rPr lang="en-US" sz="9600" dirty="0">
                <a:solidFill>
                  <a:srgbClr val="FF9E5E"/>
                </a:solidFill>
                <a:latin typeface="Bahnschrift SemiBold" panose="020B0502040204020203" pitchFamily="34" charset="0"/>
              </a:rPr>
              <a:t>TERIMA KASIH</a:t>
            </a: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468924" y="2710007"/>
            <a:ext cx="5314315" cy="3640305"/>
          </a:xfrm>
          <a:prstGeom prst="rect">
            <a:avLst/>
          </a:prstGeom>
        </p:spPr>
      </p:pic>
      <p:pic>
        <p:nvPicPr>
          <p:cNvPr id="32" name="Picture 7">
            <a:extLst>
              <a:ext uri="{FF2B5EF4-FFF2-40B4-BE49-F238E27FC236}">
                <a16:creationId xmlns:a16="http://schemas.microsoft.com/office/drawing/2014/main" id="{D813A276-EB0C-4F10-90BD-6CE06462BA9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97436" y="4760761"/>
            <a:ext cx="1411820" cy="1411820"/>
          </a:xfrm>
          <a:prstGeom prst="rect">
            <a:avLst/>
          </a:prstGeom>
        </p:spPr>
      </p:pic>
      <p:pic>
        <p:nvPicPr>
          <p:cNvPr id="33" name="Picture 10">
            <a:extLst>
              <a:ext uri="{FF2B5EF4-FFF2-40B4-BE49-F238E27FC236}">
                <a16:creationId xmlns:a16="http://schemas.microsoft.com/office/drawing/2014/main" id="{A0BCE7CB-82A7-4773-86C2-68628FC699A3}"/>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73623" y="5608728"/>
            <a:ext cx="1043142" cy="1249272"/>
          </a:xfrm>
          <a:prstGeom prst="rect">
            <a:avLst/>
          </a:prstGeom>
        </p:spPr>
      </p:pic>
      <p:sp>
        <p:nvSpPr>
          <p:cNvPr id="34" name="TextBox 5">
            <a:extLst>
              <a:ext uri="{FF2B5EF4-FFF2-40B4-BE49-F238E27FC236}">
                <a16:creationId xmlns:a16="http://schemas.microsoft.com/office/drawing/2014/main" id="{9E8DAEAB-A4D2-4783-8F32-EAF2B378EFA0}"/>
              </a:ext>
            </a:extLst>
          </p:cNvPr>
          <p:cNvSpPr txBox="1"/>
          <p:nvPr/>
        </p:nvSpPr>
        <p:spPr>
          <a:xfrm>
            <a:off x="11277939" y="6329512"/>
            <a:ext cx="711776"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t>13</a:t>
            </a:r>
            <a:endParaRPr lang="en-US" sz="2000" b="1" dirty="0"/>
          </a:p>
        </p:txBody>
      </p:sp>
      <p:pic>
        <p:nvPicPr>
          <p:cNvPr id="2" name="Picture 1">
            <a:extLst>
              <a:ext uri="{FF2B5EF4-FFF2-40B4-BE49-F238E27FC236}">
                <a16:creationId xmlns:a16="http://schemas.microsoft.com/office/drawing/2014/main" id="{45BDB420-B20C-A8CC-19C0-E8367174827B}"/>
              </a:ext>
            </a:extLst>
          </p:cNvPr>
          <p:cNvPicPr>
            <a:picLocks noChangeAspect="1"/>
          </p:cNvPicPr>
          <p:nvPr/>
        </p:nvPicPr>
        <p:blipFill>
          <a:blip r:embed="rId8"/>
          <a:stretch>
            <a:fillRect/>
          </a:stretch>
        </p:blipFill>
        <p:spPr>
          <a:xfrm>
            <a:off x="10575508" y="334546"/>
            <a:ext cx="785211" cy="769507"/>
          </a:xfrm>
          <a:prstGeom prst="rect">
            <a:avLst/>
          </a:prstGeom>
        </p:spPr>
      </p:pic>
      <p:pic>
        <p:nvPicPr>
          <p:cNvPr id="3" name="Picture 2">
            <a:extLst>
              <a:ext uri="{FF2B5EF4-FFF2-40B4-BE49-F238E27FC236}">
                <a16:creationId xmlns:a16="http://schemas.microsoft.com/office/drawing/2014/main" id="{64A0CA20-90A7-1A91-80BD-FA3820DAE46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360719" y="334546"/>
            <a:ext cx="769507" cy="769507"/>
          </a:xfrm>
          <a:prstGeom prst="rect">
            <a:avLst/>
          </a:prstGeom>
        </p:spPr>
      </p:pic>
    </p:spTree>
    <p:extLst>
      <p:ext uri="{BB962C8B-B14F-4D97-AF65-F5344CB8AC3E}">
        <p14:creationId xmlns:p14="http://schemas.microsoft.com/office/powerpoint/2010/main" val="1001185254"/>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4918</TotalTime>
  <Words>2055</Words>
  <Application>Microsoft Office PowerPoint</Application>
  <PresentationFormat>Widescreen</PresentationFormat>
  <Paragraphs>470</Paragraphs>
  <Slides>26</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Arial</vt:lpstr>
      <vt:lpstr>Bahnschrift</vt:lpstr>
      <vt:lpstr>Bahnschrift SemiBold</vt:lpstr>
      <vt:lpstr>Bahnschrift SemiLight</vt:lpstr>
      <vt:lpstr>Calibri</vt:lpstr>
      <vt:lpstr>Calibri Light</vt:lpstr>
      <vt:lpstr>Cambria Math</vt:lpstr>
      <vt:lpstr>Times New Roman</vt:lpstr>
      <vt:lpstr>Office Theme</vt:lpstr>
      <vt:lpstr>Equation</vt:lpstr>
      <vt:lpstr>PowerPoint Presentation</vt:lpstr>
      <vt:lpstr>LATAR BELAKANG</vt:lpstr>
      <vt:lpstr>PowerPoint Presentation</vt:lpstr>
      <vt:lpstr>RUMUSAN MASALAH</vt:lpstr>
      <vt:lpstr>TINJAUAN PUSTAKA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ANALISIS SCRAPPING DAN LABELING BERITA</vt:lpstr>
      <vt:lpstr>ANALISIS PREPROCESSING BERITA</vt:lpstr>
      <vt:lpstr>ANALISIS PREPROCESSING BERITA</vt:lpstr>
      <vt:lpstr>ANALISIS PREPROCESSING BERITA</vt:lpstr>
      <vt:lpstr>ANALISIS PEMBAGIAN DATA</vt:lpstr>
      <vt:lpstr>ANALISIS MODEL KLASIFIKASI BERITA</vt:lpstr>
      <vt:lpstr>ANALISIS MODEL KLASIFIKASI BERITA</vt:lpstr>
      <vt:lpstr>ANALISIS MODEL KLASIFIKASI BERITA</vt:lpstr>
      <vt:lpstr>MODEL EVALUASI</vt:lpstr>
      <vt:lpstr>KESIMPULAN DAN SARAN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AHMAD RIZAL BAYHAQI</cp:lastModifiedBy>
  <cp:revision>73</cp:revision>
  <dcterms:created xsi:type="dcterms:W3CDTF">2020-11-10T13:29:18Z</dcterms:created>
  <dcterms:modified xsi:type="dcterms:W3CDTF">2024-01-16T02:01:08Z</dcterms:modified>
</cp:coreProperties>
</file>